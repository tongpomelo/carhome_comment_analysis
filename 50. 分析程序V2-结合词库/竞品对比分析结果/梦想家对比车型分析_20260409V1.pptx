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2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2"/>
    <p:sldId id="267" r:id="rId3"/>
    <p:sldId id="16776239" r:id="rId4"/>
    <p:sldId id="16776304" r:id="rId5"/>
  </p:sldIdLst>
  <p:sldSz cx="12192000" cy="6858000"/>
  <p:notesSz cx="6805613" cy="9939338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68" userDrawn="1">
          <p15:clr>
            <a:srgbClr val="A4A3A4"/>
          </p15:clr>
        </p15:guide>
        <p15:guide id="3" orient="horz" pos="432" userDrawn="1">
          <p15:clr>
            <a:srgbClr val="A4A3A4"/>
          </p15:clr>
        </p15:guide>
        <p15:guide id="4" orient="horz" pos="496" userDrawn="1">
          <p15:clr>
            <a:srgbClr val="A4A3A4"/>
          </p15:clr>
        </p15:guide>
        <p15:guide id="5" orient="horz" pos="4056" userDrawn="1">
          <p15:clr>
            <a:srgbClr val="A4A3A4"/>
          </p15:clr>
        </p15:guide>
        <p15:guide id="6" orient="horz" pos="399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B8B8B8"/>
    <a:srgbClr val="949494"/>
    <a:srgbClr val="6E6E6E"/>
    <a:srgbClr val="4B4B4B"/>
    <a:srgbClr val="343434"/>
    <a:srgbClr val="666666"/>
    <a:srgbClr val="9A9A9A"/>
    <a:srgbClr val="CCCCCC"/>
    <a:srgbClr val="FAC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74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06"/>
      </p:cViewPr>
      <p:guideLst>
        <p:guide pos="304"/>
        <p:guide pos="7368"/>
        <p:guide orient="horz" pos="432"/>
        <p:guide orient="horz" pos="496"/>
        <p:guide orient="horz" pos="4056"/>
        <p:guide orient="horz" pos="399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151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D:\1.%20&#20010;&#20154;&#30740;&#31350;&#29983;&#35770;&#25991;&#24037;&#20316;\20.%20&#25968;&#25454;&#20998;&#26512;&#25972;&#29702;\2.6%20&#25968;&#25454;&#38598;&#20998;&#26512;-NX1&#30456;&#20851;\50.%20&#20998;&#26512;&#31243;&#24207;V2-&#32467;&#21512;&#35789;&#24211;\&#31454;&#21697;&#23545;&#27604;&#20998;&#26512;&#32467;&#26524;\&#31454;&#21697;&#23545;&#27604;&#26126;&#32454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1.%20&#20010;&#20154;&#30740;&#31350;&#29983;&#35770;&#25991;&#24037;&#20316;\20.%20&#25968;&#25454;&#20998;&#26512;&#25972;&#29702;\2.6%20&#25968;&#25454;&#38598;&#20998;&#26512;-NX1&#30456;&#20851;\50.%20&#20998;&#26512;&#31243;&#24207;V2-&#32467;&#21512;&#35789;&#24211;\&#26368;&#28385;&#24847;API&#20998;&#26512;_V2\&#28385;&#24847;&#24230;&#20998;&#26512;&#32467;&#26524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D:\1.%20&#20010;&#20154;&#30740;&#31350;&#29983;&#35770;&#25991;&#24037;&#20316;\20.%20&#25968;&#25454;&#20998;&#26512;&#25972;&#29702;\2.6%20&#25968;&#25454;&#38598;&#20998;&#26512;-NX1&#30456;&#20851;\50.%20&#20998;&#26512;&#31243;&#24207;V2-&#32467;&#21512;&#35789;&#24211;\&#26368;&#28385;&#24847;API&#20998;&#26512;_V2\&#28385;&#24847;&#24230;&#20998;&#26512;&#32467;&#26524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D:\1.%20&#20010;&#20154;&#30740;&#31350;&#29983;&#35770;&#25991;&#24037;&#20316;\20.%20&#25968;&#25454;&#20998;&#26512;&#25972;&#29702;\2.6%20&#25968;&#25454;&#38598;&#20998;&#26512;-NX1&#30456;&#20851;\50.%20&#20998;&#26512;&#31243;&#24207;V2-&#32467;&#21512;&#35789;&#24211;\&#26368;&#28385;&#24847;API&#20998;&#26512;_V2\&#28385;&#24847;&#24230;&#20998;&#26512;&#32467;&#26524;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7627823195233"/>
          <c:y val="0.16385954008701101"/>
          <c:w val="0.79366772897325799"/>
          <c:h val="0.73576755748912404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5B2F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2F6-4576-8D10-9AE44551474E}"/>
              </c:ext>
            </c:extLst>
          </c:dPt>
          <c:dPt>
            <c:idx val="1"/>
            <c:invertIfNegative val="0"/>
            <c:bubble3D val="0"/>
            <c:spPr>
              <a:solidFill>
                <a:srgbClr val="85B2F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2F6-4576-8D10-9AE44551474E}"/>
              </c:ext>
            </c:extLst>
          </c:dPt>
          <c:dPt>
            <c:idx val="2"/>
            <c:invertIfNegative val="0"/>
            <c:bubble3D val="0"/>
            <c:spPr>
              <a:solidFill>
                <a:srgbClr val="85B2F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2F6-4576-8D10-9AE44551474E}"/>
              </c:ext>
            </c:extLst>
          </c:dPt>
          <c:dPt>
            <c:idx val="3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2F6-4576-8D10-9AE44551474E}"/>
              </c:ext>
            </c:extLst>
          </c:dPt>
          <c:dPt>
            <c:idx val="4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2F6-4576-8D10-9AE44551474E}"/>
              </c:ext>
            </c:extLst>
          </c:dPt>
          <c:dPt>
            <c:idx val="5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2F6-4576-8D10-9AE44551474E}"/>
              </c:ext>
            </c:extLst>
          </c:dPt>
          <c:dPt>
            <c:idx val="6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2F6-4576-8D10-9AE44551474E}"/>
              </c:ext>
            </c:extLst>
          </c:dPt>
          <c:dPt>
            <c:idx val="7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2F6-4576-8D10-9AE44551474E}"/>
              </c:ext>
            </c:extLst>
          </c:dPt>
          <c:dPt>
            <c:idx val="8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2F6-4576-8D10-9AE44551474E}"/>
              </c:ext>
            </c:extLst>
          </c:dPt>
          <c:dPt>
            <c:idx val="9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2F6-4576-8D10-9AE44551474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[竞品对比明细.xlsx]导出计数_对比车型_1!$J$2:$J$11</c:f>
              <c:strCache>
                <c:ptCount val="10"/>
                <c:pt idx="0">
                  <c:v>别克GL8</c:v>
                </c:pt>
                <c:pt idx="1">
                  <c:v>腾势D9</c:v>
                </c:pt>
                <c:pt idx="2">
                  <c:v>高山</c:v>
                </c:pt>
                <c:pt idx="3">
                  <c:v>传祺</c:v>
                </c:pt>
                <c:pt idx="4">
                  <c:v>旧车</c:v>
                </c:pt>
                <c:pt idx="5">
                  <c:v>其他MPV</c:v>
                </c:pt>
                <c:pt idx="6">
                  <c:v>老款梦想家</c:v>
                </c:pt>
                <c:pt idx="7">
                  <c:v>丰田赛那</c:v>
                </c:pt>
                <c:pt idx="8">
                  <c:v>小鹏X9</c:v>
                </c:pt>
                <c:pt idx="9">
                  <c:v>理想</c:v>
                </c:pt>
              </c:strCache>
            </c:strRef>
          </c:cat>
          <c:val>
            <c:numRef>
              <c:f>[竞品对比明细.xlsx]导出计数_对比车型_1!$K$2:$K$11</c:f>
              <c:numCache>
                <c:formatCode>0.0%</c:formatCode>
                <c:ptCount val="10"/>
                <c:pt idx="0">
                  <c:v>0.15151515151515199</c:v>
                </c:pt>
                <c:pt idx="1">
                  <c:v>0.12121212121212099</c:v>
                </c:pt>
                <c:pt idx="2">
                  <c:v>9.0909090909090898E-2</c:v>
                </c:pt>
                <c:pt idx="3">
                  <c:v>8.0808080808080801E-2</c:v>
                </c:pt>
                <c:pt idx="4">
                  <c:v>5.0505050505050497E-2</c:v>
                </c:pt>
                <c:pt idx="5">
                  <c:v>5.0505050505050497E-2</c:v>
                </c:pt>
                <c:pt idx="6">
                  <c:v>4.0404040404040401E-2</c:v>
                </c:pt>
                <c:pt idx="7">
                  <c:v>3.03030303030303E-2</c:v>
                </c:pt>
                <c:pt idx="8">
                  <c:v>1.01010101010101E-2</c:v>
                </c:pt>
                <c:pt idx="9">
                  <c:v>1.01010101010101E-2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2F6-4576-8D10-9AE4455147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569350061"/>
        <c:axId val="65715923"/>
      </c:barChart>
      <c:catAx>
        <c:axId val="56935006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65715923"/>
        <c:crosses val="autoZero"/>
        <c:auto val="1"/>
        <c:lblAlgn val="ctr"/>
        <c:lblOffset val="100"/>
        <c:noMultiLvlLbl val="0"/>
      </c:catAx>
      <c:valAx>
        <c:axId val="65715923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6935006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5395b6f-3038-419d-ac22-ccc02b3d9cff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[满意度分析结果.xlsx]整体类别统计!$F$1</c:f>
              <c:strCache>
                <c:ptCount val="1"/>
                <c:pt idx="0">
                  <c:v>提及率（/总评论条数）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5B2F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657-45EF-9D12-5B1DFA2F8C2E}"/>
              </c:ext>
            </c:extLst>
          </c:dPt>
          <c:dPt>
            <c:idx val="1"/>
            <c:invertIfNegative val="0"/>
            <c:bubble3D val="0"/>
            <c:spPr>
              <a:solidFill>
                <a:srgbClr val="85B2F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657-45EF-9D12-5B1DFA2F8C2E}"/>
              </c:ext>
            </c:extLst>
          </c:dPt>
          <c:dPt>
            <c:idx val="2"/>
            <c:invertIfNegative val="0"/>
            <c:bubble3D val="0"/>
            <c:spPr>
              <a:solidFill>
                <a:srgbClr val="85B2F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657-45EF-9D12-5B1DFA2F8C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[满意度分析结果.xlsx]整体类别统计!$A$2:$A$15</c:f>
              <c:strCache>
                <c:ptCount val="14"/>
                <c:pt idx="0">
                  <c:v>内饰</c:v>
                </c:pt>
                <c:pt idx="1">
                  <c:v>外观</c:v>
                </c:pt>
                <c:pt idx="2">
                  <c:v>操控</c:v>
                </c:pt>
                <c:pt idx="3">
                  <c:v>舒适</c:v>
                </c:pt>
                <c:pt idx="4">
                  <c:v>空间</c:v>
                </c:pt>
                <c:pt idx="5">
                  <c:v>智能驾驶</c:v>
                </c:pt>
                <c:pt idx="6">
                  <c:v>使用成本</c:v>
                </c:pt>
                <c:pt idx="7">
                  <c:v>智能座舱</c:v>
                </c:pt>
                <c:pt idx="8">
                  <c:v>配置</c:v>
                </c:pt>
                <c:pt idx="9">
                  <c:v>动力</c:v>
                </c:pt>
                <c:pt idx="10">
                  <c:v>质量</c:v>
                </c:pt>
                <c:pt idx="11">
                  <c:v>购车价格</c:v>
                </c:pt>
                <c:pt idx="12">
                  <c:v>权益</c:v>
                </c:pt>
                <c:pt idx="13">
                  <c:v>服务</c:v>
                </c:pt>
              </c:strCache>
            </c:strRef>
          </c:cat>
          <c:val>
            <c:numRef>
              <c:f>[满意度分析结果.xlsx]整体类别统计!$F$2:$F$15</c:f>
              <c:numCache>
                <c:formatCode>0.0%</c:formatCode>
                <c:ptCount val="14"/>
                <c:pt idx="0">
                  <c:v>0.17857142857142899</c:v>
                </c:pt>
                <c:pt idx="1">
                  <c:v>0.160714285714286</c:v>
                </c:pt>
                <c:pt idx="2">
                  <c:v>0.148809523809524</c:v>
                </c:pt>
                <c:pt idx="3">
                  <c:v>0.125</c:v>
                </c:pt>
                <c:pt idx="4">
                  <c:v>0.119047619047619</c:v>
                </c:pt>
                <c:pt idx="5">
                  <c:v>0.113095238095238</c:v>
                </c:pt>
                <c:pt idx="6">
                  <c:v>0.101190476190476</c:v>
                </c:pt>
                <c:pt idx="7">
                  <c:v>9.5238095238095205E-2</c:v>
                </c:pt>
                <c:pt idx="8">
                  <c:v>8.3333333333333301E-2</c:v>
                </c:pt>
                <c:pt idx="9">
                  <c:v>7.1428571428571397E-2</c:v>
                </c:pt>
                <c:pt idx="10">
                  <c:v>5.3571428571428603E-2</c:v>
                </c:pt>
                <c:pt idx="11">
                  <c:v>2.3809523809523801E-2</c:v>
                </c:pt>
                <c:pt idx="12">
                  <c:v>1.1904761904761901E-2</c:v>
                </c:pt>
                <c:pt idx="13">
                  <c:v>5.9523809523809503E-3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657-45EF-9D12-5B1DFA2F8C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794881247"/>
        <c:axId val="998100849"/>
      </c:barChart>
      <c:catAx>
        <c:axId val="794881247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98100849"/>
        <c:crosses val="autoZero"/>
        <c:auto val="1"/>
        <c:lblAlgn val="ctr"/>
        <c:lblOffset val="100"/>
        <c:noMultiLvlLbl val="0"/>
      </c:catAx>
      <c:valAx>
        <c:axId val="998100849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7948812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8f1139e-f5fb-407b-9c2a-6f42896a96a2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2965602726991E-3"/>
          <c:y val="4.4722719141323799E-3"/>
          <c:w val="0.98140687945460203"/>
          <c:h val="0.99105545617173496"/>
        </c:manualLayout>
      </c:layout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33928213"/>
        <c:axId val="506320285"/>
      </c:barChart>
      <c:catAx>
        <c:axId val="433928213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506320285"/>
        <c:crosses val="autoZero"/>
        <c:auto val="1"/>
        <c:lblAlgn val="ctr"/>
        <c:lblOffset val="100"/>
        <c:noMultiLvlLbl val="0"/>
      </c:catAx>
      <c:valAx>
        <c:axId val="506320285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43392821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c0edff7-e36c-4335-b95b-35f83b21dc6b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[满意度分析结果.xlsx]整体类别统计!$G$1</c:f>
              <c:strCache>
                <c:ptCount val="1"/>
                <c:pt idx="0">
                  <c:v>满意占比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E9F-4AA9-8E04-900B90416803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E9F-4AA9-8E04-900B90416803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E9F-4AA9-8E04-900B9041680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AE9F-4AA9-8E04-900B9041680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E9F-4AA9-8E04-900B90416803}"/>
              </c:ext>
            </c:extLst>
          </c:dPt>
          <c:dPt>
            <c:idx val="9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E9F-4AA9-8E04-900B90416803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E9F-4AA9-8E04-900B90416803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AE9F-4AA9-8E04-900B9041680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[满意度分析结果.xlsx]整体类别统计!$G$2:$G$15</c:f>
              <c:numCache>
                <c:formatCode>General</c:formatCode>
                <c:ptCount val="14"/>
                <c:pt idx="0">
                  <c:v>93.3</c:v>
                </c:pt>
                <c:pt idx="1">
                  <c:v>100</c:v>
                </c:pt>
                <c:pt idx="2">
                  <c:v>100</c:v>
                </c:pt>
                <c:pt idx="3">
                  <c:v>81</c:v>
                </c:pt>
                <c:pt idx="4">
                  <c:v>50</c:v>
                </c:pt>
                <c:pt idx="5">
                  <c:v>78.900000000000006</c:v>
                </c:pt>
                <c:pt idx="6">
                  <c:v>76.5</c:v>
                </c:pt>
                <c:pt idx="7">
                  <c:v>50</c:v>
                </c:pt>
                <c:pt idx="8">
                  <c:v>42.9</c:v>
                </c:pt>
                <c:pt idx="9">
                  <c:v>100</c:v>
                </c:pt>
                <c:pt idx="10">
                  <c:v>44.4</c:v>
                </c:pt>
                <c:pt idx="11">
                  <c:v>100</c:v>
                </c:pt>
                <c:pt idx="12">
                  <c:v>0</c:v>
                </c:pt>
                <c:pt idx="1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E9F-4AA9-8E04-900B904168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02790758"/>
        <c:axId val="266809117"/>
      </c:barChart>
      <c:catAx>
        <c:axId val="402790758"/>
        <c:scaling>
          <c:orientation val="maxMin"/>
        </c:scaling>
        <c:delete val="1"/>
        <c:axPos val="l"/>
        <c:majorTickMark val="none"/>
        <c:minorTickMark val="none"/>
        <c:tickLblPos val="nextTo"/>
        <c:crossAx val="266809117"/>
        <c:crosses val="autoZero"/>
        <c:auto val="1"/>
        <c:lblAlgn val="ctr"/>
        <c:lblOffset val="100"/>
        <c:noMultiLvlLbl val="0"/>
      </c:catAx>
      <c:valAx>
        <c:axId val="266809117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40279075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c7d69d5-4021-427c-a8e6-d2bf4d73edf7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[满意度分析结果.xlsx]整体类别统计!$I$1</c:f>
              <c:strCache>
                <c:ptCount val="1"/>
                <c:pt idx="0">
                  <c:v>不满意占比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118-451A-AF1F-5B3B69DDE7C3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118-451A-AF1F-5B3B69DDE7C3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118-451A-AF1F-5B3B69DDE7C3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118-451A-AF1F-5B3B69DDE7C3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118-451A-AF1F-5B3B69DDE7C3}"/>
              </c:ext>
            </c:extLst>
          </c:dPt>
          <c:dPt>
            <c:idx val="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118-451A-AF1F-5B3B69DDE7C3}"/>
              </c:ext>
            </c:extLst>
          </c:dPt>
          <c:dPt>
            <c:idx val="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118-451A-AF1F-5B3B69DDE7C3}"/>
              </c:ext>
            </c:extLst>
          </c:dPt>
          <c:dPt>
            <c:idx val="1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118-451A-AF1F-5B3B69DDE7C3}"/>
              </c:ext>
            </c:extLst>
          </c:dPt>
          <c:dPt>
            <c:idx val="1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A118-451A-AF1F-5B3B69DDE7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[满意度分析结果.xlsx]整体类别统计!$I$2:$I$15</c:f>
              <c:numCache>
                <c:formatCode>General</c:formatCode>
                <c:ptCount val="14"/>
                <c:pt idx="0">
                  <c:v>6.7</c:v>
                </c:pt>
                <c:pt idx="1">
                  <c:v>0</c:v>
                </c:pt>
                <c:pt idx="2">
                  <c:v>0</c:v>
                </c:pt>
                <c:pt idx="3">
                  <c:v>19</c:v>
                </c:pt>
                <c:pt idx="4">
                  <c:v>50</c:v>
                </c:pt>
                <c:pt idx="5">
                  <c:v>15.8</c:v>
                </c:pt>
                <c:pt idx="6">
                  <c:v>23.5</c:v>
                </c:pt>
                <c:pt idx="7">
                  <c:v>50</c:v>
                </c:pt>
                <c:pt idx="8">
                  <c:v>57.1</c:v>
                </c:pt>
                <c:pt idx="9">
                  <c:v>0</c:v>
                </c:pt>
                <c:pt idx="10">
                  <c:v>55.6</c:v>
                </c:pt>
                <c:pt idx="11">
                  <c:v>0</c:v>
                </c:pt>
                <c:pt idx="12">
                  <c:v>100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A118-451A-AF1F-5B3B69DDE7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528473496"/>
        <c:axId val="319837790"/>
      </c:barChart>
      <c:catAx>
        <c:axId val="528473496"/>
        <c:scaling>
          <c:orientation val="maxMin"/>
        </c:scaling>
        <c:delete val="1"/>
        <c:axPos val="l"/>
        <c:majorTickMark val="none"/>
        <c:minorTickMark val="none"/>
        <c:tickLblPos val="nextTo"/>
        <c:crossAx val="319837790"/>
        <c:crosses val="autoZero"/>
        <c:auto val="1"/>
        <c:lblAlgn val="ctr"/>
        <c:lblOffset val="100"/>
        <c:noMultiLvlLbl val="0"/>
      </c:catAx>
      <c:valAx>
        <c:axId val="31983779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28473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3615aed-3a1e-4a6d-9aaa-3aa1c7ab9027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474956822107101"/>
          <c:y val="3.52816474863719E-2"/>
          <c:w val="0.62606025714834002"/>
          <c:h val="0.929436705027255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D5-4ABB-B55A-25F81EE06B70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D5-4ABB-B55A-25F81EE06B7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Sheet1!$C$2:$C$19</c:f>
              <c:strCache>
                <c:ptCount val="18"/>
                <c:pt idx="0">
                  <c:v>理想i8</c:v>
                </c:pt>
                <c:pt idx="1">
                  <c:v>蔚来ES8</c:v>
                </c:pt>
                <c:pt idx="2">
                  <c:v>领克900</c:v>
                </c:pt>
                <c:pt idx="3">
                  <c:v>特斯拉MODEL Y L</c:v>
                </c:pt>
                <c:pt idx="4">
                  <c:v>理想L8</c:v>
                </c:pt>
                <c:pt idx="5">
                  <c:v>AITO问界M7 REEV</c:v>
                </c:pt>
                <c:pt idx="6">
                  <c:v>理想L7</c:v>
                </c:pt>
                <c:pt idx="7">
                  <c:v>AITO问界M8 REEV</c:v>
                </c:pt>
                <c:pt idx="8">
                  <c:v>零跑C16 REEV</c:v>
                </c:pt>
                <c:pt idx="9">
                  <c:v>理想L9</c:v>
                </c:pt>
                <c:pt idx="10">
                  <c:v>AITO问界M5 REEV</c:v>
                </c:pt>
                <c:pt idx="11">
                  <c:v>乐道L60</c:v>
                </c:pt>
                <c:pt idx="12">
                  <c:v>蔚来ES6</c:v>
                </c:pt>
                <c:pt idx="13">
                  <c:v>理想L6</c:v>
                </c:pt>
                <c:pt idx="14">
                  <c:v>理想MEGA</c:v>
                </c:pt>
                <c:pt idx="15">
                  <c:v>小鹏X9 REEV</c:v>
                </c:pt>
                <c:pt idx="16">
                  <c:v>腾势D9 DM-i</c:v>
                </c:pt>
                <c:pt idx="17">
                  <c:v>蔚来ET5T</c:v>
                </c:pt>
              </c:strCache>
            </c:strRef>
          </c:cat>
          <c:val>
            <c:numRef>
              <c:f>Sheet1!$D$2:$D$19</c:f>
              <c:numCache>
                <c:formatCode>0%</c:formatCode>
                <c:ptCount val="18"/>
                <c:pt idx="0">
                  <c:v>0.11721611721611699</c:v>
                </c:pt>
                <c:pt idx="1">
                  <c:v>0.10989010989011</c:v>
                </c:pt>
                <c:pt idx="2">
                  <c:v>6.95970695970696E-2</c:v>
                </c:pt>
                <c:pt idx="3">
                  <c:v>5.8608058608058601E-2</c:v>
                </c:pt>
                <c:pt idx="4">
                  <c:v>5.8608058608058601E-2</c:v>
                </c:pt>
                <c:pt idx="5">
                  <c:v>5.4945054945054903E-2</c:v>
                </c:pt>
                <c:pt idx="6">
                  <c:v>4.0293040293040303E-2</c:v>
                </c:pt>
                <c:pt idx="7">
                  <c:v>4.0293040293040303E-2</c:v>
                </c:pt>
                <c:pt idx="8">
                  <c:v>3.6630036630036597E-2</c:v>
                </c:pt>
                <c:pt idx="9">
                  <c:v>3.6630036630036597E-2</c:v>
                </c:pt>
                <c:pt idx="10">
                  <c:v>5.4945054945054903E-2</c:v>
                </c:pt>
                <c:pt idx="11">
                  <c:v>5.1282051282051301E-2</c:v>
                </c:pt>
                <c:pt idx="12">
                  <c:v>4.3956043956044001E-2</c:v>
                </c:pt>
                <c:pt idx="13">
                  <c:v>4.3956043956044001E-2</c:v>
                </c:pt>
                <c:pt idx="14">
                  <c:v>5.1282051282051301E-2</c:v>
                </c:pt>
                <c:pt idx="15">
                  <c:v>3.6630036630036597E-2</c:v>
                </c:pt>
                <c:pt idx="16">
                  <c:v>3.2967032967033003E-2</c:v>
                </c:pt>
                <c:pt idx="17">
                  <c:v>8.0586080586080605E-2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D5-4ABB-B55A-25F81EE06B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33928213"/>
        <c:axId val="506320285"/>
      </c:barChart>
      <c:catAx>
        <c:axId val="433928213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6320285"/>
        <c:crosses val="autoZero"/>
        <c:auto val="1"/>
        <c:lblAlgn val="ctr"/>
        <c:lblOffset val="100"/>
        <c:noMultiLvlLbl val="0"/>
      </c:catAx>
      <c:valAx>
        <c:axId val="506320285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43392821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c0edff7-e36c-4335-b95b-35f83b21dc6b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335114133074298"/>
          <c:y val="4.3770061278085798E-3"/>
          <c:w val="0.682078678970374"/>
          <c:h val="0.991100087540123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关注因素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33-467C-ADED-CA21B25E87D5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F33-467C-ADED-CA21B25E87D5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F33-467C-ADED-CA21B25E87D5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F33-467C-ADED-CA21B25E87D5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F33-467C-ADED-CA21B25E87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操控性</c:v>
                </c:pt>
                <c:pt idx="1">
                  <c:v>安全性</c:v>
                </c:pt>
                <c:pt idx="2">
                  <c:v>舒适性</c:v>
                </c:pt>
                <c:pt idx="3">
                  <c:v>续航/电池</c:v>
                </c:pt>
                <c:pt idx="4">
                  <c:v>动力性</c:v>
                </c:pt>
                <c:pt idx="5">
                  <c:v>空间</c:v>
                </c:pt>
                <c:pt idx="6">
                  <c:v>智能座舱</c:v>
                </c:pt>
                <c:pt idx="7">
                  <c:v>外观</c:v>
                </c:pt>
                <c:pt idx="8">
                  <c:v>充电/换电</c:v>
                </c:pt>
                <c:pt idx="9">
                  <c:v>智能驾驶</c:v>
                </c:pt>
                <c:pt idx="10">
                  <c:v>品牌</c:v>
                </c:pt>
                <c:pt idx="11">
                  <c:v>价格</c:v>
                </c:pt>
                <c:pt idx="12">
                  <c:v>服务</c:v>
                </c:pt>
                <c:pt idx="13">
                  <c:v>内饰</c:v>
                </c:pt>
                <c:pt idx="14">
                  <c:v>使用费用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0.53333333000000005</c:v>
                </c:pt>
                <c:pt idx="1">
                  <c:v>0.53333333000000005</c:v>
                </c:pt>
                <c:pt idx="2">
                  <c:v>0.46666667000000001</c:v>
                </c:pt>
                <c:pt idx="3">
                  <c:v>0.4</c:v>
                </c:pt>
                <c:pt idx="4">
                  <c:v>0.36666666999999997</c:v>
                </c:pt>
                <c:pt idx="5">
                  <c:v>0.33333332999999998</c:v>
                </c:pt>
                <c:pt idx="6">
                  <c:v>0.23333333000000001</c:v>
                </c:pt>
                <c:pt idx="7">
                  <c:v>0.2</c:v>
                </c:pt>
                <c:pt idx="8">
                  <c:v>0.17</c:v>
                </c:pt>
                <c:pt idx="9">
                  <c:v>0.17</c:v>
                </c:pt>
                <c:pt idx="10">
                  <c:v>0.17</c:v>
                </c:pt>
                <c:pt idx="11">
                  <c:v>0.1</c:v>
                </c:pt>
                <c:pt idx="12">
                  <c:v>7.0000000000000007E-2</c:v>
                </c:pt>
                <c:pt idx="13">
                  <c:v>6.6666669999999997E-2</c:v>
                </c:pt>
                <c:pt idx="14">
                  <c:v>6.6666669999999997E-2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F33-467C-ADED-CA21B25E87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33928213"/>
        <c:axId val="506320285"/>
      </c:barChart>
      <c:catAx>
        <c:axId val="433928213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6320285"/>
        <c:crosses val="autoZero"/>
        <c:auto val="1"/>
        <c:lblAlgn val="ctr"/>
        <c:lblOffset val="100"/>
        <c:noMultiLvlLbl val="0"/>
      </c:catAx>
      <c:valAx>
        <c:axId val="506320285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43392821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c0edff7-e36c-4335-b95b-35f83b21dc6b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965602726991E-3"/>
          <c:y val="4.4722719141323799E-3"/>
          <c:w val="0.98140687945460203"/>
          <c:h val="0.991055456171734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满意点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36-467F-A6DE-60D94CFBF1A0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6-467F-A6DE-60D94CFBF1A0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6-467F-A6DE-60D94CFBF1A0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536-467F-A6DE-60D94CFBF1A0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536-467F-A6DE-60D94CFBF1A0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536-467F-A6DE-60D94CFBF1A0}"/>
              </c:ext>
            </c:extLst>
          </c:dPt>
          <c:dPt>
            <c:idx val="7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536-467F-A6DE-60D94CFBF1A0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536-467F-A6DE-60D94CFBF1A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536-467F-A6DE-60D94CFBF1A0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536-467F-A6DE-60D94CFBF1A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操控性</c:v>
                </c:pt>
                <c:pt idx="1">
                  <c:v>安全性</c:v>
                </c:pt>
                <c:pt idx="2">
                  <c:v>舒适性</c:v>
                </c:pt>
                <c:pt idx="3">
                  <c:v>续航/电池</c:v>
                </c:pt>
                <c:pt idx="4">
                  <c:v>动力性</c:v>
                </c:pt>
                <c:pt idx="5">
                  <c:v>空间</c:v>
                </c:pt>
                <c:pt idx="6">
                  <c:v>智能座舱</c:v>
                </c:pt>
                <c:pt idx="7">
                  <c:v>外观</c:v>
                </c:pt>
                <c:pt idx="8">
                  <c:v>充电/换电</c:v>
                </c:pt>
                <c:pt idx="9">
                  <c:v>智能驾驶</c:v>
                </c:pt>
                <c:pt idx="10">
                  <c:v>品牌</c:v>
                </c:pt>
                <c:pt idx="11">
                  <c:v>价格</c:v>
                </c:pt>
                <c:pt idx="12">
                  <c:v>服务</c:v>
                </c:pt>
                <c:pt idx="13">
                  <c:v>内饰</c:v>
                </c:pt>
                <c:pt idx="14">
                  <c:v>使用费用</c:v>
                </c:pt>
              </c:strCache>
            </c:strRef>
          </c:cat>
          <c:val>
            <c:numRef>
              <c:f>Sheet1!$C$2:$C$16</c:f>
              <c:numCache>
                <c:formatCode>0%</c:formatCode>
                <c:ptCount val="15"/>
                <c:pt idx="0">
                  <c:v>0.05</c:v>
                </c:pt>
                <c:pt idx="1">
                  <c:v>0.01</c:v>
                </c:pt>
                <c:pt idx="2">
                  <c:v>0.06</c:v>
                </c:pt>
                <c:pt idx="3">
                  <c:v>0.05</c:v>
                </c:pt>
                <c:pt idx="4">
                  <c:v>0.04</c:v>
                </c:pt>
                <c:pt idx="5">
                  <c:v>0.24</c:v>
                </c:pt>
                <c:pt idx="6">
                  <c:v>0.05</c:v>
                </c:pt>
                <c:pt idx="7">
                  <c:v>0.16</c:v>
                </c:pt>
                <c:pt idx="8">
                  <c:v>0.05</c:v>
                </c:pt>
                <c:pt idx="9">
                  <c:v>0.03</c:v>
                </c:pt>
                <c:pt idx="10">
                  <c:v>0</c:v>
                </c:pt>
                <c:pt idx="11">
                  <c:v>0.09</c:v>
                </c:pt>
                <c:pt idx="12">
                  <c:v>0.01</c:v>
                </c:pt>
                <c:pt idx="13">
                  <c:v>0.15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536-467F-A6DE-60D94CFBF1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33928213"/>
        <c:axId val="506320285"/>
      </c:barChart>
      <c:catAx>
        <c:axId val="433928213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506320285"/>
        <c:crosses val="autoZero"/>
        <c:auto val="1"/>
        <c:lblAlgn val="ctr"/>
        <c:lblOffset val="100"/>
        <c:noMultiLvlLbl val="0"/>
      </c:catAx>
      <c:valAx>
        <c:axId val="506320285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43392821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c0edff7-e36c-4335-b95b-35f83b21dc6b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965602726991E-3"/>
          <c:y val="4.4722719141323799E-3"/>
          <c:w val="0.98140687945460203"/>
          <c:h val="0.991055456171734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不满点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22-462B-BBAC-2A4BD6254A73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D22-462B-BBAC-2A4BD6254A73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D22-462B-BBAC-2A4BD6254A73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D22-462B-BBAC-2A4BD6254A73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D22-462B-BBAC-2A4BD6254A73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D22-462B-BBAC-2A4BD6254A73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D22-462B-BBAC-2A4BD6254A73}"/>
              </c:ext>
            </c:extLst>
          </c:dPt>
          <c:dPt>
            <c:idx val="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D22-462B-BBAC-2A4BD6254A73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D22-462B-BBAC-2A4BD6254A73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D22-462B-BBAC-2A4BD6254A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操控性</c:v>
                </c:pt>
                <c:pt idx="1">
                  <c:v>安全性</c:v>
                </c:pt>
                <c:pt idx="2">
                  <c:v>舒适性</c:v>
                </c:pt>
                <c:pt idx="3">
                  <c:v>续航/电池</c:v>
                </c:pt>
                <c:pt idx="4">
                  <c:v>动力性</c:v>
                </c:pt>
                <c:pt idx="5">
                  <c:v>空间</c:v>
                </c:pt>
                <c:pt idx="6">
                  <c:v>智能座舱</c:v>
                </c:pt>
                <c:pt idx="7">
                  <c:v>外观</c:v>
                </c:pt>
                <c:pt idx="8">
                  <c:v>充电/换电</c:v>
                </c:pt>
                <c:pt idx="9">
                  <c:v>智能驾驶</c:v>
                </c:pt>
                <c:pt idx="10">
                  <c:v>品牌</c:v>
                </c:pt>
                <c:pt idx="11">
                  <c:v>价格</c:v>
                </c:pt>
                <c:pt idx="12">
                  <c:v>服务</c:v>
                </c:pt>
                <c:pt idx="13">
                  <c:v>内饰</c:v>
                </c:pt>
                <c:pt idx="14">
                  <c:v>使用费用</c:v>
                </c:pt>
              </c:strCache>
            </c:strRef>
          </c:cat>
          <c:val>
            <c:numRef>
              <c:f>Sheet1!$D$2:$D$16</c:f>
              <c:numCache>
                <c:formatCode>0%</c:formatCode>
                <c:ptCount val="15"/>
                <c:pt idx="0">
                  <c:v>0.09</c:v>
                </c:pt>
                <c:pt idx="1">
                  <c:v>0.01</c:v>
                </c:pt>
                <c:pt idx="2">
                  <c:v>0.1</c:v>
                </c:pt>
                <c:pt idx="3">
                  <c:v>0.08</c:v>
                </c:pt>
                <c:pt idx="4">
                  <c:v>0.03</c:v>
                </c:pt>
                <c:pt idx="5">
                  <c:v>0.06</c:v>
                </c:pt>
                <c:pt idx="6">
                  <c:v>0.12</c:v>
                </c:pt>
                <c:pt idx="7">
                  <c:v>0.09</c:v>
                </c:pt>
                <c:pt idx="8">
                  <c:v>0.08</c:v>
                </c:pt>
                <c:pt idx="9">
                  <c:v>0.22</c:v>
                </c:pt>
                <c:pt idx="10">
                  <c:v>0.01</c:v>
                </c:pt>
                <c:pt idx="11">
                  <c:v>0.01</c:v>
                </c:pt>
                <c:pt idx="12">
                  <c:v>0.02</c:v>
                </c:pt>
                <c:pt idx="13">
                  <c:v>0.08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D22-462B-BBAC-2A4BD6254A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33928213"/>
        <c:axId val="506320285"/>
      </c:barChart>
      <c:catAx>
        <c:axId val="433928213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506320285"/>
        <c:crosses val="autoZero"/>
        <c:auto val="1"/>
        <c:lblAlgn val="ctr"/>
        <c:lblOffset val="100"/>
        <c:noMultiLvlLbl val="0"/>
      </c:catAx>
      <c:valAx>
        <c:axId val="506320285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43392821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c0edff7-e36c-4335-b95b-35f83b21dc6b}"/>
      </c:ext>
    </c:extLst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75D67-55C7-4994-A130-9BF0F244F461}" type="datetimeFigureOut">
              <a:rPr lang="zh-CN" altLang="en-US" smtClean="0"/>
              <a:t>2026-04-10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6D0D5-FB3E-4D40-9677-6001CCC90F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" Type="http://schemas.openxmlformats.org/officeDocument/2006/relationships/tags" Target="../tags/tag8.xml"/><Relationship Id="rId21" Type="http://schemas.openxmlformats.org/officeDocument/2006/relationships/tags" Target="../tags/tag26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0" Type="http://schemas.openxmlformats.org/officeDocument/2006/relationships/tags" Target="../tags/tag25.xml"/><Relationship Id="rId29" Type="http://schemas.openxmlformats.org/officeDocument/2006/relationships/image" Target="../media/image2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slideMaster" Target="../slideMasters/slideMaster1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007C8F7-43E7-403E-BEBD-60F6257AF10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0" name="文本占位符 12"/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387127" y="1259205"/>
            <a:ext cx="8869045" cy="141414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fontAlgn="auto"/>
            <a:r>
              <a:rPr kumimoji="1" lang="zh-CN" altLang="en-US" strike="noStrike" noProof="1"/>
              <a:t>文件标题 </a:t>
            </a:r>
            <a:r>
              <a:rPr kumimoji="1" lang="zh-CN" altLang="en-US" dirty="0">
                <a:sym typeface="+mn-ea"/>
              </a:rPr>
              <a:t>微软雅黑</a:t>
            </a:r>
            <a:r>
              <a:rPr kumimoji="1" lang="zh-CN" altLang="en-US" strike="noStrike" noProof="1"/>
              <a:t> 加粗</a:t>
            </a:r>
            <a:r>
              <a:rPr kumimoji="1" lang="en-US" altLang="zh-CN" strike="noStrike" noProof="1"/>
              <a:t> 36</a:t>
            </a:r>
            <a:r>
              <a:rPr kumimoji="1" lang="zh-CN" altLang="en-US" strike="noStrike" noProof="1"/>
              <a:t>号 黑色 </a:t>
            </a:r>
            <a:endParaRPr kumimoji="1" lang="en-US" altLang="zh-CN" strike="noStrike" noProof="1"/>
          </a:p>
        </p:txBody>
      </p:sp>
      <p:sp>
        <p:nvSpPr>
          <p:cNvPr id="11" name="文本占位符 13"/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387127" y="2673350"/>
            <a:ext cx="8869045" cy="57848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fontAlgn="auto"/>
            <a:r>
              <a:rPr kumimoji="1" lang="zh-CN" altLang="en-US" strike="noStrike" noProof="1"/>
              <a:t>部门名称 </a:t>
            </a:r>
            <a:r>
              <a:rPr kumimoji="1" lang="zh-CN" altLang="en-US" dirty="0">
                <a:sym typeface="+mn-ea"/>
              </a:rPr>
              <a:t>微软雅黑</a:t>
            </a:r>
            <a:r>
              <a:rPr kumimoji="1" lang="zh-CN" altLang="en-US" strike="noStrike" noProof="1"/>
              <a:t> </a:t>
            </a:r>
            <a:r>
              <a:rPr kumimoji="1" lang="en-US" altLang="zh-CN" strike="noStrike" noProof="1"/>
              <a:t>24</a:t>
            </a:r>
            <a:r>
              <a:rPr kumimoji="1" lang="zh-CN" altLang="en-US" strike="noStrike" noProof="1"/>
              <a:t>号 黑色</a:t>
            </a:r>
            <a:endParaRPr kumimoji="1" lang="en-US" altLang="zh-CN" strike="noStrike" noProof="1"/>
          </a:p>
        </p:txBody>
      </p:sp>
      <p:sp>
        <p:nvSpPr>
          <p:cNvPr id="12" name="文本占位符 14"/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387128" y="4867535"/>
            <a:ext cx="8869045" cy="54864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fontAlgn="auto"/>
            <a:r>
              <a:rPr kumimoji="1" lang="zh-CN" altLang="en-US" strike="noStrike" noProof="1"/>
              <a:t>日期格式 </a:t>
            </a:r>
            <a:r>
              <a:rPr kumimoji="1" lang="en-US" altLang="zh-CN" strike="noStrike" noProof="1"/>
              <a:t>2023/07/16 </a:t>
            </a:r>
            <a:r>
              <a:rPr kumimoji="1" lang="zh-CN" altLang="en-US" dirty="0">
                <a:sym typeface="+mn-ea"/>
              </a:rPr>
              <a:t>微软雅黑</a:t>
            </a:r>
            <a:r>
              <a:rPr kumimoji="1" lang="en-US" altLang="zh-CN" dirty="0">
                <a:sym typeface="+mn-ea"/>
              </a:rPr>
              <a:t> 18</a:t>
            </a:r>
            <a:r>
              <a:rPr kumimoji="1" lang="zh-CN" altLang="en-US" dirty="0">
                <a:sym typeface="+mn-ea"/>
              </a:rPr>
              <a:t>号 黑色 </a:t>
            </a:r>
            <a:endParaRPr kumimoji="1" lang="en-US" altLang="zh-CN" dirty="0">
              <a:sym typeface="+mn-ea"/>
            </a:endParaRPr>
          </a:p>
        </p:txBody>
      </p:sp>
      <p:sp>
        <p:nvSpPr>
          <p:cNvPr id="31" name="文本占位符 14"/>
          <p:cNvSpPr>
            <a:spLocks noGrp="1"/>
          </p:cNvSpPr>
          <p:nvPr>
            <p:ph type="body" sz="quarter" idx="16" hasCustomPrompt="1"/>
            <p:custDataLst>
              <p:tags r:id="rId4"/>
            </p:custDataLst>
          </p:nvPr>
        </p:nvSpPr>
        <p:spPr>
          <a:xfrm>
            <a:off x="387128" y="5416176"/>
            <a:ext cx="8869045" cy="54864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fontAlgn="auto"/>
            <a:r>
              <a:rPr kumimoji="1" lang="zh-CN" altLang="en-US" strike="noStrike" noProof="1">
                <a:sym typeface="+mn-ea"/>
              </a:rPr>
              <a:t>汇报时间 </a:t>
            </a:r>
            <a:r>
              <a:rPr kumimoji="1" lang="en-US" altLang="zh-CN" strike="noStrike" noProof="1">
                <a:sym typeface="+mn-ea"/>
              </a:rPr>
              <a:t>XX</a:t>
            </a:r>
            <a:r>
              <a:rPr kumimoji="1" lang="zh-CN" altLang="en-US" strike="noStrike" noProof="1">
                <a:sym typeface="+mn-ea"/>
              </a:rPr>
              <a:t>分钟 </a:t>
            </a:r>
            <a:r>
              <a:rPr kumimoji="1" lang="zh-CN" altLang="en-US" dirty="0">
                <a:sym typeface="+mn-ea"/>
              </a:rPr>
              <a:t>微软雅黑</a:t>
            </a:r>
            <a:r>
              <a:rPr kumimoji="1" lang="en-US" altLang="zh-CN" dirty="0">
                <a:sym typeface="+mn-ea"/>
              </a:rPr>
              <a:t> 18</a:t>
            </a:r>
            <a:r>
              <a:rPr kumimoji="1" lang="zh-CN" altLang="en-US" dirty="0">
                <a:sym typeface="+mn-ea"/>
              </a:rPr>
              <a:t>号 黑色 </a:t>
            </a:r>
            <a:endParaRPr kumimoji="1" lang="en-US" altLang="zh-CN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3014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间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 userDrawn="1"/>
        </p:nvCxnSpPr>
        <p:spPr>
          <a:xfrm>
            <a:off x="483419" y="682473"/>
            <a:ext cx="1121328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"/>
          <p:cNvSpPr txBox="1">
            <a:spLocks noChangeArrowheads="1"/>
          </p:cNvSpPr>
          <p:nvPr userDrawn="1"/>
        </p:nvSpPr>
        <p:spPr bwMode="auto">
          <a:xfrm>
            <a:off x="10639425" y="282188"/>
            <a:ext cx="1156773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5BDB7EF3-72B3-4AF8-AED4-FF44441B5A9C}" type="slidenum">
              <a:rPr lang="zh-CN" altLang="en-US" sz="1600" b="1" smtClean="0">
                <a:latin typeface="微软雅黑" panose="020B0503020204020204" charset="-122"/>
                <a:ea typeface="微软雅黑" panose="020B0503020204020204" charset="-122"/>
                <a:cs typeface="阿里巴巴普惠体 2.0 55 Regular" panose="00020600040101010101" pitchFamily="18" charset="-122"/>
              </a:rPr>
              <a:t>‹#›</a:t>
            </a:fld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阿里巴巴普惠体 2.0 55 Regular" panose="00020600040101010101" pitchFamily="18" charset="-122"/>
              </a:rPr>
              <a:t>/2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F75EF59-BE21-4DF9-963B-2CE725AABDE8}"/>
              </a:ext>
            </a:extLst>
          </p:cNvPr>
          <p:cNvGrpSpPr/>
          <p:nvPr userDrawn="1"/>
        </p:nvGrpSpPr>
        <p:grpSpPr>
          <a:xfrm>
            <a:off x="-309880" y="6558280"/>
            <a:ext cx="12526645" cy="352425"/>
            <a:chOff x="-309880" y="6558280"/>
            <a:chExt cx="12526645" cy="352425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-309880" y="6610032"/>
              <a:ext cx="11226800" cy="248920"/>
              <a:chOff x="2433189" y="6676080"/>
              <a:chExt cx="8256714" cy="188035"/>
            </a:xfrm>
          </p:grpSpPr>
          <p:sp>
            <p:nvSpPr>
              <p:cNvPr id="5" name="平行四边形 4"/>
              <p:cNvSpPr/>
              <p:nvPr userDrawn="1">
                <p:custDataLst>
                  <p:tags r:id="rId23"/>
                </p:custDataLst>
              </p:nvPr>
            </p:nvSpPr>
            <p:spPr>
              <a:xfrm>
                <a:off x="9890415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平行四边形 5"/>
              <p:cNvSpPr/>
              <p:nvPr userDrawn="1">
                <p:custDataLst>
                  <p:tags r:id="rId24"/>
                </p:custDataLst>
              </p:nvPr>
            </p:nvSpPr>
            <p:spPr>
              <a:xfrm>
                <a:off x="10084731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平行四边形 6"/>
              <p:cNvSpPr/>
              <p:nvPr userDrawn="1">
                <p:custDataLst>
                  <p:tags r:id="rId25"/>
                </p:custDataLst>
              </p:nvPr>
            </p:nvSpPr>
            <p:spPr>
              <a:xfrm>
                <a:off x="10279047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平行四边形 7"/>
              <p:cNvSpPr/>
              <p:nvPr userDrawn="1">
                <p:custDataLst>
                  <p:tags r:id="rId26"/>
                </p:custDataLst>
              </p:nvPr>
            </p:nvSpPr>
            <p:spPr>
              <a:xfrm>
                <a:off x="10473362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平行四边形 12"/>
              <p:cNvSpPr/>
              <p:nvPr userDrawn="1">
                <p:custDataLst>
                  <p:tags r:id="rId27"/>
                </p:custDataLst>
              </p:nvPr>
            </p:nvSpPr>
            <p:spPr>
              <a:xfrm>
                <a:off x="2433189" y="6676080"/>
                <a:ext cx="7479572" cy="188035"/>
              </a:xfrm>
              <a:prstGeom prst="parallelogram">
                <a:avLst>
                  <a:gd name="adj" fmla="val 71393"/>
                </a:avLst>
              </a:prstGeom>
              <a:gradFill>
                <a:gsLst>
                  <a:gs pos="0">
                    <a:schemeClr val="accent6">
                      <a:alpha val="0"/>
                    </a:schemeClr>
                  </a:gs>
                  <a:gs pos="100000">
                    <a:schemeClr val="accent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4" name="图片 13" descr="E:\Desktop\300ppi\资源 2-3.png资源 2-3"/>
            <p:cNvPicPr>
              <a:picLocks noChangeAspect="1"/>
            </p:cNvPicPr>
            <p:nvPr userDrawn="1">
              <p:custDataLst>
                <p:tags r:id="rId22"/>
              </p:custDataLst>
            </p:nvPr>
          </p:nvPicPr>
          <p:blipFill>
            <a:blip r:embed="rId29"/>
            <a:srcRect/>
            <a:stretch>
              <a:fillRect/>
            </a:stretch>
          </p:blipFill>
          <p:spPr>
            <a:xfrm>
              <a:off x="10906760" y="6558280"/>
              <a:ext cx="1310005" cy="352425"/>
            </a:xfrm>
            <a:prstGeom prst="rect">
              <a:avLst/>
            </a:prstGeom>
          </p:spPr>
        </p:pic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AA523653-9EDD-4F71-9AF7-20E253C84EDE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2297065" y="1921343"/>
            <a:ext cx="39042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阿里巴巴普惠体 2.0 55 Regular" panose="00020600040101010101" pitchFamily="18" charset="-122"/>
              </a:rPr>
              <a:t>配色参考方案，已设定为默认主题颜色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777CEFD-7A34-4A6B-9604-ECCD89497FF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12297065" y="795020"/>
            <a:ext cx="3552535" cy="735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正文 </a:t>
            </a:r>
            <a:r>
              <a:rPr kumimoji="1" 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微软雅黑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 黑色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行距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</a:t>
            </a:r>
            <a:r>
              <a:rPr kumimoji="1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请控制在参考线范围内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F93D056-509E-4A9B-BF89-66CFC35B05C9}"/>
              </a:ext>
            </a:extLst>
          </p:cNvPr>
          <p:cNvGrpSpPr/>
          <p:nvPr userDrawn="1"/>
        </p:nvGrpSpPr>
        <p:grpSpPr>
          <a:xfrm>
            <a:off x="12392025" y="2442767"/>
            <a:ext cx="2739390" cy="2905849"/>
            <a:chOff x="12392025" y="2442767"/>
            <a:chExt cx="2739390" cy="290584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B1EAD914-72B3-4402-8123-F3A02B570E4E}"/>
                </a:ext>
              </a:extLst>
            </p:cNvPr>
            <p:cNvGrpSpPr/>
            <p:nvPr userDrawn="1"/>
          </p:nvGrpSpPr>
          <p:grpSpPr>
            <a:xfrm>
              <a:off x="12392025" y="2442767"/>
              <a:ext cx="2739390" cy="606425"/>
              <a:chOff x="20085" y="4934"/>
              <a:chExt cx="4314" cy="955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0B935D7C-F971-4F6D-B19A-29C25A524047}"/>
                  </a:ext>
                </a:extLst>
              </p:cNvPr>
              <p:cNvSpPr/>
              <p:nvPr userDrawn="1"/>
            </p:nvSpPr>
            <p:spPr>
              <a:xfrm>
                <a:off x="20085" y="4934"/>
                <a:ext cx="1318" cy="955"/>
              </a:xfrm>
              <a:prstGeom prst="rect">
                <a:avLst/>
              </a:prstGeom>
              <a:solidFill>
                <a:srgbClr val="006F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660BB943-5277-48B8-A4D7-FA37434972BE}"/>
                  </a:ext>
                </a:extLst>
              </p:cNvPr>
              <p:cNvSpPr/>
              <p:nvPr userDrawn="1">
                <p:custDataLst>
                  <p:tags r:id="rId18"/>
                </p:custDataLst>
              </p:nvPr>
            </p:nvSpPr>
            <p:spPr>
              <a:xfrm>
                <a:off x="21403" y="4934"/>
                <a:ext cx="749" cy="955"/>
              </a:xfrm>
              <a:prstGeom prst="rect">
                <a:avLst/>
              </a:prstGeom>
              <a:solidFill>
                <a:srgbClr val="3788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C2332FEF-27FB-45A4-84F9-E0067F279B83}"/>
                  </a:ext>
                </a:extLst>
              </p:cNvPr>
              <p:cNvSpPr/>
              <p:nvPr userDrawn="1">
                <p:custDataLst>
                  <p:tags r:id="rId19"/>
                </p:custDataLst>
              </p:nvPr>
            </p:nvSpPr>
            <p:spPr>
              <a:xfrm>
                <a:off x="22152" y="4934"/>
                <a:ext cx="749" cy="955"/>
              </a:xfrm>
              <a:prstGeom prst="rect">
                <a:avLst/>
              </a:prstGeom>
              <a:solidFill>
                <a:srgbClr val="68A5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9ABE034E-E38B-4470-BA30-355BECC4C9DD}"/>
                  </a:ext>
                </a:extLst>
              </p:cNvPr>
              <p:cNvSpPr/>
              <p:nvPr userDrawn="1">
                <p:custDataLst>
                  <p:tags r:id="rId20"/>
                </p:custDataLst>
              </p:nvPr>
            </p:nvSpPr>
            <p:spPr>
              <a:xfrm>
                <a:off x="22901" y="4934"/>
                <a:ext cx="749" cy="955"/>
              </a:xfrm>
              <a:prstGeom prst="rect">
                <a:avLst/>
              </a:prstGeom>
              <a:solidFill>
                <a:srgbClr val="9FC4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6721BD00-0193-4AC7-8EDB-A32ED13055F5}"/>
                  </a:ext>
                </a:extLst>
              </p:cNvPr>
              <p:cNvSpPr/>
              <p:nvPr userDrawn="1">
                <p:custDataLst>
                  <p:tags r:id="rId21"/>
                </p:custDataLst>
              </p:nvPr>
            </p:nvSpPr>
            <p:spPr>
              <a:xfrm>
                <a:off x="23650" y="4934"/>
                <a:ext cx="749" cy="955"/>
              </a:xfrm>
              <a:prstGeom prst="rect">
                <a:avLst/>
              </a:prstGeom>
              <a:solidFill>
                <a:srgbClr val="CFE2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3F4D151D-56A3-4CEA-8225-DDE511F1E7CE}"/>
                </a:ext>
              </a:extLst>
            </p:cNvPr>
            <p:cNvGrpSpPr/>
            <p:nvPr userDrawn="1"/>
          </p:nvGrpSpPr>
          <p:grpSpPr>
            <a:xfrm>
              <a:off x="12392025" y="4742191"/>
              <a:ext cx="2739390" cy="606425"/>
              <a:chOff x="20085" y="8498"/>
              <a:chExt cx="4314" cy="955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F9F59062-78BE-4949-AD34-862E3C8772CE}"/>
                  </a:ext>
                </a:extLst>
              </p:cNvPr>
              <p:cNvSpPr/>
              <p:nvPr userDrawn="1">
                <p:custDataLst>
                  <p:tags r:id="rId13"/>
                </p:custDataLst>
              </p:nvPr>
            </p:nvSpPr>
            <p:spPr>
              <a:xfrm>
                <a:off x="20085" y="8498"/>
                <a:ext cx="1318" cy="955"/>
              </a:xfrm>
              <a:prstGeom prst="rect">
                <a:avLst/>
              </a:prstGeom>
              <a:solidFill>
                <a:srgbClr val="E600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D0F223C3-66BF-4A4E-A249-F41A1C85574F}"/>
                  </a:ext>
                </a:extLst>
              </p:cNvPr>
              <p:cNvSpPr/>
              <p:nvPr userDrawn="1">
                <p:custDataLst>
                  <p:tags r:id="rId14"/>
                </p:custDataLst>
              </p:nvPr>
            </p:nvSpPr>
            <p:spPr>
              <a:xfrm>
                <a:off x="21403" y="8498"/>
                <a:ext cx="749" cy="955"/>
              </a:xfrm>
              <a:prstGeom prst="rect">
                <a:avLst/>
              </a:prstGeom>
              <a:solidFill>
                <a:srgbClr val="E932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F1821980-41A7-494E-AAAD-06BDC6631556}"/>
                  </a:ext>
                </a:extLst>
              </p:cNvPr>
              <p:cNvSpPr/>
              <p:nvPr userDrawn="1">
                <p:custDataLst>
                  <p:tags r:id="rId15"/>
                </p:custDataLst>
              </p:nvPr>
            </p:nvSpPr>
            <p:spPr>
              <a:xfrm>
                <a:off x="22152" y="8498"/>
                <a:ext cx="749" cy="955"/>
              </a:xfrm>
              <a:prstGeom prst="rect">
                <a:avLst/>
              </a:prstGeom>
              <a:solidFill>
                <a:srgbClr val="F1677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2524DA0B-A27F-428C-8803-AAF124AD1E58}"/>
                  </a:ext>
                </a:extLst>
              </p:cNvPr>
              <p:cNvSpPr/>
              <p:nvPr userDrawn="1">
                <p:custDataLst>
                  <p:tags r:id="rId16"/>
                </p:custDataLst>
              </p:nvPr>
            </p:nvSpPr>
            <p:spPr>
              <a:xfrm>
                <a:off x="22901" y="8498"/>
                <a:ext cx="749" cy="955"/>
              </a:xfrm>
              <a:prstGeom prst="rect">
                <a:avLst/>
              </a:prstGeom>
              <a:solidFill>
                <a:srgbClr val="F599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A097F44-52B8-4086-BB08-F58CF70C7E12}"/>
                  </a:ext>
                </a:extLst>
              </p:cNvPr>
              <p:cNvSpPr/>
              <p:nvPr userDrawn="1">
                <p:custDataLst>
                  <p:tags r:id="rId17"/>
                </p:custDataLst>
              </p:nvPr>
            </p:nvSpPr>
            <p:spPr>
              <a:xfrm>
                <a:off x="23650" y="8498"/>
                <a:ext cx="749" cy="955"/>
              </a:xfrm>
              <a:prstGeom prst="rect">
                <a:avLst/>
              </a:prstGeom>
              <a:solidFill>
                <a:srgbClr val="FACB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A1AA1557-0917-428C-9FA3-D4059E3A56F1}"/>
                </a:ext>
              </a:extLst>
            </p:cNvPr>
            <p:cNvGrpSpPr/>
            <p:nvPr userDrawn="1"/>
          </p:nvGrpSpPr>
          <p:grpSpPr>
            <a:xfrm>
              <a:off x="12392025" y="3209242"/>
              <a:ext cx="2739390" cy="606425"/>
              <a:chOff x="20085" y="4934"/>
              <a:chExt cx="4314" cy="955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B75624DD-C325-4DFD-98DC-FFE55BD9BA97}"/>
                  </a:ext>
                </a:extLst>
              </p:cNvPr>
              <p:cNvSpPr/>
              <p:nvPr userDrawn="1">
                <p:custDataLst>
                  <p:tags r:id="rId8"/>
                </p:custDataLst>
              </p:nvPr>
            </p:nvSpPr>
            <p:spPr>
              <a:xfrm>
                <a:off x="20085" y="4934"/>
                <a:ext cx="1318" cy="95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5FA1C21-B91D-4309-9675-2B5AECE3DF94}"/>
                  </a:ext>
                </a:extLst>
              </p:cNvPr>
              <p:cNvSpPr/>
              <p:nvPr userDrawn="1">
                <p:custDataLst>
                  <p:tags r:id="rId9"/>
                </p:custDataLst>
              </p:nvPr>
            </p:nvSpPr>
            <p:spPr>
              <a:xfrm>
                <a:off x="21403" y="4934"/>
                <a:ext cx="749" cy="955"/>
              </a:xfrm>
              <a:prstGeom prst="rect">
                <a:avLst/>
              </a:prstGeom>
              <a:solidFill>
                <a:srgbClr val="34343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C7F63269-C56F-443D-A2EE-D700A509ED0A}"/>
                  </a:ext>
                </a:extLst>
              </p:cNvPr>
              <p:cNvSpPr/>
              <p:nvPr userDrawn="1">
                <p:custDataLst>
                  <p:tags r:id="rId10"/>
                </p:custDataLst>
              </p:nvPr>
            </p:nvSpPr>
            <p:spPr>
              <a:xfrm>
                <a:off x="22152" y="4934"/>
                <a:ext cx="749" cy="955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7672D706-14C0-42A2-8C48-D3E7B93D179B}"/>
                  </a:ext>
                </a:extLst>
              </p:cNvPr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22901" y="4934"/>
                <a:ext cx="749" cy="955"/>
              </a:xfrm>
              <a:prstGeom prst="rect">
                <a:avLst/>
              </a:prstGeom>
              <a:solidFill>
                <a:srgbClr val="9A9A9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765546BB-7A71-4422-85B5-804BFD7157BC}"/>
                  </a:ext>
                </a:extLst>
              </p:cNvPr>
              <p:cNvSpPr/>
              <p:nvPr userDrawn="1">
                <p:custDataLst>
                  <p:tags r:id="rId12"/>
                </p:custDataLst>
              </p:nvPr>
            </p:nvSpPr>
            <p:spPr>
              <a:xfrm>
                <a:off x="23650" y="4934"/>
                <a:ext cx="749" cy="955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AC815876-281A-419D-A5CD-749207120EB9}"/>
                </a:ext>
              </a:extLst>
            </p:cNvPr>
            <p:cNvGrpSpPr/>
            <p:nvPr userDrawn="1"/>
          </p:nvGrpSpPr>
          <p:grpSpPr>
            <a:xfrm>
              <a:off x="12392025" y="3975717"/>
              <a:ext cx="2739390" cy="606425"/>
              <a:chOff x="20085" y="4934"/>
              <a:chExt cx="4314" cy="955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6F3046AA-EDCA-4A3B-A6DA-F626321C266A}"/>
                  </a:ext>
                </a:extLst>
              </p:cNvPr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20085" y="4934"/>
                <a:ext cx="1318" cy="95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DFD6CCE5-ED00-4D0F-BEBC-F1AEB7C19AB4}"/>
                  </a:ext>
                </a:extLst>
              </p:cNvPr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21403" y="4934"/>
                <a:ext cx="749" cy="955"/>
              </a:xfrm>
              <a:prstGeom prst="rect">
                <a:avLst/>
              </a:prstGeom>
              <a:solidFill>
                <a:srgbClr val="6E6E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EF810B5F-76FD-4CEC-9090-54CE17B2B8AC}"/>
                  </a:ext>
                </a:extLst>
              </p:cNvPr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22152" y="4934"/>
                <a:ext cx="749" cy="955"/>
              </a:xfrm>
              <a:prstGeom prst="rect">
                <a:avLst/>
              </a:prstGeom>
              <a:solidFill>
                <a:srgbClr val="9494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1C02F1CB-17E4-450F-A188-C91957900FA0}"/>
                  </a:ext>
                </a:extLst>
              </p:cNvPr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22901" y="4934"/>
                <a:ext cx="749" cy="955"/>
              </a:xfrm>
              <a:prstGeom prst="rect">
                <a:avLst/>
              </a:prstGeom>
              <a:solidFill>
                <a:srgbClr val="B8B8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381427FF-7B71-4224-8ED0-50A403AD75FA}"/>
                  </a:ext>
                </a:extLst>
              </p:cNvPr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23650" y="4934"/>
                <a:ext cx="749" cy="955"/>
              </a:xfrm>
              <a:prstGeom prst="rect">
                <a:avLst/>
              </a:prstGeom>
              <a:solidFill>
                <a:srgbClr val="DCDC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3C811FD-7155-4AFE-A68C-BA0875299C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6" name="文本占位符 12">
            <a:extLst>
              <a:ext uri="{FF2B5EF4-FFF2-40B4-BE49-F238E27FC236}">
                <a16:creationId xmlns:a16="http://schemas.microsoft.com/office/drawing/2014/main" id="{B7EFAEE4-FEF1-4C23-90C2-5CA872DC4A10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1661478" y="2014855"/>
            <a:ext cx="8869045" cy="141414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fontAlgn="auto"/>
            <a:r>
              <a:rPr kumimoji="1" lang="zh-CN" altLang="en-US" strike="noStrike" noProof="1"/>
              <a:t>结束语</a:t>
            </a:r>
          </a:p>
        </p:txBody>
      </p:sp>
    </p:spTree>
    <p:extLst>
      <p:ext uri="{BB962C8B-B14F-4D97-AF65-F5344CB8AC3E}">
        <p14:creationId xmlns:p14="http://schemas.microsoft.com/office/powerpoint/2010/main" val="248600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2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8688288" y="116632"/>
            <a:ext cx="2976331" cy="476672"/>
          </a:xfrm>
          <a:prstGeom prst="rect">
            <a:avLst/>
          </a:prstGeom>
          <a:solidFill>
            <a:srgbClr val="E9E8E7"/>
          </a:solidFill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5" name="Picture 2" descr="C:\Users\admin\Desktop\1572260972ff6cfd161604a465b9aff7.png"/>
          <p:cNvPicPr>
            <a:picLocks noChangeAspect="1" noChangeArrowheads="1"/>
          </p:cNvPicPr>
          <p:nvPr userDrawn="1"/>
        </p:nvPicPr>
        <p:blipFill rotWithShape="1">
          <a:blip r:embed="rId3" cstate="print"/>
          <a:srcRect r="28133" b="-28942"/>
          <a:stretch>
            <a:fillRect/>
          </a:stretch>
        </p:blipFill>
        <p:spPr bwMode="auto">
          <a:xfrm>
            <a:off x="8816453" y="191068"/>
            <a:ext cx="3055264" cy="52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25472" y="6566446"/>
            <a:ext cx="1219200" cy="284163"/>
          </a:xfrm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B9F93F6C-7BB6-4B36-91AA-10EEC0F54BF4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3352" y="-11659"/>
            <a:ext cx="5832648" cy="604963"/>
          </a:xfrm>
          <a:prstGeom prst="rect">
            <a:avLst/>
          </a:prstGeom>
        </p:spPr>
        <p:txBody>
          <a:bodyPr anchor="ctr"/>
          <a:lstStyle>
            <a:lvl1pPr algn="l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215265" y="810260"/>
            <a:ext cx="11713210" cy="638810"/>
          </a:xfrm>
        </p:spPr>
        <p:txBody>
          <a:bodyPr/>
          <a:lstStyle>
            <a:lvl1pPr marL="299720" indent="-299720">
              <a:buFont typeface="Wingdings" panose="05000000000000000000" charset="0"/>
              <a:buChar char="n"/>
              <a:defRPr sz="1400" b="1"/>
            </a:lvl1pPr>
            <a:lvl2pPr marL="457200" indent="0">
              <a:buFont typeface="Wingdings" panose="05000000000000000000" charset="0"/>
              <a:buNone/>
              <a:defRPr/>
            </a:lvl2pPr>
            <a:lvl3pPr>
              <a:buFont typeface="Wingdings" panose="05000000000000000000" charset="0"/>
              <a:buChar char="u"/>
              <a:defRPr/>
            </a:lvl3pPr>
            <a:lvl4pPr>
              <a:buFont typeface="Wingdings" panose="05000000000000000000" charset="0"/>
              <a:buChar char="u"/>
              <a:defRPr/>
            </a:lvl4pPr>
            <a:lvl5pPr>
              <a:buFont typeface="Wingdings" panose="05000000000000000000" charset="0"/>
              <a:buChar char="u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1862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0" r:id="rId2"/>
    <p:sldLayoutId id="2147483668" r:id="rId3"/>
    <p:sldLayoutId id="214748367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 userDrawn="1">
          <p15:clr>
            <a:srgbClr val="F26B43"/>
          </p15:clr>
        </p15:guide>
        <p15:guide id="2" pos="7368" userDrawn="1">
          <p15:clr>
            <a:srgbClr val="F26B43"/>
          </p15:clr>
        </p15:guide>
        <p15:guide id="3" orient="horz" pos="432" userDrawn="1">
          <p15:clr>
            <a:srgbClr val="F26B43"/>
          </p15:clr>
        </p15:guide>
        <p15:guide id="4" orient="horz" pos="496" userDrawn="1">
          <p15:clr>
            <a:srgbClr val="F26B43"/>
          </p15:clr>
        </p15:guide>
        <p15:guide id="5" orient="horz" pos="4056" userDrawn="1">
          <p15:clr>
            <a:srgbClr val="F26B43"/>
          </p15:clr>
        </p15:guide>
        <p15:guide id="6" orient="horz" pos="39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tags" Target="../tags/tag3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4">
            <a:extLst>
              <a:ext uri="{FF2B5EF4-FFF2-40B4-BE49-F238E27FC236}">
                <a16:creationId xmlns:a16="http://schemas.microsoft.com/office/drawing/2014/main" id="{71582828-11FC-408C-80D5-D0E577A5451B}"/>
              </a:ext>
            </a:extLst>
          </p:cNvPr>
          <p:cNvSpPr txBox="1">
            <a:spLocks/>
          </p:cNvSpPr>
          <p:nvPr/>
        </p:nvSpPr>
        <p:spPr>
          <a:xfrm>
            <a:off x="263352" y="-11659"/>
            <a:ext cx="5832648" cy="604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岚图梦想家对比车型及胜</a:t>
            </a:r>
            <a:r>
              <a:rPr lang="zh-CN" altLang="en-US" sz="2800" dirty="0">
                <a:solidFill>
                  <a:sysClr val="windowText" lastClr="000000"/>
                </a:solidFill>
              </a:rPr>
              <a:t>败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因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5DA35500-644B-49F2-8374-0688DD308D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970875"/>
              </p:ext>
            </p:extLst>
          </p:nvPr>
        </p:nvGraphicFramePr>
        <p:xfrm>
          <a:off x="191135" y="1788505"/>
          <a:ext cx="3983355" cy="454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4B2B62E-2722-4D3D-ADBC-2A19BF49F985}"/>
              </a:ext>
            </a:extLst>
          </p:cNvPr>
          <p:cNvSpPr/>
          <p:nvPr/>
        </p:nvSpPr>
        <p:spPr>
          <a:xfrm>
            <a:off x="263525" y="1839940"/>
            <a:ext cx="3806190" cy="40449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26M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梦想家对比车型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CA761D-499E-4302-B842-895D9A97E50C}"/>
              </a:ext>
            </a:extLst>
          </p:cNvPr>
          <p:cNvSpPr/>
          <p:nvPr/>
        </p:nvSpPr>
        <p:spPr>
          <a:xfrm>
            <a:off x="253365" y="6329390"/>
            <a:ext cx="4180205" cy="2533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数据来源：汽车之家，</a:t>
            </a:r>
            <a:r>
              <a: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168</a:t>
            </a:r>
            <a:r>
              <a:rPr kumimoji="0" lang="zh-CN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个样本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五边形 6">
            <a:extLst>
              <a:ext uri="{FF2B5EF4-FFF2-40B4-BE49-F238E27FC236}">
                <a16:creationId xmlns:a16="http://schemas.microsoft.com/office/drawing/2014/main" id="{F4B27A5C-B6B3-4F49-8F5A-F82CBDB67DF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24755" y="1824700"/>
            <a:ext cx="6135370" cy="323215"/>
          </a:xfrm>
          <a:prstGeom prst="homePlate">
            <a:avLst>
              <a:gd name="adj" fmla="val 121807"/>
            </a:avLst>
          </a:prstGeom>
          <a:solidFill>
            <a:srgbClr val="ACCB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26M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梦想家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VS 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别克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GL8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951FE3-D3E2-449A-BCC1-A607A2EBA1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944745" y="2135215"/>
            <a:ext cx="3441700" cy="209423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战胜因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TOP4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：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①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配置：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与同级别的腾势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D9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或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GL8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相比，梦想家将成本更多地投入到实用之处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②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操控：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横向跟腾势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D9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、别克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GL8 PHEV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放一起看，梦想家在动力和底盘这些硬件上占点便宜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③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价格：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别克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GL8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价格太高了，超出了我的预算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④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外观：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塞纳、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GL8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、传祺多少有点爹气，梦想家的设计感给人一种恰到好处的舒适，既有豪华新能源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MPV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的商务气场，又不缺少温润舒适的家庭风格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CC8076-38E1-4ED3-ABBC-B78D314C55E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566785" y="2135215"/>
            <a:ext cx="3441700" cy="209423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战败因：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受样本量影响，暂无战败因样本。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需要去分析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GL8</a:t>
            </a: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样本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.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3" name="五边形 10">
            <a:extLst>
              <a:ext uri="{FF2B5EF4-FFF2-40B4-BE49-F238E27FC236}">
                <a16:creationId xmlns:a16="http://schemas.microsoft.com/office/drawing/2014/main" id="{081B3E8D-8D51-46F3-BA2D-322AAA65379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24755" y="4259290"/>
            <a:ext cx="6135370" cy="323215"/>
          </a:xfrm>
          <a:prstGeom prst="homePlate">
            <a:avLst>
              <a:gd name="adj" fmla="val 121807"/>
            </a:avLst>
          </a:prstGeom>
          <a:solidFill>
            <a:srgbClr val="ACCB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26M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梦想家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 VS 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腾势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D9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C6745D-BBC2-46C5-BF90-22B96571F68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944745" y="4569805"/>
            <a:ext cx="3441700" cy="209423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战胜因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TOP4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：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①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配置：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梦想家乾崑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Ultra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版在空气悬架、后轮转向、华为高阶智驾等硬件配置上显得更有诚意。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②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操控：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最终因岚图梦想家乾崑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Pro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的智驾系统和底盘配置胜出。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③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舒适：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我们一开始是心仪腾势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D9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的，但试驾时，我在二排坐了十分钟，那种行驶中细碎的左右摇晃感让我头晕的厉害，全家都有此感觉。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④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智能驾驶：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D9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价格是便宜点，但智驾功能差太多了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D7DFF9-C84E-42BE-94D7-0EE579B5370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566785" y="4569805"/>
            <a:ext cx="3441700" cy="209423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战败因：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①</a:t>
            </a: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购车价格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：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D9</a:t>
            </a: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价格是便宜点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受样本量影响，战败因数据少。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需要去分析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D9</a:t>
            </a: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样本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.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6" name="文本占位符 14">
            <a:extLst>
              <a:ext uri="{FF2B5EF4-FFF2-40B4-BE49-F238E27FC236}">
                <a16:creationId xmlns:a16="http://schemas.microsoft.com/office/drawing/2014/main" id="{AD3A999C-0E13-4FCD-B64F-048F929AB327}"/>
              </a:ext>
            </a:extLst>
          </p:cNvPr>
          <p:cNvSpPr txBox="1">
            <a:spLocks/>
          </p:cNvSpPr>
          <p:nvPr/>
        </p:nvSpPr>
        <p:spPr>
          <a:xfrm>
            <a:off x="215265" y="810260"/>
            <a:ext cx="11713210" cy="9626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99720" indent="-29972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charset="0"/>
              <a:buChar char="n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u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u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u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26M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梦想家的核心竞品集中在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座全家出行市场。其中别克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GL8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系列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腾势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D9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是竞争最强的两个竞品。核心市场并非传统商务接待，而是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一二线城市的高净值多孩家庭（二胎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三胎）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对传统燃油豪华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MPV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（如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GL8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、传统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BBA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）不满的增换购用户。</a:t>
            </a:r>
          </a:p>
          <a:p>
            <a:pPr>
              <a:lnSpc>
                <a:spcPct val="100000"/>
              </a:lnSpc>
            </a:pPr>
            <a:r>
              <a:rPr 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26M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梦想家的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战胜因（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VS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别克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GL8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和腾势</a:t>
            </a:r>
            <a:r>
              <a:rPr lang="en-US" altLang="zh-CN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D9</a:t>
            </a:r>
            <a:r>
              <a:rPr lang="zh-CN" altLang="en-US" sz="12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r>
              <a:rPr lang="zh-CN" altLang="en-US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①智能与底盘配置的降维打击；②华为乾崑智驾的绝对壁垒；③颠覆</a:t>
            </a:r>
            <a:r>
              <a:rPr lang="en-US" altLang="zh-CN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大车感</a:t>
            </a:r>
            <a:r>
              <a:rPr lang="en-US" altLang="zh-CN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的操控；④</a:t>
            </a:r>
            <a:r>
              <a:rPr lang="en-US" altLang="zh-CN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</a:t>
            </a:r>
            <a:r>
              <a:rPr lang="en-US" altLang="zh-CN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商务化</a:t>
            </a:r>
            <a:r>
              <a:rPr lang="en-US" altLang="zh-CN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2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的家用设计语言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F2E8EA7-8CE1-4B18-B7C9-60C1D6091DF2}"/>
              </a:ext>
            </a:extLst>
          </p:cNvPr>
          <p:cNvCxnSpPr/>
          <p:nvPr/>
        </p:nvCxnSpPr>
        <p:spPr>
          <a:xfrm flipV="1">
            <a:off x="3712210" y="2017740"/>
            <a:ext cx="1235075" cy="67945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arrow"/>
          </a:ln>
          <a:effectLst/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2A084E8-CBD1-4D2C-A486-3881D8EDF6F5}"/>
              </a:ext>
            </a:extLst>
          </p:cNvPr>
          <p:cNvCxnSpPr>
            <a:endCxn id="13" idx="1"/>
          </p:cNvCxnSpPr>
          <p:nvPr/>
        </p:nvCxnSpPr>
        <p:spPr>
          <a:xfrm>
            <a:off x="3232785" y="3042630"/>
            <a:ext cx="1791970" cy="13785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  <a:tailEnd type="arrow"/>
          </a:ln>
          <a:effectLst/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F13BA48-9ABC-43AB-9FFC-7ACAF0C3246B}"/>
              </a:ext>
            </a:extLst>
          </p:cNvPr>
          <p:cNvSpPr/>
          <p:nvPr/>
        </p:nvSpPr>
        <p:spPr>
          <a:xfrm>
            <a:off x="263525" y="2564475"/>
            <a:ext cx="3511550" cy="935355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E222BB-75C8-4EE5-9AED-A4056DF660B4}"/>
              </a:ext>
            </a:extLst>
          </p:cNvPr>
          <p:cNvSpPr/>
          <p:nvPr/>
        </p:nvSpPr>
        <p:spPr>
          <a:xfrm>
            <a:off x="65405" y="2217130"/>
            <a:ext cx="788670" cy="40449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85B2F6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TOP3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BB0340-C68B-4737-8C6E-C20A7138387D}"/>
              </a:ext>
            </a:extLst>
          </p:cNvPr>
          <p:cNvSpPr/>
          <p:nvPr/>
        </p:nvSpPr>
        <p:spPr>
          <a:xfrm>
            <a:off x="259080" y="5896320"/>
            <a:ext cx="788670" cy="40449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未提及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5D5A39-DE02-412B-984C-468B7F38A297}"/>
              </a:ext>
            </a:extLst>
          </p:cNvPr>
          <p:cNvSpPr/>
          <p:nvPr/>
        </p:nvSpPr>
        <p:spPr>
          <a:xfrm>
            <a:off x="3506470" y="5886795"/>
            <a:ext cx="788670" cy="40449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72%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B1CF73-FFE3-4F96-B985-63E4D0C1BC43}"/>
              </a:ext>
            </a:extLst>
          </p:cNvPr>
          <p:cNvSpPr/>
          <p:nvPr/>
        </p:nvSpPr>
        <p:spPr>
          <a:xfrm>
            <a:off x="876935" y="6011255"/>
            <a:ext cx="2868930" cy="155575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065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6ABC35B-9E3F-4FFB-B174-D4B1CA4703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049398"/>
              </p:ext>
            </p:extLst>
          </p:nvPr>
        </p:nvGraphicFramePr>
        <p:xfrm>
          <a:off x="-13335" y="1852871"/>
          <a:ext cx="2470785" cy="456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标题 4">
            <a:extLst>
              <a:ext uri="{FF2B5EF4-FFF2-40B4-BE49-F238E27FC236}">
                <a16:creationId xmlns:a16="http://schemas.microsoft.com/office/drawing/2014/main" id="{2CFE92FC-33DE-4FBF-8E83-5990C57161CF}"/>
              </a:ext>
            </a:extLst>
          </p:cNvPr>
          <p:cNvSpPr txBox="1">
            <a:spLocks/>
          </p:cNvSpPr>
          <p:nvPr/>
        </p:nvSpPr>
        <p:spPr>
          <a:xfrm>
            <a:off x="263352" y="-11659"/>
            <a:ext cx="5832648" cy="604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26M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梦想家产品满意点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不满点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文本占位符 5">
            <a:extLst>
              <a:ext uri="{FF2B5EF4-FFF2-40B4-BE49-F238E27FC236}">
                <a16:creationId xmlns:a16="http://schemas.microsoft.com/office/drawing/2014/main" id="{99594802-40E2-4965-97A5-1890908DBA5C}"/>
              </a:ext>
            </a:extLst>
          </p:cNvPr>
          <p:cNvSpPr txBox="1">
            <a:spLocks/>
          </p:cNvSpPr>
          <p:nvPr/>
        </p:nvSpPr>
        <p:spPr>
          <a:xfrm>
            <a:off x="215265" y="810260"/>
            <a:ext cx="11713210" cy="638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9720" indent="-29972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charset="0"/>
              <a:buChar char="n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u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u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u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9720" marR="0" lvl="0" indent="-29972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26M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梦想家用户对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外观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+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内饰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+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操控关注度最高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，满意点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TOP5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：外观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操控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动力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价格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内饰。</a:t>
            </a:r>
          </a:p>
          <a:p>
            <a:pPr marL="299720" marR="0" lvl="0" indent="-29972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26M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梦想家的主要痛点集中于配置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质量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智能座舱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空间方面，权益有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点提及。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1C2ACD-14CD-4783-96D4-4A27BA55336E}"/>
              </a:ext>
            </a:extLst>
          </p:cNvPr>
          <p:cNvSpPr/>
          <p:nvPr/>
        </p:nvSpPr>
        <p:spPr>
          <a:xfrm>
            <a:off x="215265" y="1627446"/>
            <a:ext cx="2047240" cy="40449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区隔关注因素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070D3C89-37CE-45E6-B052-698948E449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9919144"/>
              </p:ext>
            </p:extLst>
          </p:nvPr>
        </p:nvGraphicFramePr>
        <p:xfrm>
          <a:off x="2458085" y="2034481"/>
          <a:ext cx="1442720" cy="4258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1CAE022-195E-4D58-AAE2-BB946DED88DC}"/>
              </a:ext>
            </a:extLst>
          </p:cNvPr>
          <p:cNvSpPr/>
          <p:nvPr/>
        </p:nvSpPr>
        <p:spPr>
          <a:xfrm>
            <a:off x="2262505" y="1627446"/>
            <a:ext cx="1485265" cy="40449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26M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梦想家满意点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2E49A7-D2C9-4C58-8C5B-6AD013A50CD6}"/>
              </a:ext>
            </a:extLst>
          </p:cNvPr>
          <p:cNvSpPr/>
          <p:nvPr/>
        </p:nvSpPr>
        <p:spPr>
          <a:xfrm>
            <a:off x="3650615" y="1627446"/>
            <a:ext cx="1754505" cy="40449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26M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梦想家不满意点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E1AA52F-2F9B-4842-B313-666E96E794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027703"/>
              </p:ext>
            </p:extLst>
          </p:nvPr>
        </p:nvGraphicFramePr>
        <p:xfrm>
          <a:off x="5556250" y="1730951"/>
          <a:ext cx="3091180" cy="4763770"/>
        </p:xfrm>
        <a:graphic>
          <a:graphicData uri="http://schemas.openxmlformats.org/drawingml/2006/table">
            <a:tbl>
              <a:tblPr firstRow="1" bandRow="1"/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3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 fontAlgn="auto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满意点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4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①内饰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整车凡是能够触碰到的地方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全都采用了真皮软包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处理，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····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。最为让人感到满意的便是新车几乎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不存在任何异味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，采用的是母婴级别的环保材质，家中有小孩儿的情况下孩子一上车便能安然入睡，</a:t>
                      </a:r>
                      <a:r>
                        <a:rPr 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···</a:t>
                      </a:r>
                      <a:endParaRPr lang="zh-CN" altLang="en-US" sz="9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②外观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颜色：这车外观没话说，我是加了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1w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，选配了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红金色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，尤其到了晚上，灯光下，这个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红色太显档次了，车漆质感也非常好车身线条流畅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···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1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③操控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驾驶感受就是完全没有这么大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mpv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的感觉，尤其是拐弯时候的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空气悬架魔毯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，简直是太丝滑了。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其智能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后轮转向功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能着实出色，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在掉头以及停车之时显得格外灵活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，在老小区那种狭窄的巷子里进行掉头操作，</a:t>
                      </a:r>
                      <a:r>
                        <a:rPr 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···</a:t>
                      </a:r>
                      <a:endParaRPr lang="zh-CN" altLang="en-US" sz="9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98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④动力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就动力而言，</a:t>
                      </a:r>
                      <a:r>
                        <a:rPr lang="en-US" altLang="zh-CN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PHEV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版本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的表现绝对称得上是绝妙，处在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纯电模式之下起步时极为平顺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，电机的响应速度也很快，超车时完全不会感到吃力，在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混动模式下动力更是充沛无比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，并且当发动机介入工作的时候，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几乎听不到任何噪音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，整个过程一点也不突兀。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9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⑤购车</a:t>
                      </a:r>
                    </a:p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价格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对比下来，岚图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梦想家乾崑</a:t>
                      </a:r>
                      <a:r>
                        <a:rPr lang="en-US" altLang="zh-CN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Ultra</a:t>
                      </a:r>
                      <a:r>
                        <a:rPr lang="zh-CN" altLang="en-US" sz="900" b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版的性价比真的很高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，价格不算贵，配置还很全，空间也大，座椅也舒服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9248D94-B2C4-43C2-B6A0-43187B5586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5261926"/>
              </p:ext>
            </p:extLst>
          </p:nvPr>
        </p:nvGraphicFramePr>
        <p:xfrm>
          <a:off x="8798560" y="1730951"/>
          <a:ext cx="3162935" cy="4764405"/>
        </p:xfrm>
        <a:graphic>
          <a:graphicData uri="http://schemas.openxmlformats.org/drawingml/2006/table">
            <a:tbl>
              <a:tblPr firstRow="1" bandRow="1"/>
              <a:tblGrid>
                <a:gridCol w="53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 fontAlgn="auto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不满点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①权益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没送充电桩。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②配置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无线充电功能也有些让人觉得不太实用，其功率不算高，把手机放在上面还得反复调整好几次才能够开始充电，而且在</a:t>
                      </a:r>
                      <a:r>
                        <a:rPr lang="zh-CN" altLang="en-US" sz="9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充电的时候还容易发热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···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最不满意的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···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9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第二排座椅的调节按键设置得有点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怪，放在了座椅侧面靠后的那块地方，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···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③质量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后尾门关闭时发出的声音偏大，另外其感应功能偶尔灵敏度欠佳，像在手里提着物品的情况下，</a:t>
                      </a:r>
                      <a:r>
                        <a:rPr lang="zh-CN" altLang="en-US" sz="9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连续踢门许久都没有任何反应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···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新车味道前两周能闻到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，偏皮质和饰板的气味，我放了炭包，多开窗透气，两三周后气味淡下来了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3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④智能</a:t>
                      </a:r>
                    </a:p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座舱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l" fontAlgn="auto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车机语音还有进步空间：</a:t>
                      </a:r>
                      <a:r>
                        <a:rPr lang="zh-CN" altLang="en-US" sz="9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目前车机的语音还有些不够智能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，泛化程度还要提升，有时候要说几次才能准确执行。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4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⑤空间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三排跟后备箱无法放平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，无法实现床车功能。有点小遗憾。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第三排的斜坡设计的不是很好。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7662ADA1-2B2D-45F4-87F2-C036A2EDCDC2}"/>
              </a:ext>
            </a:extLst>
          </p:cNvPr>
          <p:cNvSpPr/>
          <p:nvPr/>
        </p:nvSpPr>
        <p:spPr>
          <a:xfrm>
            <a:off x="183543" y="6300728"/>
            <a:ext cx="8671560" cy="25336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数据来源：汽车之家，</a:t>
            </a:r>
            <a:r>
              <a: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168</a:t>
            </a:r>
            <a:r>
              <a:rPr kumimoji="0" lang="zh-CN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个样本。提及率</a:t>
            </a:r>
            <a:r>
              <a: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=</a:t>
            </a:r>
            <a:r>
              <a:rPr kumimoji="0" lang="zh-CN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单一指标提及次数</a:t>
            </a:r>
            <a:r>
              <a: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/</a:t>
            </a:r>
            <a:r>
              <a:rPr kumimoji="0" lang="zh-CN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微软雅黑" panose="020B0503020204020204" pitchFamily="34" charset="-122"/>
                <a:sym typeface="+mn-ea"/>
              </a:rPr>
              <a:t>总评论数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F891A6-6256-4A8E-8318-440633A7A4D7}"/>
              </a:ext>
            </a:extLst>
          </p:cNvPr>
          <p:cNvSpPr/>
          <p:nvPr/>
        </p:nvSpPr>
        <p:spPr>
          <a:xfrm>
            <a:off x="-13335" y="1730951"/>
            <a:ext cx="788670" cy="40449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85B2F6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TOP3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A623E4-D363-4A63-8A39-39648126F360}"/>
              </a:ext>
            </a:extLst>
          </p:cNvPr>
          <p:cNvSpPr/>
          <p:nvPr/>
        </p:nvSpPr>
        <p:spPr>
          <a:xfrm>
            <a:off x="76835" y="2031941"/>
            <a:ext cx="2380615" cy="856615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B731FE5D-69B8-4ECF-B8FE-D64EFA32B1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4835081"/>
              </p:ext>
            </p:extLst>
          </p:nvPr>
        </p:nvGraphicFramePr>
        <p:xfrm>
          <a:off x="2320290" y="1859221"/>
          <a:ext cx="1851025" cy="456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AE1AC1A1-1FF2-4E6F-B182-A45130691A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391680"/>
              </p:ext>
            </p:extLst>
          </p:nvPr>
        </p:nvGraphicFramePr>
        <p:xfrm>
          <a:off x="3747770" y="1861761"/>
          <a:ext cx="2086610" cy="4559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28718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乐道</a:t>
            </a:r>
            <a:r>
              <a:rPr lang="en-US" altLang="zh-CN" dirty="0"/>
              <a:t>L90</a:t>
            </a:r>
            <a:r>
              <a:rPr lang="zh-CN" altLang="en-US" dirty="0"/>
              <a:t>对比车型及战胜因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215265" y="810260"/>
            <a:ext cx="11713210" cy="962660"/>
          </a:xfrm>
        </p:spPr>
        <p:txBody>
          <a:bodyPr>
            <a:normAutofit/>
          </a:bodyPr>
          <a:lstStyle/>
          <a:p>
            <a:r>
              <a:rPr lang="zh-CN" altLang="en-US"/>
              <a:t>乐道</a:t>
            </a:r>
            <a:r>
              <a:rPr lang="en-US" altLang="zh-CN"/>
              <a:t>L90</a:t>
            </a:r>
            <a:r>
              <a:rPr lang="zh-CN" altLang="en-US"/>
              <a:t>的核心竞品集中在</a:t>
            </a:r>
            <a:r>
              <a:rPr lang="en-US" altLang="zh-CN"/>
              <a:t>6/7</a:t>
            </a:r>
            <a:r>
              <a:rPr lang="zh-CN" altLang="en-US"/>
              <a:t>座大家出行市场。其中理想</a:t>
            </a:r>
            <a:r>
              <a:rPr lang="en-US" altLang="zh-CN"/>
              <a:t>i8</a:t>
            </a:r>
            <a:r>
              <a:rPr lang="zh-CN" altLang="en-US"/>
              <a:t>，蔚来</a:t>
            </a:r>
            <a:r>
              <a:rPr lang="en-US" altLang="zh-CN"/>
              <a:t>ES8</a:t>
            </a:r>
            <a:r>
              <a:rPr lang="zh-CN" altLang="en-US"/>
              <a:t>是乐道竞争最强的两个竞品，属于错位竞争，吸引原本想买高端品牌但预算有限、或者更看重性价比的用户。</a:t>
            </a:r>
          </a:p>
          <a:p>
            <a:r>
              <a:rPr lang="zh-CN" altLang="en-US"/>
              <a:t>乐道</a:t>
            </a:r>
            <a:r>
              <a:rPr lang="en-US" altLang="zh-CN"/>
              <a:t>L90</a:t>
            </a:r>
            <a:r>
              <a:rPr lang="zh-CN" altLang="en-US"/>
              <a:t>的战胜因</a:t>
            </a:r>
            <a:r>
              <a:rPr lang="zh-CN" altLang="en-US" sz="1200"/>
              <a:t>（</a:t>
            </a:r>
            <a:r>
              <a:rPr lang="en-US" altLang="zh-CN" sz="1200"/>
              <a:t>VS</a:t>
            </a:r>
            <a:r>
              <a:rPr lang="zh-CN" altLang="en-US" sz="1200"/>
              <a:t>理想</a:t>
            </a:r>
            <a:r>
              <a:rPr lang="en-US" altLang="zh-CN" sz="1200"/>
              <a:t>i8</a:t>
            </a:r>
            <a:r>
              <a:rPr lang="zh-CN" altLang="en-US" sz="1200"/>
              <a:t>和蔚来</a:t>
            </a:r>
            <a:r>
              <a:rPr lang="en-US" altLang="zh-CN" sz="1200"/>
              <a:t>ES8</a:t>
            </a:r>
            <a:r>
              <a:rPr lang="zh-CN" altLang="en-US" sz="1200"/>
              <a:t>）</a:t>
            </a:r>
            <a:r>
              <a:rPr lang="zh-CN" altLang="en-US"/>
              <a:t>：</a:t>
            </a:r>
            <a:r>
              <a:rPr lang="zh-CN" altLang="en-US">
                <a:solidFill>
                  <a:srgbClr val="0000FF"/>
                </a:solidFill>
              </a:rPr>
              <a:t>性价比高</a:t>
            </a:r>
            <a:r>
              <a:rPr lang="zh-CN" altLang="en-US"/>
              <a:t>，</a:t>
            </a:r>
            <a:r>
              <a:rPr lang="zh-CN" altLang="en-US">
                <a:solidFill>
                  <a:srgbClr val="0000FF"/>
                </a:solidFill>
              </a:rPr>
              <a:t>乘坐和储物空间</a:t>
            </a:r>
            <a:r>
              <a:rPr lang="zh-CN" altLang="en-US"/>
              <a:t>符合家庭需求，</a:t>
            </a:r>
            <a:r>
              <a:rPr lang="zh-CN" altLang="en-US">
                <a:solidFill>
                  <a:srgbClr val="0000FF"/>
                </a:solidFill>
              </a:rPr>
              <a:t>换电和补电方案</a:t>
            </a:r>
            <a:r>
              <a:rPr lang="zh-CN" altLang="en-US"/>
              <a:t>缓解电池贬值焦虑。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B9F93F6C-7BB6-4B36-91AA-10EEC0F54BF4}" type="slidenum">
              <a:rPr lang="en-US" altLang="zh-CN" smtClean="0"/>
              <a:t>3</a:t>
            </a:fld>
            <a:endParaRPr lang="en-US" altLang="zh-CN" dirty="0"/>
          </a:p>
        </p:txBody>
      </p:sp>
      <p:graphicFrame>
        <p:nvGraphicFramePr>
          <p:cNvPr id="6" name="图表 5"/>
          <p:cNvGraphicFramePr/>
          <p:nvPr/>
        </p:nvGraphicFramePr>
        <p:xfrm>
          <a:off x="807085" y="2177415"/>
          <a:ext cx="3036570" cy="4304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" name="矩形 9"/>
          <p:cNvSpPr/>
          <p:nvPr/>
        </p:nvSpPr>
        <p:spPr>
          <a:xfrm>
            <a:off x="215265" y="1772920"/>
            <a:ext cx="3806190" cy="40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乐道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L90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对比车型</a:t>
            </a:r>
          </a:p>
        </p:txBody>
      </p:sp>
      <p:sp>
        <p:nvSpPr>
          <p:cNvPr id="13" name="矩形 12"/>
          <p:cNvSpPr/>
          <p:nvPr/>
        </p:nvSpPr>
        <p:spPr>
          <a:xfrm>
            <a:off x="234950" y="6566535"/>
            <a:ext cx="4180205" cy="253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数据来源：懂车帝和汽车之家，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273</a:t>
            </a: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个样本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390525" y="4530725"/>
            <a:ext cx="3489960" cy="2921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63525" y="2375535"/>
            <a:ext cx="953135" cy="4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6/7</a:t>
            </a:r>
            <a:r>
              <a:rPr lang="zh-CN" altLang="en-US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座</a:t>
            </a:r>
            <a:r>
              <a:rPr lang="en-US" altLang="zh-CN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SUV</a:t>
            </a:r>
          </a:p>
          <a:p>
            <a:pPr algn="ctr"/>
            <a:r>
              <a:rPr lang="zh-CN" altLang="en-US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81%</a:t>
            </a:r>
          </a:p>
        </p:txBody>
      </p:sp>
      <p:sp>
        <p:nvSpPr>
          <p:cNvPr id="11" name="矩形 10"/>
          <p:cNvSpPr/>
          <p:nvPr/>
        </p:nvSpPr>
        <p:spPr>
          <a:xfrm>
            <a:off x="263525" y="4813300"/>
            <a:ext cx="904875" cy="4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座</a:t>
            </a:r>
            <a:r>
              <a:rPr lang="en-US" altLang="zh-CN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SUV</a:t>
            </a:r>
          </a:p>
          <a:p>
            <a:pPr algn="ctr"/>
            <a:r>
              <a:rPr lang="zh-CN" altLang="en-US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48%</a:t>
            </a: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390525" y="5429885"/>
            <a:ext cx="3489960" cy="2921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63525" y="5512435"/>
            <a:ext cx="905510" cy="4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MPV</a:t>
            </a:r>
          </a:p>
          <a:p>
            <a:pPr algn="ctr"/>
            <a:r>
              <a:rPr lang="zh-CN" altLang="en-US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26%</a:t>
            </a: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390525" y="6087110"/>
            <a:ext cx="3489960" cy="2921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263525" y="6039485"/>
            <a:ext cx="905510" cy="4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轿车</a:t>
            </a:r>
          </a:p>
          <a:p>
            <a:pPr algn="ctr"/>
            <a:r>
              <a:rPr lang="zh-CN" altLang="en-US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</a:t>
            </a:r>
            <a:r>
              <a:rPr lang="en-US" altLang="zh-CN" sz="1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24%</a:t>
            </a:r>
          </a:p>
        </p:txBody>
      </p:sp>
      <p:sp>
        <p:nvSpPr>
          <p:cNvPr id="18" name="矩形 17"/>
          <p:cNvSpPr/>
          <p:nvPr/>
        </p:nvSpPr>
        <p:spPr>
          <a:xfrm>
            <a:off x="1111885" y="2293620"/>
            <a:ext cx="2909570" cy="47815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五边形 19"/>
          <p:cNvSpPr/>
          <p:nvPr>
            <p:custDataLst>
              <p:tags r:id="rId1"/>
            </p:custDataLst>
          </p:nvPr>
        </p:nvSpPr>
        <p:spPr>
          <a:xfrm>
            <a:off x="5024755" y="1980565"/>
            <a:ext cx="6135370" cy="323215"/>
          </a:xfrm>
          <a:prstGeom prst="homePlate">
            <a:avLst>
              <a:gd name="adj" fmla="val 12180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乐道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L90 VS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i8</a:t>
            </a:r>
          </a:p>
        </p:txBody>
      </p:sp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4944745" y="2291080"/>
            <a:ext cx="3441700" cy="209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indent="0" algn="l" fontAlgn="auto">
              <a:lnSpc>
                <a:spcPct val="130000"/>
              </a:lnSpc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战胜因：</a:t>
            </a:r>
          </a:p>
          <a:p>
            <a:pPr indent="0" algn="l" fontAlgn="auto">
              <a:lnSpc>
                <a:spcPct val="130000"/>
              </a:lnSpc>
            </a:pP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sz="1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空间与储物优势明显</a:t>
            </a: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：前备箱和后备箱装载能力更强，可以放下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个婴儿车；</a:t>
            </a:r>
          </a:p>
          <a:p>
            <a:pPr indent="0" algn="l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sz="1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性价比高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：比理想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i8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优惠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3-4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万，优惠补贴和金融方案更优；</a:t>
            </a:r>
          </a:p>
          <a:p>
            <a:pPr indent="0" algn="l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sz="1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换电和补能模式更有吸引力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：部分用户认为换电可以缓解电池贬值焦虑；</a:t>
            </a:r>
          </a:p>
          <a:p>
            <a:pPr indent="0" algn="l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r>
              <a:rPr lang="zh-CN" sz="1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驾驶与乘坐体验更优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：部分用户认为乐道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L90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在舒适性和操控性商优于理想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i8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8566785" y="2291080"/>
            <a:ext cx="3441700" cy="209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indent="0" algn="l" fontAlgn="auto">
              <a:lnSpc>
                <a:spcPct val="130000"/>
              </a:lnSpc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i8</a:t>
            </a:r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战败因：</a:t>
            </a:r>
          </a:p>
          <a:p>
            <a:pPr indent="0" algn="l" fontAlgn="auto">
              <a:lnSpc>
                <a:spcPct val="130000"/>
              </a:lnSpc>
            </a:pP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储物空间严重不足</a:t>
            </a: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无前备箱、后备箱偏小，无法满足家庭装载需求，多次成为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无法获得家人认可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的决定性因素。</a:t>
            </a:r>
          </a:p>
          <a:p>
            <a:pPr indent="0" algn="l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价格偏高，超预算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：对比乐道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L90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缺乏价格竞争力。</a:t>
            </a:r>
          </a:p>
          <a:p>
            <a:pPr indent="0" algn="l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外观造型像面包车</a:t>
            </a: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，用户或家人不接受</a:t>
            </a:r>
          </a:p>
          <a:p>
            <a:pPr indent="0" algn="l" fontAlgn="auto">
              <a:lnSpc>
                <a:spcPct val="130000"/>
              </a:lnSpc>
            </a:pP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r>
              <a:rPr 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第三排空间压抑</a:t>
            </a:r>
            <a:endParaRPr lang="zh-CN" altLang="en-US" sz="1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五边形 22"/>
          <p:cNvSpPr/>
          <p:nvPr>
            <p:custDataLst>
              <p:tags r:id="rId4"/>
            </p:custDataLst>
          </p:nvPr>
        </p:nvSpPr>
        <p:spPr>
          <a:xfrm>
            <a:off x="5024755" y="4415155"/>
            <a:ext cx="6135370" cy="323215"/>
          </a:xfrm>
          <a:prstGeom prst="homePlate">
            <a:avLst>
              <a:gd name="adj" fmla="val 12180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乐道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L90 VS 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蔚来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ES8</a:t>
            </a:r>
          </a:p>
        </p:txBody>
      </p:sp>
      <p:sp>
        <p:nvSpPr>
          <p:cNvPr id="24" name="矩形 23"/>
          <p:cNvSpPr/>
          <p:nvPr>
            <p:custDataLst>
              <p:tags r:id="rId5"/>
            </p:custDataLst>
          </p:nvPr>
        </p:nvSpPr>
        <p:spPr>
          <a:xfrm>
            <a:off x="4944745" y="4725670"/>
            <a:ext cx="3441700" cy="209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indent="0" algn="l" fontAlgn="auto">
              <a:lnSpc>
                <a:spcPct val="130000"/>
              </a:lnSpc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战胜因：</a:t>
            </a:r>
          </a:p>
          <a:p>
            <a:pPr indent="0" algn="l" fontAlgn="auto">
              <a:lnSpc>
                <a:spcPct val="130000"/>
              </a:lnSpc>
            </a:pP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sz="1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性价比高</a:t>
            </a: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：比蔚来要便宜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万左右；</a:t>
            </a:r>
          </a:p>
          <a:p>
            <a:pPr indent="0" algn="l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sz="1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空间表现更符合家庭需求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：乐道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L90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乘坐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人不挤，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人平权；</a:t>
            </a:r>
          </a:p>
          <a:p>
            <a:pPr indent="0" algn="l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sz="1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产品定位偏家用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：乐道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L90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偏家用，蔚来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ES8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偏商用；</a:t>
            </a:r>
          </a:p>
        </p:txBody>
      </p:sp>
      <p:sp>
        <p:nvSpPr>
          <p:cNvPr id="25" name="矩形 24"/>
          <p:cNvSpPr/>
          <p:nvPr>
            <p:custDataLst>
              <p:tags r:id="rId6"/>
            </p:custDataLst>
          </p:nvPr>
        </p:nvSpPr>
        <p:spPr>
          <a:xfrm>
            <a:off x="8566785" y="4725670"/>
            <a:ext cx="3441700" cy="209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indent="0" algn="l" fontAlgn="auto">
              <a:lnSpc>
                <a:spcPct val="130000"/>
              </a:lnSpc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蔚来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ES8</a:t>
            </a:r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战败因：</a:t>
            </a:r>
          </a:p>
          <a:p>
            <a:pPr indent="0" algn="l" fontAlgn="auto">
              <a:lnSpc>
                <a:spcPct val="130000"/>
              </a:lnSpc>
            </a:pP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价格过高，超出预算</a:t>
            </a:r>
            <a:r>
              <a:rPr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蔚来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ES8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定价较高，多次被提及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太贵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”“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换车成本比较高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”“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符合要求但太贵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0" algn="l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提车周期过长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：等待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个月至半年是用户放弃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ES8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的反复出现的原因，直接影响购买决策。</a:t>
            </a:r>
          </a:p>
          <a:p>
            <a:pPr indent="0" algn="l" fontAlgn="auto">
              <a:lnSpc>
                <a:spcPct val="13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空间实用性不如乐道L90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：乘坐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人很挤，第三排压抑且脚部体验难受；</a:t>
            </a:r>
            <a:endParaRPr lang="zh-CN" altLang="en-US" sz="1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箭头连接符 25"/>
          <p:cNvCxnSpPr>
            <a:endCxn id="20" idx="1"/>
          </p:cNvCxnSpPr>
          <p:nvPr/>
        </p:nvCxnSpPr>
        <p:spPr>
          <a:xfrm flipV="1">
            <a:off x="4021455" y="2142490"/>
            <a:ext cx="1003300" cy="39052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8" idx="3"/>
            <a:endCxn id="23" idx="1"/>
          </p:cNvCxnSpPr>
          <p:nvPr/>
        </p:nvCxnSpPr>
        <p:spPr>
          <a:xfrm>
            <a:off x="4021455" y="2533015"/>
            <a:ext cx="1003300" cy="204406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乐道</a:t>
            </a:r>
            <a:r>
              <a:rPr lang="en-US" altLang="zh-CN">
                <a:sym typeface="+mn-ea"/>
              </a:rPr>
              <a:t>L90</a:t>
            </a:r>
            <a:r>
              <a:rPr lang="zh-CN" altLang="en-US">
                <a:sym typeface="+mn-ea"/>
              </a:rPr>
              <a:t>产品满意点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不满点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zh-CN" altLang="en-US"/>
              <a:t>乐道</a:t>
            </a:r>
            <a:r>
              <a:rPr lang="en-US" altLang="zh-CN"/>
              <a:t>L90</a:t>
            </a:r>
            <a:r>
              <a:rPr lang="zh-CN" altLang="en-US"/>
              <a:t>凭借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空间</a:t>
            </a:r>
            <a:r>
              <a:rPr lang="en-US" altLang="zh-CN">
                <a:solidFill>
                  <a:srgbClr val="0000FF"/>
                </a:solidFill>
              </a:rPr>
              <a:t>+</a:t>
            </a:r>
            <a:r>
              <a:rPr lang="zh-CN" altLang="en-US">
                <a:solidFill>
                  <a:srgbClr val="0000FF"/>
                </a:solidFill>
              </a:rPr>
              <a:t>造型设计</a:t>
            </a:r>
            <a:r>
              <a:rPr lang="en-US" altLang="zh-CN">
                <a:solidFill>
                  <a:srgbClr val="0000FF"/>
                </a:solidFill>
              </a:rPr>
              <a:t>+</a:t>
            </a:r>
            <a:r>
              <a:rPr lang="zh-CN" altLang="en-US">
                <a:solidFill>
                  <a:srgbClr val="0000FF"/>
                </a:solidFill>
              </a:rPr>
              <a:t>性价比</a:t>
            </a:r>
            <a:r>
              <a:rPr lang="zh-CN" altLang="en-US"/>
              <a:t>的三大优势组合，成为更多家庭用户的首选产品。</a:t>
            </a:r>
          </a:p>
          <a:p>
            <a:r>
              <a:rPr lang="zh-CN" altLang="en-US"/>
              <a:t>乐道</a:t>
            </a:r>
            <a:r>
              <a:rPr lang="en-US" altLang="zh-CN"/>
              <a:t>L90</a:t>
            </a:r>
            <a:r>
              <a:rPr lang="zh-CN" altLang="en-US"/>
              <a:t>的主要痛点集中于智能辅助驾驶，智能座舱，舒适性，外观，操控等方面。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B9F93F6C-7BB6-4B36-91AA-10EEC0F54BF4}" type="slidenum">
              <a:rPr lang="en-US" altLang="zh-CN" smtClean="0"/>
              <a:t>4</a:t>
            </a:fld>
            <a:endParaRPr lang="en-US" altLang="zh-CN" dirty="0"/>
          </a:p>
        </p:txBody>
      </p:sp>
      <p:graphicFrame>
        <p:nvGraphicFramePr>
          <p:cNvPr id="6" name="图表 5"/>
          <p:cNvGraphicFramePr/>
          <p:nvPr/>
        </p:nvGraphicFramePr>
        <p:xfrm>
          <a:off x="213360" y="2177415"/>
          <a:ext cx="2049145" cy="4259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矩形 9"/>
          <p:cNvSpPr/>
          <p:nvPr/>
        </p:nvSpPr>
        <p:spPr>
          <a:xfrm>
            <a:off x="215265" y="1772920"/>
            <a:ext cx="2047240" cy="40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区隔关注因素</a:t>
            </a:r>
          </a:p>
        </p:txBody>
      </p:sp>
      <p:graphicFrame>
        <p:nvGraphicFramePr>
          <p:cNvPr id="9" name="图表 8"/>
          <p:cNvGraphicFramePr/>
          <p:nvPr/>
        </p:nvGraphicFramePr>
        <p:xfrm>
          <a:off x="2333625" y="2179955"/>
          <a:ext cx="1442720" cy="4258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4113530" y="2179955"/>
          <a:ext cx="1442720" cy="4258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矩形 12"/>
          <p:cNvSpPr/>
          <p:nvPr/>
        </p:nvSpPr>
        <p:spPr>
          <a:xfrm>
            <a:off x="2262505" y="1772920"/>
            <a:ext cx="1321435" cy="40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乐道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L90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满意点</a:t>
            </a:r>
          </a:p>
        </p:txBody>
      </p:sp>
      <p:sp>
        <p:nvSpPr>
          <p:cNvPr id="14" name="矩形 13"/>
          <p:cNvSpPr/>
          <p:nvPr/>
        </p:nvSpPr>
        <p:spPr>
          <a:xfrm>
            <a:off x="4113530" y="1772920"/>
            <a:ext cx="1291590" cy="40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乐道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L90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不满点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5556250" y="1876425"/>
          <a:ext cx="3091180" cy="4560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维度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满意点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空间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储物空间优秀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：前备箱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后备箱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车内储物空间大；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三排乘坐空间大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：乘坐空间宽敞，真三排，座椅布局灵活；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外观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外观设计美观时尚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：简约封闭式格栅搭配贯穿式日行灯，夜间辨识度高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车身线条流畅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自带旗舰SUV气场</a:t>
                      </a:r>
                      <a:endParaRPr lang="zh-CN" altLang="en-US" sz="9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内饰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材质用料高档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nappa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真皮和绒顶以及实木装饰条贯穿全车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设计布局合理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：细节处理到位，水杯位置、卡槽、无线充电等使用方便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06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价格</a:t>
                      </a:r>
                      <a:r>
                        <a:rPr lang="en-US" altLang="zh-CN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性价比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性价比高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：价格比同级别多款车型低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1-2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万元，配置却毫不逊色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配置丰富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：空气悬架、全向感知硬件等全系标配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购车政策灵活：提供灵活租用方案，支持两年免息贷款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55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舒适性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座椅舒适度高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：座椅舒适性很好，腰枕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通风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加热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空调舒适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：制冷和制热都比较快，分区控制方便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车内静音性好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：车内静音性好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8798560" y="1876425"/>
          <a:ext cx="3162935" cy="4575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维度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不满点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27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智能辅助驾驶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自动泊车不好用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：窄车位、有墙体时泊入用时久甚至失败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上下闸道不好用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：高速快速并入匝道时经常迟迟不变到最右边车道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识别准确率不足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：极端天气或光线突变时出现误判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变道逻辑混乱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：变道犹豫、逻辑混乱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90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智能座舱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语音识别不精准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：经常词不达意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车机功能卡顿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车机支持的APP有限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舒适性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座椅腰部承托不足，长途驾驶易疲劳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热泵空调效果好但噪音较大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部分乘客反映容易晕车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外观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黑色外观不耐脏，清洁维护成本高</a:t>
                      </a:r>
                    </a:p>
                    <a:p>
                      <a:pPr algn="l" fontAlgn="auto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前机盖高度偏低，影响视觉气势</a:t>
                      </a:r>
                    </a:p>
                    <a:p>
                      <a:pPr algn="l" fontAlgn="auto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车灯造型被描述为"像昆虫"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操控性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方向盘偏右，转向虚位大</a:t>
                      </a:r>
                      <a:endParaRPr lang="zh-CN" altLang="en-US" sz="9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刹车前半程偏软，后半段顿挫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动能回收不适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：最低时松电门再加速还会有轻微拖拽感</a:t>
                      </a:r>
                    </a:p>
                    <a:p>
                      <a:pPr indent="0" algn="l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底盘调教不舒服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：悬架过坎不稳，有颠簸感；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6700" y="6566535"/>
            <a:ext cx="8671560" cy="253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数据来源：懂车帝和汽车之家，满意评价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574</a:t>
            </a: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个样本，不满评价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528</a:t>
            </a: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个样本。提及率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单一指标提及次数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总提及次数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MwZWQ1YTNhNzNiZGI4Y2E5ZTAyMmEyNjczZTRlZDYifQ=="/>
  <p:tag name="ISLIDE.GUIDESSETTING" val="{&quot;Id&quot;:&quot;613d1c63-231d-492f-92de-8efe58046652&quot;,&quot;Name&quot;:&quot;创未来2030&quot;,&quot;Kind&quot;:&quot;Custom&quot;,&quot;OldGuidesSetting&quot;:{&quot;HeaderHeight&quot;:10.0,&quot;FooterHeight&quot;:6.0,&quot;SideMargin&quot;:4.0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,&quot;left&quot;:389.35,&quot;top&quot;:155.95,&quot;width&quot;:556.2}"/>
</p:tagLst>
</file>

<file path=ppt/theme/theme1.xml><?xml version="1.0" encoding="utf-8"?>
<a:theme xmlns:a="http://schemas.openxmlformats.org/drawingml/2006/main" name="版1（推荐使用）">
  <a:themeElements>
    <a:clrScheme name="创未来2030">
      <a:dk1>
        <a:srgbClr val="000000"/>
      </a:dk1>
      <a:lt1>
        <a:srgbClr val="FFFFFF"/>
      </a:lt1>
      <a:dk2>
        <a:srgbClr val="898989"/>
      </a:dk2>
      <a:lt2>
        <a:srgbClr val="F0F0F0"/>
      </a:lt2>
      <a:accent1>
        <a:srgbClr val="006FBC"/>
      </a:accent1>
      <a:accent2>
        <a:srgbClr val="094AA8"/>
      </a:accent2>
      <a:accent3>
        <a:srgbClr val="4B4B4B"/>
      </a:accent3>
      <a:accent4>
        <a:srgbClr val="898989"/>
      </a:accent4>
      <a:accent5>
        <a:srgbClr val="F0F0F0"/>
      </a:accent5>
      <a:accent6>
        <a:srgbClr val="E60020"/>
      </a:accent6>
      <a:hlink>
        <a:srgbClr val="000000"/>
      </a:hlink>
      <a:folHlink>
        <a:srgbClr val="006FBC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2000" b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0" marR="0" indent="0" algn="l" defTabSz="914400" rtl="0" eaLnBrk="1" fontAlgn="auto" latinLnBrk="0" hangingPunct="1">
          <a:lnSpc>
            <a:spcPct val="120000"/>
          </a:lnSpc>
          <a:spcBef>
            <a:spcPts val="0"/>
          </a:spcBef>
          <a:spcAft>
            <a:spcPts val="600"/>
          </a:spcAft>
          <a:buClrTx/>
          <a:buSzTx/>
          <a:buFont typeface="Arial" panose="020B0604020202020204" pitchFamily="34" charset="0"/>
          <a:buNone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蓝色暖调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  <a:fontScheme name="qjapkq1e">
    <a:majorFont>
      <a:latin typeface="Arial Black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蓝色暖调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  <a:fontScheme name="qjapkq1e">
    <a:majorFont>
      <a:latin typeface="Arial Black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蓝色暖调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  <a:fontScheme name="qjapkq1e">
    <a:majorFont>
      <a:latin typeface="Arial Black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蓝色暖调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  <a:fontScheme name="qjapkq1e">
    <a:majorFont>
      <a:latin typeface="Arial Black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蓝色暖调">
    <a:dk1>
      <a:sysClr val="windowText" lastClr="000000"/>
    </a:dk1>
    <a:lt1>
      <a:sysClr val="window" lastClr="FFFFFF"/>
    </a:lt1>
    <a:dk2>
      <a:srgbClr val="242852"/>
    </a:dk2>
    <a:lt2>
      <a:srgbClr val="ACCBF9"/>
    </a:lt2>
    <a:accent1>
      <a:srgbClr val="4A66AC"/>
    </a:accent1>
    <a:accent2>
      <a:srgbClr val="629DD1"/>
    </a:accent2>
    <a:accent3>
      <a:srgbClr val="297FD5"/>
    </a:accent3>
    <a:accent4>
      <a:srgbClr val="7F8FA9"/>
    </a:accent4>
    <a:accent5>
      <a:srgbClr val="5AA2AE"/>
    </a:accent5>
    <a:accent6>
      <a:srgbClr val="9D90A0"/>
    </a:accent6>
    <a:hlink>
      <a:srgbClr val="9454C3"/>
    </a:hlink>
    <a:folHlink>
      <a:srgbClr val="3EBBF0"/>
    </a:folHlink>
  </a:clrScheme>
  <a:fontScheme name="qjapkq1e">
    <a:majorFont>
      <a:latin typeface="Arial Black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2036</Words>
  <Application>Microsoft Office PowerPoint</Application>
  <PresentationFormat>宽屏</PresentationFormat>
  <Paragraphs>151</Paragraphs>
  <Slides>4</Slides>
  <Notes>1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微软雅黑</vt:lpstr>
      <vt:lpstr>Arial</vt:lpstr>
      <vt:lpstr>Wingdings</vt:lpstr>
      <vt:lpstr>版1（推荐使用）</vt:lpstr>
      <vt:lpstr>PowerPoint 演示文稿</vt:lpstr>
      <vt:lpstr>PowerPoint 演示文稿</vt:lpstr>
      <vt:lpstr>乐道L90对比车型及战胜因</vt:lpstr>
      <vt:lpstr>乐道L90产品满意点/不满点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温舒童</dc:creator>
  <cp:lastModifiedBy>童鑫</cp:lastModifiedBy>
  <cp:revision>562</cp:revision>
  <cp:lastPrinted>2023-07-28T01:17:00Z</cp:lastPrinted>
  <dcterms:created xsi:type="dcterms:W3CDTF">2023-07-20T00:20:00Z</dcterms:created>
  <dcterms:modified xsi:type="dcterms:W3CDTF">2026-04-10T07:08:11Z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3F7184263F1A4F1AAA25FB121971B382_13</vt:lpwstr>
  </property>
  <property fmtid="{D5CDD505-2E9C-101B-9397-08002B2CF9AE}" pid="3" name="KSOProductBuildVer">
    <vt:lpwstr>2052-11.1.0.14309</vt:lpwstr>
  </property>
</Properties>
</file>
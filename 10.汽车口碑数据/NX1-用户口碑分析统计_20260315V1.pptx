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2.xml" ContentType="application/vnd.openxmlformats-officedocument.them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16671786" r:id="rId2"/>
    <p:sldId id="16671787" r:id="rId3"/>
    <p:sldId id="16671791" r:id="rId4"/>
    <p:sldId id="16671788" r:id="rId5"/>
    <p:sldId id="16671792" r:id="rId6"/>
    <p:sldId id="16671796" r:id="rId7"/>
    <p:sldId id="16671797" r:id="rId8"/>
  </p:sldIdLst>
  <p:sldSz cx="12192000" cy="6858000"/>
  <p:notesSz cx="6805613" cy="9939338"/>
  <p:custDataLst>
    <p:tags r:id="rId1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1. NX1分析-梦想家为例" id="{5B6EF919-5F52-45D1-AAD5-A82F0E7E4B71}">
          <p14:sldIdLst>
            <p14:sldId id="16671786"/>
            <p14:sldId id="16671787"/>
            <p14:sldId id="16671791"/>
            <p14:sldId id="16671788"/>
            <p14:sldId id="16671792"/>
            <p14:sldId id="16671796"/>
            <p14:sldId id="16671797"/>
          </p14:sldIdLst>
        </p14:section>
        <p14:section name="2" id="{58DE3201-E883-4609-95B5-BA7DEB41AEE0}">
          <p14:sldIdLst/>
        </p14:section>
      </p14:sectionLst>
    </p:ext>
    <p:ext uri="{EFAFB233-063F-42B5-8137-9DF3F51BA10A}">
      <p15:sldGuideLst xmlns:p15="http://schemas.microsoft.com/office/powerpoint/2012/main">
        <p15:guide id="1" pos="149" userDrawn="1">
          <p15:clr>
            <a:srgbClr val="A4A3A4"/>
          </p15:clr>
        </p15:guide>
        <p15:guide id="2" pos="7460" userDrawn="1">
          <p15:clr>
            <a:srgbClr val="A4A3A4"/>
          </p15:clr>
        </p15:guide>
        <p15:guide id="3" orient="horz" pos="60" userDrawn="1">
          <p15:clr>
            <a:srgbClr val="A4A3A4"/>
          </p15:clr>
        </p15:guide>
        <p15:guide id="5" orient="horz" pos="3827" userDrawn="1">
          <p15:clr>
            <a:srgbClr val="A4A3A4"/>
          </p15:clr>
        </p15:guide>
        <p15:guide id="7" orient="horz" pos="2074" userDrawn="1">
          <p15:clr>
            <a:srgbClr val="A4A3A4"/>
          </p15:clr>
        </p15:guide>
        <p15:guide id="8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童鑫" initials="童鑫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00"/>
    <a:srgbClr val="FFC000"/>
    <a:srgbClr val="E7EBF4"/>
    <a:srgbClr val="CBD5E7"/>
    <a:srgbClr val="FF0035"/>
    <a:srgbClr val="D9D9D9"/>
    <a:srgbClr val="BFBFBF"/>
    <a:srgbClr val="005089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39" autoAdjust="0"/>
    <p:restoredTop sz="95153" autoAdjust="0"/>
  </p:normalViewPr>
  <p:slideViewPr>
    <p:cSldViewPr snapToGrid="0" showGuides="1">
      <p:cViewPr>
        <p:scale>
          <a:sx n="66" d="100"/>
          <a:sy n="66" d="100"/>
        </p:scale>
        <p:origin x="245" y="182"/>
      </p:cViewPr>
      <p:guideLst>
        <p:guide pos="149"/>
        <p:guide pos="7460"/>
        <p:guide orient="horz" pos="60"/>
        <p:guide orient="horz" pos="3827"/>
        <p:guide orient="horz" pos="2074"/>
        <p:guide pos="3840"/>
      </p:guideLst>
    </p:cSldViewPr>
  </p:slideViewPr>
  <p:notesTextViewPr>
    <p:cViewPr>
      <p:scale>
        <a:sx n="300" d="100"/>
        <a:sy n="300" d="100"/>
      </p:scale>
      <p:origin x="0" y="0"/>
    </p:cViewPr>
  </p:notesTextViewPr>
  <p:sorterViewPr>
    <p:cViewPr>
      <p:scale>
        <a:sx n="150" d="100"/>
        <a:sy n="150" d="100"/>
      </p:scale>
      <p:origin x="0" y="-2610"/>
    </p:cViewPr>
  </p:sorterViewPr>
  <p:notesViewPr>
    <p:cSldViewPr snapToGrid="0">
      <p:cViewPr varScale="1">
        <p:scale>
          <a:sx n="51" d="100"/>
          <a:sy n="51" d="100"/>
        </p:scale>
        <p:origin x="151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4939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875D67-55C7-4994-A130-9BF0F244F461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1063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0562" y="4783307"/>
            <a:ext cx="5444490" cy="3913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4939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36D0D5-FB3E-4D40-9677-6001CCC90F5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中间页-带底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 userDrawn="1"/>
        </p:nvCxnSpPr>
        <p:spPr>
          <a:xfrm>
            <a:off x="483419" y="682473"/>
            <a:ext cx="11213281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组合 9"/>
          <p:cNvGrpSpPr/>
          <p:nvPr userDrawn="1"/>
        </p:nvGrpSpPr>
        <p:grpSpPr>
          <a:xfrm>
            <a:off x="-309880" y="6558280"/>
            <a:ext cx="12526645" cy="352425"/>
            <a:chOff x="-309880" y="6558280"/>
            <a:chExt cx="12526645" cy="352425"/>
          </a:xfrm>
        </p:grpSpPr>
        <p:grpSp>
          <p:nvGrpSpPr>
            <p:cNvPr id="11" name="组合 10"/>
            <p:cNvGrpSpPr/>
            <p:nvPr userDrawn="1"/>
          </p:nvGrpSpPr>
          <p:grpSpPr>
            <a:xfrm>
              <a:off x="-309880" y="6610032"/>
              <a:ext cx="11226800" cy="248920"/>
              <a:chOff x="2433189" y="6676080"/>
              <a:chExt cx="8256714" cy="188035"/>
            </a:xfrm>
          </p:grpSpPr>
          <p:sp>
            <p:nvSpPr>
              <p:cNvPr id="13" name="平行四边形 12"/>
              <p:cNvSpPr/>
              <p:nvPr userDrawn="1">
                <p:custDataLst>
                  <p:tags r:id="rId2"/>
                </p:custDataLst>
              </p:nvPr>
            </p:nvSpPr>
            <p:spPr>
              <a:xfrm>
                <a:off x="9890415" y="6676080"/>
                <a:ext cx="216541" cy="188035"/>
              </a:xfrm>
              <a:prstGeom prst="parallelogram">
                <a:avLst>
                  <a:gd name="adj" fmla="val 71393"/>
                </a:avLst>
              </a:prstGeom>
              <a:solidFill>
                <a:schemeClr val="accent6">
                  <a:alpha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4" name="平行四边形 13"/>
              <p:cNvSpPr/>
              <p:nvPr userDrawn="1">
                <p:custDataLst>
                  <p:tags r:id="rId3"/>
                </p:custDataLst>
              </p:nvPr>
            </p:nvSpPr>
            <p:spPr>
              <a:xfrm>
                <a:off x="10084731" y="6676080"/>
                <a:ext cx="216541" cy="188035"/>
              </a:xfrm>
              <a:prstGeom prst="parallelogram">
                <a:avLst>
                  <a:gd name="adj" fmla="val 71393"/>
                </a:avLst>
              </a:prstGeom>
              <a:solidFill>
                <a:schemeClr val="accent6">
                  <a:alpha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5" name="平行四边形 14"/>
              <p:cNvSpPr/>
              <p:nvPr userDrawn="1">
                <p:custDataLst>
                  <p:tags r:id="rId4"/>
                </p:custDataLst>
              </p:nvPr>
            </p:nvSpPr>
            <p:spPr>
              <a:xfrm>
                <a:off x="10279047" y="6676080"/>
                <a:ext cx="216541" cy="188035"/>
              </a:xfrm>
              <a:prstGeom prst="parallelogram">
                <a:avLst>
                  <a:gd name="adj" fmla="val 71393"/>
                </a:avLst>
              </a:prstGeom>
              <a:solidFill>
                <a:schemeClr val="accent6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6" name="平行四边形 15"/>
              <p:cNvSpPr/>
              <p:nvPr userDrawn="1">
                <p:custDataLst>
                  <p:tags r:id="rId5"/>
                </p:custDataLst>
              </p:nvPr>
            </p:nvSpPr>
            <p:spPr>
              <a:xfrm>
                <a:off x="10473362" y="6676080"/>
                <a:ext cx="216541" cy="188035"/>
              </a:xfrm>
              <a:prstGeom prst="parallelogram">
                <a:avLst>
                  <a:gd name="adj" fmla="val 71393"/>
                </a:avLst>
              </a:prstGeom>
              <a:solidFill>
                <a:schemeClr val="accent6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7" name="平行四边形 16"/>
              <p:cNvSpPr/>
              <p:nvPr userDrawn="1">
                <p:custDataLst>
                  <p:tags r:id="rId6"/>
                </p:custDataLst>
              </p:nvPr>
            </p:nvSpPr>
            <p:spPr>
              <a:xfrm>
                <a:off x="2433189" y="6676080"/>
                <a:ext cx="7479572" cy="188035"/>
              </a:xfrm>
              <a:prstGeom prst="parallelogram">
                <a:avLst>
                  <a:gd name="adj" fmla="val 71393"/>
                </a:avLst>
              </a:prstGeom>
              <a:gradFill>
                <a:gsLst>
                  <a:gs pos="0">
                    <a:schemeClr val="accent6">
                      <a:alpha val="0"/>
                    </a:schemeClr>
                  </a:gs>
                  <a:gs pos="100000">
                    <a:schemeClr val="accent6"/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</p:grpSp>
        <p:pic>
          <p:nvPicPr>
            <p:cNvPr id="12" name="图片 11" descr="E:\Desktop\300ppi\资源 2-3.png资源 2-3"/>
            <p:cNvPicPr>
              <a:picLocks noChangeAspect="1"/>
            </p:cNvPicPr>
            <p:nvPr userDrawn="1">
              <p:custDataLst>
                <p:tags r:id="rId1"/>
              </p:custDataLst>
            </p:nvPr>
          </p:nvPicPr>
          <p:blipFill>
            <a:blip r:embed="rId8"/>
            <a:srcRect/>
            <a:stretch>
              <a:fillRect/>
            </a:stretch>
          </p:blipFill>
          <p:spPr>
            <a:xfrm>
              <a:off x="10906760" y="6558280"/>
              <a:ext cx="1310005" cy="352425"/>
            </a:xfrm>
            <a:prstGeom prst="rect">
              <a:avLst/>
            </a:prstGeom>
          </p:spPr>
        </p:pic>
      </p:grpSp>
      <p:sp>
        <p:nvSpPr>
          <p:cNvPr id="18" name="TextBox 5"/>
          <p:cNvSpPr txBox="1">
            <a:spLocks noChangeArrowheads="1"/>
          </p:cNvSpPr>
          <p:nvPr userDrawn="1"/>
        </p:nvSpPr>
        <p:spPr bwMode="auto">
          <a:xfrm>
            <a:off x="10241274" y="200520"/>
            <a:ext cx="115677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/>
            <a:fld id="{5BDB7EF3-72B3-4AF8-AED4-FF44441B5A9C}" type="slidenum">
              <a:rPr lang="zh-CN" altLang="en-US" sz="1600" b="1" smtClean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 2.0 55 Regular" panose="00020600040101010101" pitchFamily="18" charset="-122"/>
              </a:rPr>
              <a:t>‹#›</a:t>
            </a:fld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 2.0 55 Regular" panose="00020600040101010101" pitchFamily="18" charset="-122"/>
              </a:rPr>
              <a:t>/14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337185" y="7303078"/>
          <a:ext cx="11618912" cy="1524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057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94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94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94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943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943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5943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5943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5943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5943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5943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5943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85943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车型名称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2025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2022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2024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2023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2018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 dirty="0">
                          <a:effectLst/>
                          <a:latin typeface="+mn-ea"/>
                          <a:ea typeface="+mn-ea"/>
                        </a:rPr>
                        <a:t>2017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2016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2021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2020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2019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2026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u="none" strike="noStrike">
                          <a:effectLst/>
                          <a:latin typeface="+mn-ea"/>
                          <a:ea typeface="+mn-ea"/>
                        </a:rPr>
                        <a:t>总计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腾势</a:t>
                      </a:r>
                      <a:r>
                        <a:rPr lang="en-US" sz="1000" u="none" strike="noStrike" dirty="0">
                          <a:effectLst/>
                          <a:latin typeface="+mn-ea"/>
                          <a:ea typeface="+mn-ea"/>
                        </a:rPr>
                        <a:t>D9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592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157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480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391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29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1649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u="none" strike="noStrike">
                          <a:effectLst/>
                          <a:latin typeface="+mn-ea"/>
                          <a:ea typeface="+mn-ea"/>
                        </a:rPr>
                        <a:t>别克</a:t>
                      </a:r>
                      <a:r>
                        <a:rPr lang="en-US" sz="1000" u="none" strike="noStrike">
                          <a:effectLst/>
                          <a:latin typeface="+mn-ea"/>
                          <a:ea typeface="+mn-ea"/>
                        </a:rPr>
                        <a:t>GL8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17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536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32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138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278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183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76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137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119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65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1582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u="none" strike="noStrike">
                          <a:effectLst/>
                          <a:latin typeface="+mn-ea"/>
                          <a:ea typeface="+mn-ea"/>
                        </a:rPr>
                        <a:t>岚图梦想家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532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129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381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 dirty="0">
                          <a:effectLst/>
                          <a:latin typeface="+mn-ea"/>
                          <a:ea typeface="+mn-ea"/>
                        </a:rPr>
                        <a:t>157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6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1205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u="none" strike="noStrike">
                          <a:effectLst/>
                          <a:latin typeface="+mn-ea"/>
                          <a:ea typeface="+mn-ea"/>
                        </a:rPr>
                        <a:t>奥德赛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 dirty="0">
                          <a:effectLst/>
                          <a:latin typeface="+mn-ea"/>
                          <a:ea typeface="+mn-ea"/>
                        </a:rPr>
                        <a:t>8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117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22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53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 dirty="0">
                          <a:effectLst/>
                          <a:latin typeface="+mn-ea"/>
                          <a:ea typeface="+mn-ea"/>
                        </a:rPr>
                        <a:t>57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66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180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31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41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77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654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u="none" strike="noStrike">
                          <a:effectLst/>
                          <a:latin typeface="+mn-ea"/>
                          <a:ea typeface="+mn-ea"/>
                        </a:rPr>
                        <a:t>艾力绅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54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15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31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46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77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138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42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65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40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513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u="none" strike="noStrike">
                          <a:effectLst/>
                          <a:latin typeface="+mn-ea"/>
                          <a:ea typeface="+mn-ea"/>
                        </a:rPr>
                        <a:t>赛那</a:t>
                      </a:r>
                      <a:r>
                        <a:rPr lang="en-US" sz="1000" u="none" strike="noStrike">
                          <a:effectLst/>
                          <a:latin typeface="+mn-ea"/>
                          <a:ea typeface="+mn-ea"/>
                        </a:rPr>
                        <a:t>SIENNA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42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283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31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111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 dirty="0"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18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488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u="none" strike="noStrike">
                          <a:effectLst/>
                          <a:latin typeface="+mn-ea"/>
                          <a:ea typeface="+mn-ea"/>
                        </a:rPr>
                        <a:t>魏牌 高山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273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7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21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8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309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u="none" strike="noStrike">
                          <a:effectLst/>
                          <a:latin typeface="+mn-ea"/>
                          <a:ea typeface="+mn-ea"/>
                        </a:rPr>
                        <a:t>别克</a:t>
                      </a:r>
                      <a:r>
                        <a:rPr lang="en-US" sz="1000" u="none" strike="noStrike">
                          <a:effectLst/>
                          <a:latin typeface="+mn-ea"/>
                          <a:ea typeface="+mn-ea"/>
                        </a:rPr>
                        <a:t>GL8</a:t>
                      </a:r>
                      <a:r>
                        <a:rPr lang="zh-CN" altLang="en-US" sz="1000" u="none" strike="noStrike">
                          <a:effectLst/>
                          <a:latin typeface="+mn-ea"/>
                          <a:ea typeface="+mn-ea"/>
                        </a:rPr>
                        <a:t>新能源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58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 dirty="0"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6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 dirty="0"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 dirty="0"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64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u="none" strike="noStrike">
                          <a:effectLst/>
                          <a:latin typeface="+mn-ea"/>
                          <a:ea typeface="+mn-ea"/>
                        </a:rPr>
                        <a:t>理想</a:t>
                      </a:r>
                      <a:r>
                        <a:rPr lang="en-US" sz="1000" u="none" strike="noStrike">
                          <a:effectLst/>
                          <a:latin typeface="+mn-ea"/>
                          <a:ea typeface="+mn-ea"/>
                        </a:rPr>
                        <a:t>MEGA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14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 dirty="0"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 dirty="0"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 dirty="0"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 dirty="0">
                          <a:effectLst/>
                          <a:latin typeface="+mn-ea"/>
                          <a:ea typeface="+mn-ea"/>
                        </a:rPr>
                        <a:t>18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689"/>
          <a:stretch>
            <a:fillRect/>
          </a:stretch>
        </p:blipFill>
        <p:spPr>
          <a:xfrm>
            <a:off x="689113" y="2385391"/>
            <a:ext cx="6934508" cy="4000831"/>
          </a:xfrm>
          <a:prstGeom prst="rect">
            <a:avLst/>
          </a:prstGeom>
        </p:spPr>
      </p:pic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336936" y="2864138"/>
          <a:ext cx="1059180" cy="3274830"/>
        </p:xfrm>
        <a:graphic>
          <a:graphicData uri="http://schemas.openxmlformats.org/drawingml/2006/table">
            <a:tbl>
              <a:tblPr/>
              <a:tblGrid>
                <a:gridCol w="10591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3870"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腾势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D9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870"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别克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GL8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870"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岚图梦想家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3870"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奥德赛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3870"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艾力绅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3870"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赛那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SIENNA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3870"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魏牌 高山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3870"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别克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GL8</a:t>
                      </a: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新能源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3870"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理想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MEGA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7871460" y="2492375"/>
          <a:ext cx="3912235" cy="36461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16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96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26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32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258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车型名称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评论数量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平均字数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总字数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31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腾势</a:t>
                      </a:r>
                      <a:r>
                        <a:rPr 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D9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1649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1092.0 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180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万字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258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别克</a:t>
                      </a:r>
                      <a:r>
                        <a:rPr 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GL8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1582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737.3 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116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万字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258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岚图梦想家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1205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1147.9 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138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万字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奥德赛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654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470.4 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万字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艾力绅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513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463.3 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23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万字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258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赛那</a:t>
                      </a:r>
                      <a:r>
                        <a:rPr 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SIENNA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488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828.2 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40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万字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魏牌 高山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309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972.0 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万字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671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别克</a:t>
                      </a:r>
                      <a:r>
                        <a:rPr 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GL8</a:t>
                      </a:r>
                      <a:r>
                        <a:rPr lang="zh-CN" alt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新能源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64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774.1 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4.9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万字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理想</a:t>
                      </a:r>
                      <a:r>
                        <a:rPr 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MEGA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962.3 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1.7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万字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2" name="矩形 11"/>
          <p:cNvSpPr/>
          <p:nvPr/>
        </p:nvSpPr>
        <p:spPr>
          <a:xfrm>
            <a:off x="6812280" y="4625340"/>
            <a:ext cx="472440" cy="754380"/>
          </a:xfrm>
          <a:prstGeom prst="rect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4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3" name="标题 1"/>
          <p:cNvSpPr txBox="1"/>
          <p:nvPr/>
        </p:nvSpPr>
        <p:spPr bwMode="auto">
          <a:xfrm>
            <a:off x="0" y="95250"/>
            <a:ext cx="12192000" cy="3583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ts val="2250"/>
              </a:lnSpc>
              <a:tabLst>
                <a:tab pos="3225800" algn="l"/>
              </a:tabLst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NX1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用户趋势分析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-1.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口碑数据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6339205" y="5379720"/>
            <a:ext cx="1418590" cy="6076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1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选择</a:t>
            </a:r>
            <a:r>
              <a:rPr kumimoji="1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2022</a:t>
            </a:r>
            <a:r>
              <a:rPr kumimoji="1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年后数据</a:t>
            </a:r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337185" y="861638"/>
          <a:ext cx="11618912" cy="1524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057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94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94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94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943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943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5943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5943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5943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5943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5943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5943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85943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车型名称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2016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2017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2018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2019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2020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 dirty="0">
                          <a:effectLst/>
                          <a:latin typeface="+mn-ea"/>
                          <a:ea typeface="+mn-ea"/>
                        </a:rPr>
                        <a:t>2021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2022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2023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2024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2025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2026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u="none" strike="noStrike">
                          <a:effectLst/>
                          <a:latin typeface="+mn-ea"/>
                          <a:ea typeface="+mn-ea"/>
                        </a:rPr>
                        <a:t>总计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腾势</a:t>
                      </a:r>
                      <a:r>
                        <a:rPr lang="en-US" sz="1000" u="none" strike="noStrike" dirty="0">
                          <a:effectLst/>
                          <a:latin typeface="+mn-ea"/>
                          <a:ea typeface="+mn-ea"/>
                        </a:rPr>
                        <a:t>D9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157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391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480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592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29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1649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u="none" strike="noStrike">
                          <a:effectLst/>
                          <a:latin typeface="+mn-ea"/>
                          <a:ea typeface="+mn-ea"/>
                        </a:rPr>
                        <a:t>别克</a:t>
                      </a:r>
                      <a:r>
                        <a:rPr lang="en-US" sz="1000" u="none" strike="noStrike">
                          <a:effectLst/>
                          <a:latin typeface="+mn-ea"/>
                          <a:ea typeface="+mn-ea"/>
                        </a:rPr>
                        <a:t>GL8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76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183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278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65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119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137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536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138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32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17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1582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u="none" strike="noStrike">
                          <a:effectLst/>
                          <a:latin typeface="+mn-ea"/>
                          <a:ea typeface="+mn-ea"/>
                        </a:rPr>
                        <a:t>岚图梦想家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129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 dirty="0">
                          <a:effectLst/>
                          <a:latin typeface="+mn-ea"/>
                          <a:ea typeface="+mn-ea"/>
                        </a:rPr>
                        <a:t>157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381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532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6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1205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u="none" strike="noStrike">
                          <a:effectLst/>
                          <a:latin typeface="+mn-ea"/>
                          <a:ea typeface="+mn-ea"/>
                        </a:rPr>
                        <a:t>奥德赛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180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66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 dirty="0">
                          <a:effectLst/>
                          <a:latin typeface="+mn-ea"/>
                          <a:ea typeface="+mn-ea"/>
                        </a:rPr>
                        <a:t>57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77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41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31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117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53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22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 dirty="0">
                          <a:effectLst/>
                          <a:latin typeface="+mn-ea"/>
                          <a:ea typeface="+mn-ea"/>
                        </a:rPr>
                        <a:t>8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654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u="none" strike="noStrike">
                          <a:effectLst/>
                          <a:latin typeface="+mn-ea"/>
                          <a:ea typeface="+mn-ea"/>
                        </a:rPr>
                        <a:t>艾力绅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138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77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46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40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65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42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54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31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15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513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u="none" strike="noStrike">
                          <a:effectLst/>
                          <a:latin typeface="+mn-ea"/>
                          <a:ea typeface="+mn-ea"/>
                        </a:rPr>
                        <a:t>赛那</a:t>
                      </a:r>
                      <a:r>
                        <a:rPr lang="en-US" sz="1000" u="none" strike="noStrike">
                          <a:effectLst/>
                          <a:latin typeface="+mn-ea"/>
                          <a:ea typeface="+mn-ea"/>
                        </a:rPr>
                        <a:t>SIENNA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 dirty="0"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18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283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111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31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42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488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u="none" strike="noStrike">
                          <a:effectLst/>
                          <a:latin typeface="+mn-ea"/>
                          <a:ea typeface="+mn-ea"/>
                        </a:rPr>
                        <a:t>魏牌 高山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21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7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273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8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309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u="none" strike="noStrike">
                          <a:effectLst/>
                          <a:latin typeface="+mn-ea"/>
                          <a:ea typeface="+mn-ea"/>
                        </a:rPr>
                        <a:t>别克</a:t>
                      </a:r>
                      <a:r>
                        <a:rPr lang="en-US" sz="1000" u="none" strike="noStrike">
                          <a:effectLst/>
                          <a:latin typeface="+mn-ea"/>
                          <a:ea typeface="+mn-ea"/>
                        </a:rPr>
                        <a:t>GL8</a:t>
                      </a:r>
                      <a:r>
                        <a:rPr lang="zh-CN" altLang="en-US" sz="1000" u="none" strike="noStrike">
                          <a:effectLst/>
                          <a:latin typeface="+mn-ea"/>
                          <a:ea typeface="+mn-ea"/>
                        </a:rPr>
                        <a:t>新能源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 dirty="0"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 dirty="0"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 dirty="0"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6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58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64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u="none" strike="noStrike">
                          <a:effectLst/>
                          <a:latin typeface="+mn-ea"/>
                          <a:ea typeface="+mn-ea"/>
                        </a:rPr>
                        <a:t>理想</a:t>
                      </a:r>
                      <a:r>
                        <a:rPr lang="en-US" sz="1000" u="none" strike="noStrike">
                          <a:effectLst/>
                          <a:latin typeface="+mn-ea"/>
                          <a:ea typeface="+mn-ea"/>
                        </a:rPr>
                        <a:t>MEGA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 dirty="0"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 dirty="0"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14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 dirty="0"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 dirty="0">
                          <a:effectLst/>
                          <a:latin typeface="+mn-ea"/>
                          <a:ea typeface="+mn-ea"/>
                        </a:rPr>
                        <a:t>18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4" name="任意多边形 23"/>
          <p:cNvSpPr/>
          <p:nvPr/>
        </p:nvSpPr>
        <p:spPr>
          <a:xfrm>
            <a:off x="1412240" y="2844800"/>
            <a:ext cx="924560" cy="447675"/>
          </a:xfrm>
          <a:custGeom>
            <a:avLst/>
            <a:gdLst>
              <a:gd name="connisteX0" fmla="*/ 0 w 924560"/>
              <a:gd name="connsiteY0" fmla="*/ 0 h 447886"/>
              <a:gd name="connisteX1" fmla="*/ 20320 w 924560"/>
              <a:gd name="connsiteY1" fmla="*/ 81280 h 447886"/>
              <a:gd name="connisteX2" fmla="*/ 20320 w 924560"/>
              <a:gd name="connsiteY2" fmla="*/ 152400 h 447886"/>
              <a:gd name="connisteX3" fmla="*/ 20320 w 924560"/>
              <a:gd name="connsiteY3" fmla="*/ 223520 h 447886"/>
              <a:gd name="connisteX4" fmla="*/ 20320 w 924560"/>
              <a:gd name="connsiteY4" fmla="*/ 294640 h 447886"/>
              <a:gd name="connisteX5" fmla="*/ 10160 w 924560"/>
              <a:gd name="connsiteY5" fmla="*/ 365760 h 447886"/>
              <a:gd name="connisteX6" fmla="*/ 50800 w 924560"/>
              <a:gd name="connsiteY6" fmla="*/ 436880 h 447886"/>
              <a:gd name="connisteX7" fmla="*/ 132080 w 924560"/>
              <a:gd name="connsiteY7" fmla="*/ 447040 h 447886"/>
              <a:gd name="connisteX8" fmla="*/ 203200 w 924560"/>
              <a:gd name="connsiteY8" fmla="*/ 447040 h 447886"/>
              <a:gd name="connisteX9" fmla="*/ 274320 w 924560"/>
              <a:gd name="connsiteY9" fmla="*/ 447040 h 447886"/>
              <a:gd name="connisteX10" fmla="*/ 345440 w 924560"/>
              <a:gd name="connsiteY10" fmla="*/ 447040 h 447886"/>
              <a:gd name="connisteX11" fmla="*/ 416560 w 924560"/>
              <a:gd name="connsiteY11" fmla="*/ 447040 h 447886"/>
              <a:gd name="connisteX12" fmla="*/ 487680 w 924560"/>
              <a:gd name="connsiteY12" fmla="*/ 447040 h 447886"/>
              <a:gd name="connisteX13" fmla="*/ 558800 w 924560"/>
              <a:gd name="connsiteY13" fmla="*/ 447040 h 447886"/>
              <a:gd name="connisteX14" fmla="*/ 640080 w 924560"/>
              <a:gd name="connsiteY14" fmla="*/ 447040 h 447886"/>
              <a:gd name="connisteX15" fmla="*/ 711200 w 924560"/>
              <a:gd name="connsiteY15" fmla="*/ 447040 h 447886"/>
              <a:gd name="connisteX16" fmla="*/ 782320 w 924560"/>
              <a:gd name="connsiteY16" fmla="*/ 436880 h 447886"/>
              <a:gd name="connisteX17" fmla="*/ 853440 w 924560"/>
              <a:gd name="connsiteY17" fmla="*/ 436880 h 447886"/>
              <a:gd name="connisteX18" fmla="*/ 924560 w 924560"/>
              <a:gd name="connsiteY18" fmla="*/ 436880 h 447886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  <a:cxn ang="0">
                <a:pos x="connisteX12" y="connsiteY12"/>
              </a:cxn>
              <a:cxn ang="0">
                <a:pos x="connisteX13" y="connsiteY13"/>
              </a:cxn>
              <a:cxn ang="0">
                <a:pos x="connisteX14" y="connsiteY14"/>
              </a:cxn>
              <a:cxn ang="0">
                <a:pos x="connisteX15" y="connsiteY15"/>
              </a:cxn>
              <a:cxn ang="0">
                <a:pos x="connisteX16" y="connsiteY16"/>
              </a:cxn>
              <a:cxn ang="0">
                <a:pos x="connisteX17" y="connsiteY17"/>
              </a:cxn>
              <a:cxn ang="0">
                <a:pos x="connisteX18" y="connsiteY18"/>
              </a:cxn>
            </a:cxnLst>
            <a:rect l="l" t="t" r="r" b="b"/>
            <a:pathLst>
              <a:path w="924560" h="447887">
                <a:moveTo>
                  <a:pt x="0" y="0"/>
                </a:moveTo>
                <a:cubicBezTo>
                  <a:pt x="3810" y="14605"/>
                  <a:pt x="16510" y="50800"/>
                  <a:pt x="20320" y="81280"/>
                </a:cubicBezTo>
                <a:cubicBezTo>
                  <a:pt x="24130" y="111760"/>
                  <a:pt x="20320" y="123825"/>
                  <a:pt x="20320" y="152400"/>
                </a:cubicBezTo>
                <a:cubicBezTo>
                  <a:pt x="20320" y="180975"/>
                  <a:pt x="20320" y="194945"/>
                  <a:pt x="20320" y="223520"/>
                </a:cubicBezTo>
                <a:cubicBezTo>
                  <a:pt x="20320" y="252095"/>
                  <a:pt x="22225" y="266065"/>
                  <a:pt x="20320" y="294640"/>
                </a:cubicBezTo>
                <a:cubicBezTo>
                  <a:pt x="18415" y="323215"/>
                  <a:pt x="3810" y="337185"/>
                  <a:pt x="10160" y="365760"/>
                </a:cubicBezTo>
                <a:cubicBezTo>
                  <a:pt x="16510" y="394335"/>
                  <a:pt x="26670" y="420370"/>
                  <a:pt x="50800" y="436880"/>
                </a:cubicBezTo>
                <a:cubicBezTo>
                  <a:pt x="74930" y="453390"/>
                  <a:pt x="101600" y="445135"/>
                  <a:pt x="132080" y="447040"/>
                </a:cubicBezTo>
                <a:cubicBezTo>
                  <a:pt x="162560" y="448945"/>
                  <a:pt x="174625" y="447040"/>
                  <a:pt x="203200" y="447040"/>
                </a:cubicBezTo>
                <a:cubicBezTo>
                  <a:pt x="231775" y="447040"/>
                  <a:pt x="245745" y="447040"/>
                  <a:pt x="274320" y="447040"/>
                </a:cubicBezTo>
                <a:cubicBezTo>
                  <a:pt x="302895" y="447040"/>
                  <a:pt x="316865" y="447040"/>
                  <a:pt x="345440" y="447040"/>
                </a:cubicBezTo>
                <a:cubicBezTo>
                  <a:pt x="374015" y="447040"/>
                  <a:pt x="387985" y="447040"/>
                  <a:pt x="416560" y="447040"/>
                </a:cubicBezTo>
                <a:cubicBezTo>
                  <a:pt x="445135" y="447040"/>
                  <a:pt x="459105" y="447040"/>
                  <a:pt x="487680" y="447040"/>
                </a:cubicBezTo>
                <a:cubicBezTo>
                  <a:pt x="516255" y="447040"/>
                  <a:pt x="528320" y="447040"/>
                  <a:pt x="558800" y="447040"/>
                </a:cubicBezTo>
                <a:cubicBezTo>
                  <a:pt x="589280" y="447040"/>
                  <a:pt x="609600" y="447040"/>
                  <a:pt x="640080" y="447040"/>
                </a:cubicBezTo>
                <a:cubicBezTo>
                  <a:pt x="670560" y="447040"/>
                  <a:pt x="682625" y="448945"/>
                  <a:pt x="711200" y="447040"/>
                </a:cubicBezTo>
                <a:cubicBezTo>
                  <a:pt x="739775" y="445135"/>
                  <a:pt x="753745" y="438785"/>
                  <a:pt x="782320" y="436880"/>
                </a:cubicBezTo>
                <a:cubicBezTo>
                  <a:pt x="810895" y="434975"/>
                  <a:pt x="824865" y="436880"/>
                  <a:pt x="853440" y="436880"/>
                </a:cubicBezTo>
                <a:cubicBezTo>
                  <a:pt x="882015" y="436880"/>
                  <a:pt x="911860" y="436880"/>
                  <a:pt x="924560" y="436880"/>
                </a:cubicBezTo>
              </a:path>
            </a:pathLst>
          </a:cu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400" b="1" dirty="0">
              <a:solidFill>
                <a:schemeClr val="tx1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/>
          <p:nvPr/>
        </p:nvGraphicFramePr>
        <p:xfrm>
          <a:off x="236855" y="1355725"/>
          <a:ext cx="11609070" cy="2194560"/>
        </p:xfrm>
        <a:graphic>
          <a:graphicData uri="http://schemas.openxmlformats.org/drawingml/2006/table">
            <a:tbl>
              <a:tblPr/>
              <a:tblGrid>
                <a:gridCol w="41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2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33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2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2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27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1338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127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127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127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1338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1275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1275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1275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1338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1275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1250315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1250950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1250315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1250950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</a:tblGrid>
              <a:tr h="24384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总口</a:t>
                      </a:r>
                    </a:p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碑数量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在售</a:t>
                      </a:r>
                    </a:p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口碑数量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车型名称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车型版本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发表时间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行驶里程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夏季电耗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春秋电耗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冬季电耗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夏季续航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春秋续航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冬季续航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百公里</a:t>
                      </a:r>
                    </a:p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油耗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裸车购</a:t>
                      </a:r>
                    </a:p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买价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购买时间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购买地点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最满意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最不满意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空间评分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空间评论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5072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1204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749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岚图梦想家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2026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款 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PHEV 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乾崑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Ultra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2026/3/5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3700km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21.0kWh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290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公里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5.7L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41.90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万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Feb-26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深圳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最满意的其实不是智驾也不是动力，盯着第二排那两个零重力座椅，上周带我爸妈去密云单程一百多公里，他们平时坐车超过一小时就说腰紧，这次上了高速把座椅按摩开着腿托抬起来，两个人一路迷糊到目的地，我爸下车还念叨这椅子比家里那台芝华仕更合适，后排那个冷暖冰箱也好用，带娃路上水果酸奶都能放得稳，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17.3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寸的屏找个动画片一开，孩子安安静静，副驾那位打开剧集自己看，车里算是清净了一路。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不太喜欢的就出在装配工艺，提车那天瞅见驾驶侧门板和车门缝有点大，销售说每台车都差不多，我跑去展车看了眼确实一样，后来有次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ota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之后语音助手没动静，重启车机才恢复，倒车影像冷启动要等几秒，地下车库那次后面有个矮桩，屏幕没出来我就只能扭头看，云灰内饰视觉好看，家里有孩子的要多考虑，我家那个小祖宗上周在车上吃巧克力，蹭到座椅上了湿巾和清洁剂轮番上阵才弄干净。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这车确实有底子，轴距三米二，二排腿能伸直，我身高一七八坐到第三排腿部还有一拳多，不是那种临时小板凳，后备箱满座能塞两个二十八寸箱子外加几个背包，上次帮朋友搬家把三排放倒，直接把一个单人沙发推进去，车身宽，老小区地库拐弯得放慢多看两眼，侧方停车靠边缘时心里要有距离，轮毂别蹭。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/>
          <p:nvPr/>
        </p:nvGraphicFramePr>
        <p:xfrm>
          <a:off x="236855" y="3639185"/>
          <a:ext cx="11730355" cy="2194560"/>
        </p:xfrm>
        <a:graphic>
          <a:graphicData uri="http://schemas.openxmlformats.org/drawingml/2006/table">
            <a:tbl>
              <a:tblPr/>
              <a:tblGrid>
                <a:gridCol w="383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85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48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41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9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93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7241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5031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5814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16395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3210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18618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2321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2321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2321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22580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23215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</a:tblGrid>
              <a:tr h="24384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驾驶感受评分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驾驶感受评论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续航</a:t>
                      </a:r>
                    </a:p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评分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续航评论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外观</a:t>
                      </a:r>
                    </a:p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评分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外观评论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内饰评分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内饰评论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性价比评分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性价比评论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智能化评分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智能化评论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油耗评分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油耗评论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配置评分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配置评论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观看数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点赞数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评论数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购车目的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5072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这车开起来不像那么大的体型，双电机四驱总功率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490kW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扭矩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915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牛米零百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5.9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秒，电门响应跟脚，红绿灯起步基本第一批走，满载七人上高速加速并线不犹豫，后轮转向双向十度，掉头半径像紧凑型轿车，小区里双向车道一把就过去，魔毯空气悬架过减速带不颠，路面有大坑洼也能滤掉，急加速时发动机介入那一下噪音起来比较明显，高速上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柱风噪能听到。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这车标的是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CLTC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纯电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350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公里，我在市区开空调实测大概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290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上下，上下班通勤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40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公里一周补一次，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120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巡航掉得快一些在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220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左右，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5C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快充速度给到，有次在服务区去个洗手间买杯咖啡回来电量从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20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干到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80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，亏电油耗我跑高速测过七点八升，市区馈电八个多，纯电能耗二十度每百公里，算账下来比加油划算，电池包在底盘下面，走烂路会多看地面，护板厚但我还是会避开大坎。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选的是旭日紫，我就是想要个显眼的颜色，晴天看就是紫的，阴天又偏深灰，阳光下能看到漆面里的金属颗粒，邻居来问这是不是贴了改色膜，前脸那个扶摇直上格栅一排排镀铬饰条配贯穿大灯，远远看挺有辨识度，车长五米三，停到哪儿都比旁边车显得更大一圈，去洗车店师傅说按大型车算每次要多收二十，次数多了还是能感觉出来。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选云灰，眼睛看着亮，比纯黑敞快些，比米色耐脏一点点，麂皮绒顶棚摸上去细腻，车里气味很轻，这点给好评，销售提到母婴级用料，接触下来不刺鼻，中控几块屏幕显示细腻，鸿蒙系统用起来跟家里华为平板一个路数，菜单层级偏深，想调个座椅按摩要多划几下，座椅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26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点按摩比我家那台老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Q5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贴合，跑长途把它开着肩背不紧。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按我这台算，裸车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42.99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万加智驾包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1.2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万保险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1.2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万购置税七千多，落地差不多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44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万，这个价位同时带华为乾崑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ADS 4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鸿蒙座舱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5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八百伏平台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5C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超充空悬加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CDC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后轮转向的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MPV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，目前就它一台，岚图背靠东风做事更稳，品牌层面心里更有底，售后网点少一些，去保养要跑三十公里，对比同配置的合资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MPV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价格就不在一个区间，我自己看完账觉得值得，早买早享受。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鸿蒙座舱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5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用起来顺，像在用华为平板，四音区识别挺准，岳母说把空调开大点系统能跟上，乾崑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ADS 4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在高速比较省力，自动变道给到动作，进出匝道也稳，城市场景还在磨合，遇到加塞时反应慢一些要接管，跨层泊车在地库跑过几次能自己找车位停进去，速度不快，后面车催的时候你就得让一让，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AR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感应尾门要对着地上的投影踢准，我媳妇儿老踢不到位，最后直接手按。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40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标题 1"/>
          <p:cNvSpPr txBox="1"/>
          <p:nvPr/>
        </p:nvSpPr>
        <p:spPr bwMode="auto">
          <a:xfrm>
            <a:off x="0" y="95250"/>
            <a:ext cx="12192000" cy="3583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ts val="2250"/>
              </a:lnSpc>
              <a:tabLst>
                <a:tab pos="3225800" algn="l"/>
              </a:tabLst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NX1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用户趋势分析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-1.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口碑数据</a:t>
            </a:r>
          </a:p>
        </p:txBody>
      </p:sp>
      <p:sp>
        <p:nvSpPr>
          <p:cNvPr id="6" name="矩形 5"/>
          <p:cNvSpPr/>
          <p:nvPr/>
        </p:nvSpPr>
        <p:spPr>
          <a:xfrm>
            <a:off x="191135" y="1289050"/>
            <a:ext cx="6638290" cy="230314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853690" y="1166495"/>
            <a:ext cx="981710" cy="257810"/>
          </a:xfrm>
          <a:prstGeom prst="rect">
            <a:avLst/>
          </a:prstGeom>
          <a:solidFill>
            <a:srgbClr val="FFC000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基础信息</a:t>
            </a:r>
          </a:p>
        </p:txBody>
      </p:sp>
      <p:sp>
        <p:nvSpPr>
          <p:cNvPr id="8" name="矩形 7"/>
          <p:cNvSpPr/>
          <p:nvPr/>
        </p:nvSpPr>
        <p:spPr>
          <a:xfrm>
            <a:off x="6829425" y="1293495"/>
            <a:ext cx="2510790" cy="230314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7526655" y="1166495"/>
            <a:ext cx="981710" cy="257810"/>
          </a:xfrm>
          <a:prstGeom prst="rect">
            <a:avLst/>
          </a:prstGeom>
          <a:solidFill>
            <a:srgbClr val="FFC000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核心信息</a:t>
            </a:r>
          </a:p>
        </p:txBody>
      </p:sp>
      <p:sp>
        <p:nvSpPr>
          <p:cNvPr id="9" name="矩形 8"/>
          <p:cNvSpPr/>
          <p:nvPr/>
        </p:nvSpPr>
        <p:spPr>
          <a:xfrm>
            <a:off x="191135" y="3639185"/>
            <a:ext cx="9149080" cy="230314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0547350" y="1289050"/>
            <a:ext cx="1346835" cy="230314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0756265" y="1166495"/>
            <a:ext cx="981710" cy="257810"/>
          </a:xfrm>
          <a:prstGeom prst="rect">
            <a:avLst/>
          </a:prstGeom>
          <a:solidFill>
            <a:srgbClr val="FFC000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分项信息</a:t>
            </a:r>
          </a:p>
        </p:txBody>
      </p:sp>
      <p:cxnSp>
        <p:nvCxnSpPr>
          <p:cNvPr id="14" name="曲线连接符 13"/>
          <p:cNvCxnSpPr>
            <a:stCxn id="9" idx="3"/>
            <a:endCxn id="10" idx="2"/>
          </p:cNvCxnSpPr>
          <p:nvPr/>
        </p:nvCxnSpPr>
        <p:spPr>
          <a:xfrm flipV="1">
            <a:off x="9340215" y="3592195"/>
            <a:ext cx="1880870" cy="1198880"/>
          </a:xfrm>
          <a:prstGeom prst="curvedConnector2">
            <a:avLst/>
          </a:prstGeom>
          <a:ln w="28575">
            <a:solidFill>
              <a:srgbClr val="FF0000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191135" y="817245"/>
            <a:ext cx="1418590" cy="3492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1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文本举例：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207135" y="829310"/>
            <a:ext cx="7301865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/>
              <a:t>梦想家</a:t>
            </a:r>
            <a:r>
              <a:rPr lang="en-US" altLang="zh-CN" sz="1600"/>
              <a:t>PHEV</a:t>
            </a:r>
            <a:r>
              <a:rPr lang="zh-CN" altLang="en-US" sz="1600"/>
              <a:t>，腾势</a:t>
            </a:r>
            <a:r>
              <a:rPr lang="en-US" altLang="zh-CN" sz="1600"/>
              <a:t>D9</a:t>
            </a:r>
            <a:r>
              <a:rPr lang="zh-CN" altLang="en-US" sz="1600"/>
              <a:t>，高山</a:t>
            </a:r>
            <a:r>
              <a:rPr lang="en-US" altLang="zh-CN" sz="1600"/>
              <a:t>8</a:t>
            </a:r>
            <a:r>
              <a:rPr lang="zh-CN" altLang="en-US" sz="1600"/>
              <a:t>，别克</a:t>
            </a:r>
            <a:r>
              <a:rPr lang="en-US" altLang="zh-CN" sz="1600"/>
              <a:t>GL8 PHEV </a:t>
            </a:r>
            <a:r>
              <a:rPr lang="zh-CN" altLang="en-US" sz="1600"/>
              <a:t>，理想</a:t>
            </a:r>
            <a:r>
              <a:rPr lang="en-US" altLang="zh-CN" sz="1600"/>
              <a:t>MEGA</a:t>
            </a:r>
            <a:r>
              <a:rPr lang="zh-CN" altLang="en-US" sz="1600"/>
              <a:t>，</a:t>
            </a:r>
            <a:r>
              <a:rPr lang="en-US" altLang="zh-CN" sz="1600"/>
              <a:t>ELYSION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 bwMode="auto">
          <a:xfrm>
            <a:off x="0" y="95250"/>
            <a:ext cx="12192000" cy="3583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ts val="2250"/>
              </a:lnSpc>
              <a:tabLst>
                <a:tab pos="3225800" algn="l"/>
              </a:tabLst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NX1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用户趋势分析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-L1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级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IPA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</a:t>
            </a:r>
          </a:p>
        </p:txBody>
      </p:sp>
      <p:pic>
        <p:nvPicPr>
          <p:cNvPr id="3" name="图片 2" descr="所有车型四象限图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1935" y="723900"/>
            <a:ext cx="10175875" cy="572389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0688320" y="933450"/>
            <a:ext cx="1619885" cy="123761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zh-CN" altLang="en-US" sz="1600"/>
              <a:t>梦想家</a:t>
            </a:r>
            <a:r>
              <a:rPr lang="en-US" altLang="zh-CN" sz="1600"/>
              <a:t>PHEV</a:t>
            </a:r>
            <a:r>
              <a:rPr lang="zh-CN" altLang="en-US" sz="1600"/>
              <a:t>，</a:t>
            </a:r>
          </a:p>
          <a:p>
            <a:r>
              <a:rPr lang="zh-CN" altLang="en-US" sz="1600"/>
              <a:t>腾势</a:t>
            </a:r>
            <a:r>
              <a:rPr lang="en-US" altLang="zh-CN" sz="1600"/>
              <a:t>D9</a:t>
            </a:r>
            <a:r>
              <a:rPr lang="zh-CN" altLang="en-US" sz="1600"/>
              <a:t>，</a:t>
            </a:r>
          </a:p>
          <a:p>
            <a:r>
              <a:rPr lang="zh-CN" altLang="en-US" sz="1600"/>
              <a:t>高山</a:t>
            </a:r>
            <a:r>
              <a:rPr lang="en-US" altLang="zh-CN" sz="1600"/>
              <a:t>8</a:t>
            </a:r>
            <a:r>
              <a:rPr lang="zh-CN" altLang="en-US" sz="1600"/>
              <a:t>，</a:t>
            </a:r>
          </a:p>
          <a:p>
            <a:r>
              <a:rPr lang="zh-CN" altLang="en-US" sz="1600"/>
              <a:t>别克</a:t>
            </a:r>
            <a:r>
              <a:rPr lang="en-US" altLang="zh-CN" sz="1600"/>
              <a:t>GL8 PHEV</a:t>
            </a:r>
          </a:p>
          <a:p>
            <a:r>
              <a:rPr lang="zh-CN" altLang="en-US" sz="1600"/>
              <a:t>理想</a:t>
            </a:r>
            <a:r>
              <a:rPr lang="en-US" altLang="zh-CN" sz="1600"/>
              <a:t>MEGA</a:t>
            </a:r>
          </a:p>
        </p:txBody>
      </p:sp>
      <p:graphicFrame>
        <p:nvGraphicFramePr>
          <p:cNvPr id="6" name="表格 5"/>
          <p:cNvGraphicFramePr/>
          <p:nvPr>
            <p:custDataLst>
              <p:tags r:id="rId1"/>
            </p:custDataLst>
          </p:nvPr>
        </p:nvGraphicFramePr>
        <p:xfrm>
          <a:off x="94615" y="804545"/>
          <a:ext cx="1400810" cy="5429885"/>
        </p:xfrm>
        <a:graphic>
          <a:graphicData uri="http://schemas.openxmlformats.org/drawingml/2006/table">
            <a:tbl>
              <a:tblPr/>
              <a:tblGrid>
                <a:gridCol w="429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09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9405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200" b="1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序号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b="1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L1</a:t>
                      </a:r>
                      <a:r>
                        <a:rPr lang="zh-CN" altLang="en-US" sz="1200" b="1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维度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9405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 </a:t>
                      </a:r>
                      <a:r>
                        <a:rPr lang="zh-CN" altLang="en-US" sz="12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品牌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9405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 </a:t>
                      </a:r>
                      <a:r>
                        <a:rPr lang="zh-CN" altLang="en-US" sz="12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安全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9405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 </a:t>
                      </a:r>
                      <a:r>
                        <a:rPr lang="zh-CN" altLang="en-US" sz="12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操控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9405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 </a:t>
                      </a:r>
                      <a:r>
                        <a:rPr lang="zh-CN" altLang="en-US" sz="12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动力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9405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 </a:t>
                      </a:r>
                      <a:r>
                        <a:rPr lang="zh-CN" altLang="en-US" sz="12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质量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9405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 </a:t>
                      </a:r>
                      <a:r>
                        <a:rPr lang="zh-CN" altLang="en-US" sz="12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外观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9405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 </a:t>
                      </a:r>
                      <a:r>
                        <a:rPr lang="zh-CN" altLang="en-US" sz="12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舒适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9405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 </a:t>
                      </a:r>
                      <a:r>
                        <a:rPr lang="zh-CN" altLang="en-US" sz="12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使用成本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9405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 </a:t>
                      </a:r>
                      <a:r>
                        <a:rPr lang="zh-CN" altLang="en-US" sz="12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购车价格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9405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 </a:t>
                      </a:r>
                      <a:r>
                        <a:rPr lang="zh-CN" altLang="en-US" sz="12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配置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9405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 </a:t>
                      </a:r>
                      <a:r>
                        <a:rPr lang="zh-CN" altLang="en-US" sz="12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空间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9405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 </a:t>
                      </a:r>
                      <a:r>
                        <a:rPr lang="zh-CN" altLang="en-US" sz="12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内饰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9405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 </a:t>
                      </a:r>
                      <a:r>
                        <a:rPr lang="zh-CN" altLang="en-US" sz="12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服务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19405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 </a:t>
                      </a:r>
                      <a:r>
                        <a:rPr lang="zh-CN" altLang="en-US" sz="12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权益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19405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 </a:t>
                      </a:r>
                      <a:r>
                        <a:rPr lang="zh-CN" altLang="en-US" sz="12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智能座舱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19405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 </a:t>
                      </a:r>
                      <a:r>
                        <a:rPr lang="zh-CN" altLang="en-US" sz="12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智能驾驶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/>
          <p:nvPr/>
        </p:nvGraphicFramePr>
        <p:xfrm>
          <a:off x="236855" y="758190"/>
          <a:ext cx="5859145" cy="2597150"/>
        </p:xfrm>
        <a:graphic>
          <a:graphicData uri="http://schemas.openxmlformats.org/drawingml/2006/table">
            <a:tbl>
              <a:tblPr/>
              <a:tblGrid>
                <a:gridCol w="5822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16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35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633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65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908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总口碑数量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在售口碑数量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车型名称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车型版本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最满意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最不满意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923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1204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749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岚图梦想家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2026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款 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PHEV 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乾崑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Ultra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最满意的其实不是智驾也不是动力，盯着第二排那两个零重力座椅，上周带我爸妈去密云单程一百多公里，他们平时坐车超过一小时就说腰紧，这次上了高速把座椅按摩开着腿托抬起来，两个人一路迷糊到目的地，我爸下车还念叨这椅子比家里那台芝华仕更合适，后排那个冷暖冰箱也好用，带娃路上水果酸奶都能放得稳，</a:t>
                      </a:r>
                      <a:r>
                        <a:rPr lang="en-US" altLang="zh-CN" sz="10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17.3</a:t>
                      </a:r>
                      <a:r>
                        <a:rPr lang="zh-CN" altLang="en-US" sz="10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寸的屏找个动画片一开，孩子安安静静，副驾那位打开剧集自己看，车里算是清净了一路。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不太喜欢的就出在装配工艺，提车那天瞅见驾驶侧门板和车门缝有点大，销售说每台车都差不多，我跑去展车看了眼确实一样，后来有次</a:t>
                      </a:r>
                      <a:r>
                        <a:rPr lang="en-US" altLang="zh-CN" sz="1000" b="0" i="0" dirty="0" err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ota</a:t>
                      </a:r>
                      <a:r>
                        <a:rPr lang="zh-CN" altLang="en-US" sz="10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之后语音助手没动静，重启车机才恢复，倒车影像冷启动要等几秒，地下车库那次后面有个矮桩，屏幕没出来我就只能扭头看，云灰内饰视觉好看，家里有孩子的要多考虑，我家那个小祖宗上周在车上吃巧克力，蹭到座椅上了湿巾和清洁剂轮番上阵才弄干净。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" name="表格 2"/>
          <p:cNvGraphicFramePr/>
          <p:nvPr/>
        </p:nvGraphicFramePr>
        <p:xfrm>
          <a:off x="6174740" y="758825"/>
          <a:ext cx="5772150" cy="2590800"/>
        </p:xfrm>
        <a:graphic>
          <a:graphicData uri="http://schemas.openxmlformats.org/drawingml/2006/table">
            <a:tbl>
              <a:tblPr/>
              <a:tblGrid>
                <a:gridCol w="1101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8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80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8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8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80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286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9979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10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车型名称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10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类别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10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不满意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10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中立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10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满意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10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总提及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10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提及占比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满意率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岚图梦想家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舒适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295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694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997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13.1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69.6%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岚图梦想家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配置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431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17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414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862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11.3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48.0%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岚图梦想家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智能座舱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626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153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798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10.5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19.2%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岚图梦想家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空间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235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539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783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10.3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68.8%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岚图梦想家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操控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106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577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693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9.1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83.3%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岚图梦想家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智能驾驶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143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21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360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524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6.9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68.7%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岚图梦想家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使用成本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238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31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232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501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6.6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46.3%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岚图梦想家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动力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22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438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466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6.1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94.0%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岚图梦想家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内饰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143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17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274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434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5.7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63.1%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岚图梦想家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外观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32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377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423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5.6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89.1%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岚图梦想家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质量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173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204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388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5.1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52.6%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岚图梦想家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安全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28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259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296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3.9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87.5%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岚图梦想家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服务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92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87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186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2.4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46.8%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岚图梦想家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购车价格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38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102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159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2.1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64.2%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岚图梦想家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品牌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36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61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0.8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59.0%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岚图梦想家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权益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32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0.4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56.3%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pic>
        <p:nvPicPr>
          <p:cNvPr id="5" name="图片 4" descr="岚图梦想家_情感分布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55" y="3380105"/>
            <a:ext cx="8696960" cy="3241675"/>
          </a:xfrm>
          <a:prstGeom prst="rect">
            <a:avLst/>
          </a:prstGeom>
        </p:spPr>
      </p:pic>
      <p:sp>
        <p:nvSpPr>
          <p:cNvPr id="13" name="标题 1"/>
          <p:cNvSpPr txBox="1"/>
          <p:nvPr/>
        </p:nvSpPr>
        <p:spPr bwMode="auto">
          <a:xfrm>
            <a:off x="0" y="95250"/>
            <a:ext cx="12192000" cy="3583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ts val="2250"/>
              </a:lnSpc>
              <a:tabLst>
                <a:tab pos="3225800" algn="l"/>
              </a:tabLst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NX1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用户趋势分析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以梦想家为例展开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L1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级统计</a:t>
            </a:r>
          </a:p>
        </p:txBody>
      </p:sp>
      <p:sp>
        <p:nvSpPr>
          <p:cNvPr id="8" name="矩形 7"/>
          <p:cNvSpPr/>
          <p:nvPr/>
        </p:nvSpPr>
        <p:spPr>
          <a:xfrm>
            <a:off x="2567305" y="758190"/>
            <a:ext cx="3528060" cy="259143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6905" y="3826510"/>
            <a:ext cx="327660" cy="2660015"/>
          </a:xfrm>
          <a:prstGeom prst="rect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标注 6"/>
          <p:cNvSpPr/>
          <p:nvPr/>
        </p:nvSpPr>
        <p:spPr>
          <a:xfrm>
            <a:off x="9072880" y="3891915"/>
            <a:ext cx="2651760" cy="1198880"/>
          </a:xfrm>
          <a:prstGeom prst="wedgeRectCallout">
            <a:avLst>
              <a:gd name="adj1" fmla="val -97294"/>
              <a:gd name="adj2" fmla="val -286652"/>
            </a:avLst>
          </a:prstGeom>
          <a:solidFill>
            <a:schemeClr val="bg1"/>
          </a:solidFill>
          <a:ln w="190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+mn-ea"/>
              </a:rPr>
              <a:t>eg:</a:t>
            </a:r>
            <a:r>
              <a:rPr lang="zh-CN" altLang="en-US" sz="1400" b="1" dirty="0">
                <a:solidFill>
                  <a:schemeClr val="tx1"/>
                </a:solidFill>
                <a:latin typeface="+mn-ea"/>
              </a:rPr>
              <a:t>基于上面提及率最高的</a:t>
            </a:r>
            <a:r>
              <a:rPr lang="en-US" altLang="zh-CN" sz="1400" b="1" dirty="0">
                <a:solidFill>
                  <a:schemeClr val="tx1"/>
                </a:solidFill>
                <a:latin typeface="+mn-ea"/>
              </a:rPr>
              <a:t>1</a:t>
            </a:r>
            <a:r>
              <a:rPr lang="zh-CN" altLang="en-US" sz="1400" b="1" dirty="0">
                <a:solidFill>
                  <a:schemeClr val="tx1"/>
                </a:solidFill>
                <a:latin typeface="+mn-ea"/>
              </a:rPr>
              <a:t>个</a:t>
            </a:r>
            <a:r>
              <a:rPr lang="en-US" altLang="zh-CN" sz="1400" b="1" dirty="0">
                <a:solidFill>
                  <a:schemeClr val="tx1"/>
                </a:solidFill>
                <a:latin typeface="+mn-ea"/>
              </a:rPr>
              <a:t>L1</a:t>
            </a:r>
            <a:r>
              <a:rPr lang="zh-CN" altLang="en-US" sz="1400" b="1" dirty="0">
                <a:solidFill>
                  <a:schemeClr val="tx1"/>
                </a:solidFill>
                <a:latin typeface="+mn-ea"/>
              </a:rPr>
              <a:t>级指标展开</a:t>
            </a:r>
            <a:r>
              <a:rPr lang="en-US" altLang="zh-CN" sz="1400" b="1" dirty="0">
                <a:solidFill>
                  <a:schemeClr val="tx1"/>
                </a:solidFill>
                <a:latin typeface="+mn-ea"/>
              </a:rPr>
              <a:t>L2</a:t>
            </a:r>
            <a:r>
              <a:rPr lang="zh-CN" altLang="en-US" sz="1400" b="1" dirty="0">
                <a:solidFill>
                  <a:schemeClr val="tx1"/>
                </a:solidFill>
                <a:latin typeface="+mn-ea"/>
              </a:rPr>
              <a:t>级拆分分析：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舒适_情感分布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180" y="1180465"/>
            <a:ext cx="6608445" cy="2452370"/>
          </a:xfrm>
          <a:prstGeom prst="rect">
            <a:avLst/>
          </a:prstGeom>
        </p:spPr>
      </p:pic>
      <p:pic>
        <p:nvPicPr>
          <p:cNvPr id="4" name="图片 3" descr="舒适_提及TOP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180" y="3632835"/>
            <a:ext cx="6677660" cy="2836545"/>
          </a:xfrm>
          <a:prstGeom prst="rect">
            <a:avLst/>
          </a:prstGeom>
        </p:spPr>
      </p:pic>
      <p:graphicFrame>
        <p:nvGraphicFramePr>
          <p:cNvPr id="5" name="表格 4"/>
          <p:cNvGraphicFramePr/>
          <p:nvPr/>
        </p:nvGraphicFramePr>
        <p:xfrm>
          <a:off x="485140" y="758825"/>
          <a:ext cx="5772150" cy="304800"/>
        </p:xfrm>
        <a:graphic>
          <a:graphicData uri="http://schemas.openxmlformats.org/drawingml/2006/table">
            <a:tbl>
              <a:tblPr/>
              <a:tblGrid>
                <a:gridCol w="1101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8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80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8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8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80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286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9979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10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车型名称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10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类别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10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不满意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10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中立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10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满意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10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总提及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10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提及占比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满意率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岚图梦想家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舒适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295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694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997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13.1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69.6%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标题 1"/>
          <p:cNvSpPr txBox="1"/>
          <p:nvPr/>
        </p:nvSpPr>
        <p:spPr bwMode="auto">
          <a:xfrm>
            <a:off x="0" y="95250"/>
            <a:ext cx="12192000" cy="3583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ts val="2250"/>
              </a:lnSpc>
              <a:tabLst>
                <a:tab pos="3225800" algn="l"/>
              </a:tabLst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NX1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用户趋势分析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梦想家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L2-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舒适</a:t>
            </a:r>
          </a:p>
        </p:txBody>
      </p:sp>
      <p:graphicFrame>
        <p:nvGraphicFramePr>
          <p:cNvPr id="6" name="表格 5"/>
          <p:cNvGraphicFramePr/>
          <p:nvPr>
            <p:custDataLst>
              <p:tags r:id="rId1"/>
            </p:custDataLst>
          </p:nvPr>
        </p:nvGraphicFramePr>
        <p:xfrm>
          <a:off x="7101840" y="758825"/>
          <a:ext cx="4949190" cy="5647690"/>
        </p:xfrm>
        <a:graphic>
          <a:graphicData uri="http://schemas.openxmlformats.org/drawingml/2006/table">
            <a:tbl>
              <a:tblPr/>
              <a:tblGrid>
                <a:gridCol w="8426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37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37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3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13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130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1371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130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29565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9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L2</a:t>
                      </a:r>
                      <a:r>
                        <a:rPr lang="zh-CN" altLang="en-US" sz="9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项目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9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不满意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9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中立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9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满意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9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总提及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9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满意率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9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中立率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9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不满意率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9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提及占比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985"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900" b="1" i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座椅舒适度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64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301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366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82.2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0.3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17.5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37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1620"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900" b="1" i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隔音效果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161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99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263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37.6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1.1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61.2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26.6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1620"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900" b="1" i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悬架减震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175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188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93.1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6.9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1620"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9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座椅功能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17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88.2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11.8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1.7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0670"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9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座椅调节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0.8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1620"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9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整体舒适性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0.8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1620"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9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空间宽敞度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0.8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1620"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9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音响效果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0.8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1620"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9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乘坐舒适度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87.5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12.5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0.8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1620"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9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乘坐舒适性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0.8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1620"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9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空调效果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87.5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12.5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0.8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1620"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9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空间舒适性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0.7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1620"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9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空间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0.4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1620"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9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空间布局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0.4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61620"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9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乘坐平稳性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0.4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28930"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9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座椅调节便利性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0.3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61620"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9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座椅通风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33.3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66.7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0.3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61620"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9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内饰氛围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0.3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61620"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9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空间舒适度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0.2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61620"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9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座椅通风效果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0.2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7" name="矩形 6"/>
          <p:cNvSpPr/>
          <p:nvPr/>
        </p:nvSpPr>
        <p:spPr>
          <a:xfrm>
            <a:off x="528320" y="1369060"/>
            <a:ext cx="507365" cy="2211705"/>
          </a:xfrm>
          <a:prstGeom prst="rect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标注 7"/>
          <p:cNvSpPr/>
          <p:nvPr/>
        </p:nvSpPr>
        <p:spPr>
          <a:xfrm>
            <a:off x="8423910" y="4551680"/>
            <a:ext cx="2651760" cy="1198880"/>
          </a:xfrm>
          <a:prstGeom prst="wedgeRectCallout">
            <a:avLst>
              <a:gd name="adj1" fmla="val 70809"/>
              <a:gd name="adj2" fmla="val -250900"/>
            </a:avLst>
          </a:prstGeom>
          <a:solidFill>
            <a:schemeClr val="bg1"/>
          </a:solidFill>
          <a:ln w="190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/>
            <a:r>
              <a:rPr lang="en-US" sz="1400" b="1" dirty="0">
                <a:solidFill>
                  <a:schemeClr val="tx1"/>
                </a:solidFill>
                <a:latin typeface="+mn-ea"/>
              </a:rPr>
              <a:t>L2</a:t>
            </a:r>
            <a:r>
              <a:rPr lang="zh-CN" altLang="en-US" sz="1400" b="1" dirty="0">
                <a:solidFill>
                  <a:schemeClr val="tx1"/>
                </a:solidFill>
                <a:latin typeface="+mn-ea"/>
              </a:rPr>
              <a:t>级指标中需要进行数据优化：</a:t>
            </a:r>
          </a:p>
          <a:p>
            <a:pPr algn="l"/>
            <a:r>
              <a:rPr lang="en-US" altLang="zh-CN" sz="1400" b="1" dirty="0">
                <a:solidFill>
                  <a:schemeClr val="tx1"/>
                </a:solidFill>
                <a:latin typeface="+mn-ea"/>
              </a:rPr>
              <a:t>1.</a:t>
            </a:r>
            <a:r>
              <a:rPr lang="zh-CN" altLang="en-US" sz="1400" b="1" dirty="0">
                <a:solidFill>
                  <a:schemeClr val="tx1"/>
                </a:solidFill>
                <a:latin typeface="+mn-ea"/>
              </a:rPr>
              <a:t>按照</a:t>
            </a:r>
            <a:r>
              <a:rPr lang="en-US" altLang="zh-CN" sz="1400" b="1" dirty="0">
                <a:solidFill>
                  <a:schemeClr val="tx1"/>
                </a:solidFill>
                <a:latin typeface="+mn-ea"/>
              </a:rPr>
              <a:t>4</a:t>
            </a:r>
            <a:r>
              <a:rPr lang="zh-CN" altLang="en-US" sz="1400" b="1" dirty="0">
                <a:solidFill>
                  <a:schemeClr val="tx1"/>
                </a:solidFill>
                <a:latin typeface="+mn-ea"/>
              </a:rPr>
              <a:t>象限</a:t>
            </a:r>
            <a:r>
              <a:rPr lang="en-US" altLang="zh-CN" sz="1400" b="1" dirty="0">
                <a:solidFill>
                  <a:schemeClr val="tx1"/>
                </a:solidFill>
                <a:latin typeface="+mn-ea"/>
              </a:rPr>
              <a:t>IPA</a:t>
            </a:r>
            <a:r>
              <a:rPr lang="zh-CN" altLang="en-US" sz="1400" b="1" dirty="0">
                <a:solidFill>
                  <a:schemeClr val="tx1"/>
                </a:solidFill>
                <a:latin typeface="+mn-ea"/>
              </a:rPr>
              <a:t>规则，着重分析高提及率项目；</a:t>
            </a:r>
          </a:p>
        </p:txBody>
      </p:sp>
      <p:pic>
        <p:nvPicPr>
          <p:cNvPr id="9" name="图片 8" descr="所有车型四象限图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6905" y="4725670"/>
            <a:ext cx="2399665" cy="1350010"/>
          </a:xfrm>
          <a:prstGeom prst="rect">
            <a:avLst/>
          </a:prstGeom>
        </p:spPr>
      </p:pic>
      <p:cxnSp>
        <p:nvCxnSpPr>
          <p:cNvPr id="10" name="直接箭头连接符 9"/>
          <p:cNvCxnSpPr/>
          <p:nvPr/>
        </p:nvCxnSpPr>
        <p:spPr>
          <a:xfrm>
            <a:off x="4516120" y="5347335"/>
            <a:ext cx="2081530" cy="7620"/>
          </a:xfrm>
          <a:prstGeom prst="straightConnector1">
            <a:avLst/>
          </a:prstGeom>
          <a:ln>
            <a:solidFill>
              <a:srgbClr val="0000FF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 flipH="1" flipV="1">
            <a:off x="5580380" y="4763770"/>
            <a:ext cx="15240" cy="1230630"/>
          </a:xfrm>
          <a:prstGeom prst="straightConnector1">
            <a:avLst/>
          </a:prstGeom>
          <a:ln>
            <a:solidFill>
              <a:srgbClr val="0000FF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圆角矩形 11"/>
          <p:cNvSpPr/>
          <p:nvPr/>
        </p:nvSpPr>
        <p:spPr>
          <a:xfrm>
            <a:off x="5662930" y="4886960"/>
            <a:ext cx="1120775" cy="339090"/>
          </a:xfrm>
          <a:prstGeom prst="roundRect">
            <a:avLst/>
          </a:prstGeom>
          <a:solidFill>
            <a:srgbClr val="00B050"/>
          </a:solidFill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高满意</a:t>
            </a:r>
            <a:r>
              <a:rPr lang="en-US" altLang="zh-CN" sz="1200" b="1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高提及</a:t>
            </a:r>
          </a:p>
        </p:txBody>
      </p:sp>
      <p:sp>
        <p:nvSpPr>
          <p:cNvPr id="15" name="圆角矩形 14"/>
          <p:cNvSpPr/>
          <p:nvPr/>
        </p:nvSpPr>
        <p:spPr>
          <a:xfrm>
            <a:off x="4422140" y="4886960"/>
            <a:ext cx="1120775" cy="339090"/>
          </a:xfrm>
          <a:prstGeom prst="roundRect">
            <a:avLst/>
          </a:prstGeom>
          <a:solidFill>
            <a:srgbClr val="FFC000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高满意</a:t>
            </a:r>
            <a:r>
              <a:rPr lang="en-US" altLang="zh-CN" sz="1200" b="1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低提及</a:t>
            </a:r>
          </a:p>
        </p:txBody>
      </p:sp>
      <p:sp>
        <p:nvSpPr>
          <p:cNvPr id="16" name="圆角矩形 15"/>
          <p:cNvSpPr/>
          <p:nvPr/>
        </p:nvSpPr>
        <p:spPr>
          <a:xfrm>
            <a:off x="5669915" y="5501640"/>
            <a:ext cx="1120775" cy="339090"/>
          </a:xfrm>
          <a:prstGeom prst="roundRect">
            <a:avLst/>
          </a:prstGeom>
          <a:solidFill>
            <a:srgbClr val="FFC000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低满意</a:t>
            </a:r>
            <a:r>
              <a:rPr lang="en-US" altLang="zh-CN" sz="1200" b="1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高提及</a:t>
            </a:r>
          </a:p>
        </p:txBody>
      </p:sp>
      <p:sp>
        <p:nvSpPr>
          <p:cNvPr id="17" name="圆角矩形 16"/>
          <p:cNvSpPr/>
          <p:nvPr/>
        </p:nvSpPr>
        <p:spPr>
          <a:xfrm>
            <a:off x="4410075" y="5501640"/>
            <a:ext cx="1120775" cy="339090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低满意</a:t>
            </a:r>
            <a:r>
              <a:rPr lang="en-US" altLang="zh-CN" sz="1200" b="1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低提及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476885" y="809625"/>
          <a:ext cx="7419975" cy="1939925"/>
        </p:xfrm>
        <a:graphic>
          <a:graphicData uri="http://schemas.openxmlformats.org/drawingml/2006/table">
            <a:tbl>
              <a:tblPr/>
              <a:tblGrid>
                <a:gridCol w="18262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16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16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16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03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16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22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2166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2166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2103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74625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subcategory_l3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11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不满意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11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中立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11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满意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11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总提及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11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满意率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11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中立率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11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不满意率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11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提及占比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累计占比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4625"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11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座椅调节功能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68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84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81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3990"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11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座椅舒适度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53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54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98.1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1.9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10.3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26.3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11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座椅软硬度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44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52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84.6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15.4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9.9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36.2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4625"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11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座椅按摩功能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46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47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97.9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2.1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8.9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45.1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4625"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11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座椅支撑性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27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33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81.8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18.2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6.3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51.4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4625"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11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座椅加热功能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5.7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57.1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11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座椅包裹性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27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29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93.1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6.9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5.5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62.6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73990"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11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座椅通风功能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27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28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96.4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3.6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5.3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67.9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74625"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11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座椅舒适性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23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24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95.8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4.2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4.6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72.5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74625"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11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座椅空间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64.3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35.7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2.7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75.2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3" name="标题 1"/>
          <p:cNvSpPr txBox="1"/>
          <p:nvPr/>
        </p:nvSpPr>
        <p:spPr bwMode="auto">
          <a:xfrm>
            <a:off x="0" y="95250"/>
            <a:ext cx="12192000" cy="3583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ts val="2250"/>
              </a:lnSpc>
              <a:tabLst>
                <a:tab pos="3225800" algn="l"/>
              </a:tabLst>
            </a:pP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NX1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用户趋势分析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梦想家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L3-</a:t>
            </a:r>
            <a:r>
              <a:rPr lang="zh-CN" altLang="en-US"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座椅舒适度</a:t>
            </a:r>
            <a:endParaRPr lang="zh-CN" altLang="en-US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4" name="图片 3" descr="座椅舒适度_情感分布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50470" y="1031240"/>
            <a:ext cx="5937885" cy="2200910"/>
          </a:xfrm>
          <a:prstGeom prst="rect">
            <a:avLst/>
          </a:prstGeom>
        </p:spPr>
      </p:pic>
      <p:pic>
        <p:nvPicPr>
          <p:cNvPr id="6" name="图片 5" descr="座椅舒适度_情感分布"/>
          <p:cNvPicPr>
            <a:picLocks noChangeAspect="1"/>
          </p:cNvPicPr>
          <p:nvPr/>
        </p:nvPicPr>
        <p:blipFill>
          <a:blip r:embed="rId4"/>
          <a:srcRect r="49888"/>
          <a:stretch>
            <a:fillRect/>
          </a:stretch>
        </p:blipFill>
        <p:spPr>
          <a:xfrm>
            <a:off x="8463280" y="809625"/>
            <a:ext cx="2975610" cy="2200910"/>
          </a:xfrm>
          <a:prstGeom prst="rect">
            <a:avLst/>
          </a:prstGeom>
        </p:spPr>
      </p:pic>
      <p:graphicFrame>
        <p:nvGraphicFramePr>
          <p:cNvPr id="5" name="表格 4"/>
          <p:cNvGraphicFramePr/>
          <p:nvPr>
            <p:custDataLst>
              <p:tags r:id="rId2"/>
            </p:custDataLst>
          </p:nvPr>
        </p:nvGraphicFramePr>
        <p:xfrm>
          <a:off x="477520" y="2894330"/>
          <a:ext cx="11489690" cy="3691890"/>
        </p:xfrm>
        <a:graphic>
          <a:graphicData uri="http://schemas.openxmlformats.org/drawingml/2006/table">
            <a:tbl>
              <a:tblPr/>
              <a:tblGrid>
                <a:gridCol w="8591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9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63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18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871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7170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category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subcategory_l2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subcategory_l3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sentiment_l3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evidence_l3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10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车型</a:t>
                      </a: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舒适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座椅舒适度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座椅调节功能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不满意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但第三排由于座椅下面有个横梁，不能调节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岚图梦想家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舒适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座椅舒适度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座椅调节功能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不满意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前排座位没有腿托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岚图梦想家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舒适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座椅舒适度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座椅调节功能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不满意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不满意的地方这个车最后一排靠背不能调节有点不是舒服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岚图梦想家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7170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舒适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座椅舒适度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座椅调节功能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不满意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有时候坐在第二排，不小心碰到面板，座椅就开始调节，或者是其他功能被触发，真的很影响乘坐体验。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岚图梦想家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7170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舒适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座椅舒适度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座椅调节功能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不满意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二排航空座椅脚托能再打高一点就再好不过了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岚图梦想家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7170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舒适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座椅舒适度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座椅调节功能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不满意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第三排座椅下方有个小斜坡，我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186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身高坐久了膝盖会有点顶，要是能调平就完美了。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岚图梦想家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7170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舒适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座椅舒适度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座椅调节功能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不满意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轨道太长，调整起来有点麻烦，老人操作也不方便。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岚图梦想家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7170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舒适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座椅舒适度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座椅调节功能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不满意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座椅靠背的角度调节找不到舒服的位置。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岚图梦想家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7170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舒适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座椅舒适度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座椅调节功能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不满意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手一蹭座椅通风或是加热就自行开启了，还得低头去查看，开车的时候挺令人烦躁的。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岚图梦想家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7170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舒适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座椅舒适度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座椅调节功能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不满意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座椅靠背的角度调节找不到舒服的位置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岚图梦想家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7170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舒适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座椅舒适度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座椅调节功能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不满意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主驾中央扶手处加高五公分，梦想家前车头较高，座椅调整好高度后，明显感觉中央扶手偏低。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岚图梦想家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7170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舒适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座椅舒适度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座椅调节功能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不满意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中排座椅也不能完全躺平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岚图梦想家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7170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舒适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座椅舒适度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座椅调节功能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不满意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让我最失望的是它的座椅没有脚踏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岚图梦想家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7170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舒适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座椅舒适度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座椅调节功能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不满意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梦想家的座椅不能完全放平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岚图梦想家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7170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舒适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座椅舒适度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座椅调节功能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不满意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座椅第三排应增加靠背角度可调整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岚图梦想家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7170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舒适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座椅舒适度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座椅调节功能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不满意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另腿拖调节到最高，角度放脚还是觉得矮了。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岚图梦想家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925195" y="935990"/>
          <a:ext cx="10340975" cy="1678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81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81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81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681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681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973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序号</a:t>
                      </a:r>
                    </a:p>
                  </a:txBody>
                  <a:tcPr marL="0" marR="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车型</a:t>
                      </a:r>
                      <a:r>
                        <a:rPr lang="en-US" altLang="zh-CN"/>
                        <a:t>A</a:t>
                      </a:r>
                    </a:p>
                  </a:txBody>
                  <a:tcPr marL="0" marR="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L1</a:t>
                      </a:r>
                      <a:r>
                        <a:rPr lang="zh-CN" altLang="en-US"/>
                        <a:t>级</a:t>
                      </a:r>
                    </a:p>
                  </a:txBody>
                  <a:tcPr marL="0" marR="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L2</a:t>
                      </a:r>
                      <a:r>
                        <a:rPr lang="zh-CN" altLang="en-US"/>
                        <a:t>级</a:t>
                      </a:r>
                    </a:p>
                  </a:txBody>
                  <a:tcPr marL="0" marR="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L3</a:t>
                      </a:r>
                      <a:r>
                        <a:rPr lang="zh-CN" altLang="en-US"/>
                        <a:t>级</a:t>
                      </a:r>
                    </a:p>
                  </a:txBody>
                  <a:tcPr marL="0" marR="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73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1</a:t>
                      </a:r>
                    </a:p>
                  </a:txBody>
                  <a:tcPr marL="0" marR="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梦想家</a:t>
                      </a:r>
                    </a:p>
                  </a:txBody>
                  <a:tcPr marL="0" marR="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16</a:t>
                      </a:r>
                      <a:r>
                        <a:rPr lang="zh-CN" altLang="en-US"/>
                        <a:t>项</a:t>
                      </a:r>
                    </a:p>
                  </a:txBody>
                  <a:tcPr marL="0" marR="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dirty="0"/>
                        <a:t>1000</a:t>
                      </a:r>
                      <a:r>
                        <a:rPr lang="zh-CN" altLang="en-US" dirty="0"/>
                        <a:t>项</a:t>
                      </a:r>
                      <a:r>
                        <a:rPr lang="en-US" altLang="zh-CN" dirty="0"/>
                        <a:t>+</a:t>
                      </a:r>
                    </a:p>
                    <a:p>
                      <a:pPr algn="ctr">
                        <a:buNone/>
                      </a:pPr>
                      <a:r>
                        <a:rPr lang="zh-CN" altLang="en-US" dirty="0"/>
                        <a:t>（核心</a:t>
                      </a:r>
                      <a:r>
                        <a:rPr lang="en-US" altLang="zh-CN" dirty="0"/>
                        <a:t>200-300</a:t>
                      </a:r>
                      <a:r>
                        <a:rPr lang="zh-CN" altLang="en-US" dirty="0"/>
                        <a:t>个）</a:t>
                      </a:r>
                    </a:p>
                  </a:txBody>
                  <a:tcPr marL="0" marR="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dirty="0"/>
                        <a:t>L2*40-50</a:t>
                      </a:r>
                      <a:r>
                        <a:rPr lang="zh-CN" altLang="en-US" dirty="0"/>
                        <a:t>个项目</a:t>
                      </a:r>
                    </a:p>
                    <a:p>
                      <a:pPr algn="ctr">
                        <a:buNone/>
                      </a:pPr>
                      <a:r>
                        <a:rPr lang="zh-CN" altLang="en-US" dirty="0"/>
                        <a:t>（核心</a:t>
                      </a:r>
                      <a:r>
                        <a:rPr lang="en-US" altLang="zh-CN" dirty="0"/>
                        <a:t>500-900</a:t>
                      </a:r>
                      <a:r>
                        <a:rPr lang="zh-CN" altLang="en-US" dirty="0"/>
                        <a:t>个）</a:t>
                      </a:r>
                    </a:p>
                  </a:txBody>
                  <a:tcPr marL="0" marR="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73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marL="0" marR="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marL="0" marR="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marL="0" marR="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marL="0" marR="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marL="0" marR="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73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marL="0" marR="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marL="0" marR="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marL="0" marR="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marL="0" marR="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dirty="0"/>
                    </a:p>
                  </a:txBody>
                  <a:tcPr marL="0" marR="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矩形标注 6"/>
          <p:cNvSpPr/>
          <p:nvPr/>
        </p:nvSpPr>
        <p:spPr>
          <a:xfrm>
            <a:off x="3085465" y="2795270"/>
            <a:ext cx="6175375" cy="1591310"/>
          </a:xfrm>
          <a:prstGeom prst="wedgeRectCallout">
            <a:avLst>
              <a:gd name="adj1" fmla="val -7285"/>
              <a:gd name="adj2" fmla="val -76232"/>
            </a:avLst>
          </a:prstGeom>
          <a:solidFill>
            <a:schemeClr val="bg1"/>
          </a:solidFill>
          <a:ln w="190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indent="0" algn="l">
              <a:buFont typeface="+mj-lt"/>
              <a:buNone/>
            </a:pPr>
            <a:r>
              <a:rPr lang="en-US" altLang="zh-CN" sz="1400" b="1" dirty="0">
                <a:solidFill>
                  <a:schemeClr val="tx1"/>
                </a:solidFill>
                <a:latin typeface="+mn-ea"/>
              </a:rPr>
              <a:t>1. </a:t>
            </a:r>
            <a:r>
              <a:rPr lang="zh-CN" altLang="en-US" sz="1400" b="1" dirty="0">
                <a:solidFill>
                  <a:schemeClr val="tx1"/>
                </a:solidFill>
                <a:latin typeface="+mn-ea"/>
              </a:rPr>
              <a:t>目前使用</a:t>
            </a:r>
            <a:r>
              <a:rPr lang="en-US" altLang="zh-CN" sz="1400" b="1" dirty="0">
                <a:solidFill>
                  <a:schemeClr val="tx1"/>
                </a:solidFill>
                <a:latin typeface="+mn-ea"/>
              </a:rPr>
              <a:t>LLM</a:t>
            </a:r>
            <a:r>
              <a:rPr lang="zh-CN" altLang="en-US" sz="1400" b="1" dirty="0">
                <a:solidFill>
                  <a:schemeClr val="tx1"/>
                </a:solidFill>
                <a:latin typeface="+mn-ea"/>
              </a:rPr>
              <a:t>模型做大数据分析的时，</a:t>
            </a:r>
            <a:r>
              <a:rPr lang="zh-CN" altLang="en-US" sz="1400" b="1" dirty="0">
                <a:solidFill>
                  <a:srgbClr val="FF0000"/>
                </a:solidFill>
                <a:latin typeface="+mn-ea"/>
              </a:rPr>
              <a:t>对</a:t>
            </a:r>
            <a:r>
              <a:rPr lang="en-US" altLang="zh-CN" sz="1400" b="1" dirty="0">
                <a:solidFill>
                  <a:srgbClr val="FF0000"/>
                </a:solidFill>
                <a:latin typeface="+mn-ea"/>
              </a:rPr>
              <a:t>L2</a:t>
            </a:r>
            <a:r>
              <a:rPr lang="zh-CN" altLang="en-US" sz="1400" b="1" dirty="0">
                <a:solidFill>
                  <a:srgbClr val="FF0000"/>
                </a:solidFill>
                <a:latin typeface="+mn-ea"/>
              </a:rPr>
              <a:t>级的拆解过于稀疏，没有回顾上下文，整体还需要再进行优化；</a:t>
            </a:r>
          </a:p>
          <a:p>
            <a:pPr indent="0" algn="l">
              <a:buFont typeface="+mj-lt"/>
              <a:buNone/>
            </a:pPr>
            <a:r>
              <a:rPr lang="en-US" altLang="zh-CN" sz="1400" b="1" dirty="0">
                <a:solidFill>
                  <a:schemeClr val="tx1"/>
                </a:solidFill>
                <a:latin typeface="+mn-ea"/>
              </a:rPr>
              <a:t>2. </a:t>
            </a:r>
            <a:r>
              <a:rPr lang="zh-CN" altLang="en-US" sz="1400" b="1" dirty="0">
                <a:solidFill>
                  <a:srgbClr val="FF0000"/>
                </a:solidFill>
                <a:latin typeface="+mn-ea"/>
              </a:rPr>
              <a:t>个人建议需要考虑时间维度的变化</a:t>
            </a:r>
            <a:r>
              <a:rPr lang="zh-CN" altLang="en-US" sz="1400" b="1" dirty="0">
                <a:solidFill>
                  <a:schemeClr val="tx1"/>
                </a:solidFill>
                <a:latin typeface="+mn-ea"/>
              </a:rPr>
              <a:t>，但是这样样本密度可能不够，需要多轮测试；</a:t>
            </a:r>
          </a:p>
          <a:p>
            <a:pPr indent="0" algn="l">
              <a:buFont typeface="+mj-lt"/>
              <a:buNone/>
            </a:pPr>
            <a:r>
              <a:rPr lang="en-US" altLang="zh-CN" sz="1400" b="1" dirty="0">
                <a:solidFill>
                  <a:schemeClr val="tx1"/>
                </a:solidFill>
                <a:latin typeface="+mn-ea"/>
              </a:rPr>
              <a:t>3. </a:t>
            </a:r>
            <a:r>
              <a:rPr lang="zh-CN" altLang="en-US" sz="1400" b="1" dirty="0">
                <a:solidFill>
                  <a:schemeClr val="tx1"/>
                </a:solidFill>
                <a:latin typeface="+mn-ea"/>
              </a:rPr>
              <a:t>面向商品企划领域，该分析方式每个车型需要约￥</a:t>
            </a:r>
            <a:r>
              <a:rPr lang="en-US" altLang="zh-CN" sz="1400" b="1" dirty="0">
                <a:solidFill>
                  <a:schemeClr val="tx1"/>
                </a:solidFill>
                <a:latin typeface="+mn-ea"/>
              </a:rPr>
              <a:t>50-100API</a:t>
            </a:r>
            <a:r>
              <a:rPr lang="zh-CN" altLang="en-US" sz="1400" b="1" dirty="0">
                <a:solidFill>
                  <a:schemeClr val="tx1"/>
                </a:solidFill>
                <a:latin typeface="+mn-ea"/>
              </a:rPr>
              <a:t>使用成本。</a:t>
            </a:r>
          </a:p>
          <a:p>
            <a:pPr algn="l"/>
            <a:r>
              <a:rPr lang="zh-CN" altLang="en-US" sz="1400" b="1" dirty="0">
                <a:solidFill>
                  <a:srgbClr val="00B050"/>
                </a:solidFill>
                <a:latin typeface="+mn-ea"/>
              </a:rPr>
              <a:t>能够得到的输出物是聚焦用户场景的满意度和提及率分析表；</a:t>
            </a:r>
          </a:p>
        </p:txBody>
      </p:sp>
      <p:sp>
        <p:nvSpPr>
          <p:cNvPr id="13" name="标题 1"/>
          <p:cNvSpPr txBox="1"/>
          <p:nvPr/>
        </p:nvSpPr>
        <p:spPr bwMode="auto">
          <a:xfrm>
            <a:off x="0" y="95250"/>
            <a:ext cx="12192000" cy="3583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ts val="2250"/>
              </a:lnSpc>
              <a:tabLst>
                <a:tab pos="3225800" algn="l"/>
              </a:tabLst>
            </a:pP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现有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LLM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模型分析的问题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613d1c63-231d-492f-92de-8efe58046652&quot;,&quot;Name&quot;:&quot;创未来2030&quot;,&quot;Kind&quot;:&quot;Custom&quot;,&quot;OldGuidesSetting&quot;:{&quot;HeaderHeight&quot;:10.0,&quot;FooterHeight&quot;:6.0,&quot;SideMargin&quot;:4.0,&quot;TopMargin&quot;:0.0,&quot;BottomMargin&quot;:0.0,&quot;IntervalMargin&quot;:1.5}}"/>
  <p:tag name="COMMONDATA" val="eyJoZGlkIjoiZDJlYzAzNzhmMzRiMmMwZTdjY2VmNmE3NzYzZDFhNmY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08*287"/>
  <p:tag name="TABLE_ENDDRAG_RECT" val="619*196*308*287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110*427"/>
  <p:tag name="TABLE_ENDDRAG_RECT" val="7*63*110*427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89*443"/>
  <p:tag name="TABLE_ENDDRAG_RECT" val="559*59*389*443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584*152"/>
  <p:tag name="TABLE_ENDDRAG_RECT" val="37*63*584*15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904*300"/>
  <p:tag name="TABLE_ENDDRAG_RECT" val="37*228*904*30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14*132"/>
  <p:tag name="TABLE_ENDDRAG_RECT" val="90*85*814*132"/>
</p:tagLst>
</file>

<file path=ppt/theme/theme1.xml><?xml version="1.0" encoding="utf-8"?>
<a:theme xmlns:a="http://schemas.openxmlformats.org/drawingml/2006/main" name="2_版1">
  <a:themeElements>
    <a:clrScheme name="创未来2030">
      <a:dk1>
        <a:srgbClr val="000000"/>
      </a:dk1>
      <a:lt1>
        <a:srgbClr val="FFFFFF"/>
      </a:lt1>
      <a:dk2>
        <a:srgbClr val="898989"/>
      </a:dk2>
      <a:lt2>
        <a:srgbClr val="F0F0F0"/>
      </a:lt2>
      <a:accent1>
        <a:srgbClr val="006FBC"/>
      </a:accent1>
      <a:accent2>
        <a:srgbClr val="094AA8"/>
      </a:accent2>
      <a:accent3>
        <a:srgbClr val="4B4B4B"/>
      </a:accent3>
      <a:accent4>
        <a:srgbClr val="898989"/>
      </a:accent4>
      <a:accent5>
        <a:srgbClr val="F0F0F0"/>
      </a:accent5>
      <a:accent6>
        <a:srgbClr val="E60020"/>
      </a:accent6>
      <a:hlink>
        <a:srgbClr val="000000"/>
      </a:hlink>
      <a:folHlink>
        <a:srgbClr val="006FBC"/>
      </a:folHlink>
    </a:clrScheme>
    <a:fontScheme name="微软雅黑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19050">
          <a:noFill/>
        </a:ln>
      </a:spPr>
      <a:bodyPr lIns="0" tIns="0" rIns="0" bIns="0" rtlCol="0" anchor="ctr"/>
      <a:lstStyle>
        <a:defPPr algn="ctr">
          <a:defRPr sz="1400" b="1" dirty="0">
            <a:solidFill>
              <a:schemeClr val="tx1"/>
            </a:solidFill>
            <a:latin typeface="+mn-ea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marL="0" marR="0" indent="0" algn="l" defTabSz="914400" rtl="0" eaLnBrk="1" fontAlgn="auto" latinLnBrk="0" hangingPunct="1">
          <a:lnSpc>
            <a:spcPct val="120000"/>
          </a:lnSpc>
          <a:spcBef>
            <a:spcPts val="0"/>
          </a:spcBef>
          <a:spcAft>
            <a:spcPts val="600"/>
          </a:spcAft>
          <a:buClrTx/>
          <a:buSzTx/>
          <a:buFont typeface="Arial" panose="020B0604020202020204" pitchFamily="34" charset="0"/>
          <a:buNone/>
          <a:defRPr kumimoji="1" sz="1600" b="0" i="0" u="none" strike="noStrike" kern="1200" cap="none" spc="0" normalizeH="0" baseline="0" noProof="0" dirty="0" smtClean="0">
            <a:ln>
              <a:noFill/>
            </a:ln>
            <a:solidFill>
              <a:srgbClr val="000000"/>
            </a:solidFill>
            <a:effectLst/>
            <a:uLnTx/>
            <a:uFillTx/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3272</Words>
  <Application>Microsoft Office PowerPoint</Application>
  <PresentationFormat>宽屏</PresentationFormat>
  <Paragraphs>1028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1" baseType="lpstr">
      <vt:lpstr>等线</vt:lpstr>
      <vt:lpstr>微软雅黑</vt:lpstr>
      <vt:lpstr>Arial</vt:lpstr>
      <vt:lpstr>2_版1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温舒童</dc:creator>
  <cp:lastModifiedBy>xin tong</cp:lastModifiedBy>
  <cp:revision>1794</cp:revision>
  <cp:lastPrinted>2024-02-22T08:53:00Z</cp:lastPrinted>
  <dcterms:created xsi:type="dcterms:W3CDTF">2024-02-22T08:53:00Z</dcterms:created>
  <dcterms:modified xsi:type="dcterms:W3CDTF">2026-03-16T03:52:32Z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3F7184263F1A4F1AAA25FB121971B382_13</vt:lpwstr>
  </property>
  <property fmtid="{D5CDD505-2E9C-101B-9397-08002B2CF9AE}" pid="3" name="KSOProductBuildVer">
    <vt:lpwstr>2052-12.1.0.25225</vt:lpwstr>
  </property>
  <property fmtid="{D5CDD505-2E9C-101B-9397-08002B2CF9AE}" pid="4" name="_KSOProductBuildMID">
    <vt:lpwstr>CYWMI6GJ79TA00HGRPRNDLJF7N8MOSYR9U0XUJDVXGI8TE5TZ7BRIC0IFYYTP8RRXFMXJOLSZIX78PXJQFFT6FFA8RM0WOLB8SODDHB3F355F6247476E3F7BA96930F70AD87B9</vt:lpwstr>
  </property>
  <property fmtid="{D5CDD505-2E9C-101B-9397-08002B2CF9AE}" pid="5" name="_KSOProductBuildSID">
    <vt:lpwstr>CQWMP6GJ796Q06TG9ZRNYL097NL0OSVREF0XOJDXXGPRTECTN0BRPC0PFYRTPB8RBSM6COL5ZIW78PNJROFT6FF78RNMWHLBAOODPHB34E019711336597F7A194F050DF61F50A</vt:lpwstr>
  </property>
</Properties>
</file>
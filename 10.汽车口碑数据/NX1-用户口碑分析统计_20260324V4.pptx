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16671786" r:id="rId3"/>
    <p:sldId id="16671787" r:id="rId4"/>
    <p:sldId id="16671805" r:id="rId5"/>
    <p:sldId id="16671806" r:id="rId6"/>
    <p:sldId id="16671798" r:id="rId7"/>
    <p:sldId id="16671800" r:id="rId9"/>
  </p:sldIdLst>
  <p:sldSz cx="12192000" cy="6858000"/>
  <p:notesSz cx="6805295" cy="993902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NX1分析-用户口碑分析" id="{5B6EF919-5F52-45D1-AAD5-A82F0E7E4B71}">
          <p14:sldIdLst>
            <p14:sldId id="16671786"/>
            <p14:sldId id="16671787"/>
            <p14:sldId id="16671805"/>
            <p14:sldId id="16671806"/>
            <p14:sldId id="16671798"/>
            <p14:sldId id="16671800"/>
          </p14:sldIdLst>
        </p14:section>
      </p14:sectionLst>
    </p:ext>
    <p:ext uri="{EFAFB233-063F-42B5-8137-9DF3F51BA10A}">
      <p15:sldGuideLst xmlns:p15="http://schemas.microsoft.com/office/powerpoint/2012/main">
        <p15:guide id="1" pos="110" userDrawn="1">
          <p15:clr>
            <a:srgbClr val="A4A3A4"/>
          </p15:clr>
        </p15:guide>
        <p15:guide id="2" pos="7460" userDrawn="1">
          <p15:clr>
            <a:srgbClr val="A4A3A4"/>
          </p15:clr>
        </p15:guide>
        <p15:guide id="3" orient="horz" pos="60" userDrawn="1">
          <p15:clr>
            <a:srgbClr val="A4A3A4"/>
          </p15:clr>
        </p15:guide>
        <p15:guide id="5" orient="horz" pos="3827" userDrawn="1">
          <p15:clr>
            <a:srgbClr val="A4A3A4"/>
          </p15:clr>
        </p15:guide>
        <p15:guide id="7" orient="horz" pos="2069" userDrawn="1">
          <p15:clr>
            <a:srgbClr val="A4A3A4"/>
          </p15:clr>
        </p15:guide>
        <p15:guide id="8" pos="3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童鑫" initials="童鑫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C000"/>
    <a:srgbClr val="E7EBF4"/>
    <a:srgbClr val="CBD5E7"/>
    <a:srgbClr val="FF0035"/>
    <a:srgbClr val="D9D9D9"/>
    <a:srgbClr val="BFBFBF"/>
    <a:srgbClr val="00508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2" autoAdjust="0"/>
    <p:restoredTop sz="95153" autoAdjust="0"/>
  </p:normalViewPr>
  <p:slideViewPr>
    <p:cSldViewPr snapToGrid="0" showGuides="1">
      <p:cViewPr varScale="1">
        <p:scale>
          <a:sx n="77" d="100"/>
          <a:sy n="77" d="100"/>
        </p:scale>
        <p:origin x="864" y="48"/>
      </p:cViewPr>
      <p:guideLst>
        <p:guide pos="110"/>
        <p:guide pos="7460"/>
        <p:guide orient="horz" pos="60"/>
        <p:guide orient="horz" pos="3827"/>
        <p:guide orient="horz" pos="2069"/>
        <p:guide pos="3908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50" d="100"/>
        <a:sy n="150" d="100"/>
      </p:scale>
      <p:origin x="0" y="-2610"/>
    </p:cViewPr>
  </p:sorterViewPr>
  <p:notesViewPr>
    <p:cSldViewPr snapToGrid="0">
      <p:cViewPr varScale="1">
        <p:scale>
          <a:sx n="51" d="100"/>
          <a:sy n="51" d="100"/>
        </p:scale>
        <p:origin x="151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9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75D67-55C7-4994-A130-9BF0F244F4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6D0D5-FB3E-4D40-9677-6001CCC90F5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6D0D5-FB3E-4D40-9677-6001CCC90F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间页-带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483419" y="530073"/>
            <a:ext cx="1121328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-309880" y="6558280"/>
            <a:ext cx="12526645" cy="352425"/>
            <a:chOff x="-309880" y="6558280"/>
            <a:chExt cx="12526645" cy="352425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-309880" y="6610032"/>
              <a:ext cx="11226800" cy="248920"/>
              <a:chOff x="2433189" y="6676080"/>
              <a:chExt cx="8256714" cy="188035"/>
            </a:xfrm>
          </p:grpSpPr>
          <p:sp>
            <p:nvSpPr>
              <p:cNvPr id="13" name="平行四边形 12"/>
              <p:cNvSpPr/>
              <p:nvPr userDrawn="1">
                <p:custDataLst>
                  <p:tags r:id="rId2"/>
                </p:custDataLst>
              </p:nvPr>
            </p:nvSpPr>
            <p:spPr>
              <a:xfrm>
                <a:off x="9890415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平行四边形 13"/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10084731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平行四边形 14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10279047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平行四边形 15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10473362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平行四边形 16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2433189" y="6676080"/>
                <a:ext cx="7479572" cy="188035"/>
              </a:xfrm>
              <a:prstGeom prst="parallelogram">
                <a:avLst>
                  <a:gd name="adj" fmla="val 71393"/>
                </a:avLst>
              </a:prstGeom>
              <a:gradFill>
                <a:gsLst>
                  <a:gs pos="0">
                    <a:schemeClr val="accent6">
                      <a:alpha val="0"/>
                    </a:schemeClr>
                  </a:gs>
                  <a:gs pos="100000">
                    <a:schemeClr val="accent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2" name="图片 11" descr="E:\Desktop\300ppi\资源 2-3.png资源 2-3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>
            <a:xfrm>
              <a:off x="10906760" y="6558280"/>
              <a:ext cx="1310005" cy="352425"/>
            </a:xfrm>
            <a:prstGeom prst="rect">
              <a:avLst/>
            </a:prstGeom>
          </p:spPr>
        </p:pic>
      </p:grp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10241274" y="200520"/>
            <a:ext cx="11567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5BDB7EF3-72B3-4AF8-AED4-FF44441B5A9C}" type="slidenum">
              <a:rPr lang="zh-CN" altLang="en-US" sz="1600" b="1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2.0 55 Regular" panose="00020600040101010101" pitchFamily="18" charset="-122"/>
              </a:rPr>
            </a:fld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2.0 55 Regular" panose="00020600040101010101" pitchFamily="18" charset="-122"/>
              </a:rPr>
              <a:t>/14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 2.0 55 Regular" panose="00020600040101010101" pitchFamily="18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51"/>
          <a:stretch>
            <a:fillRect/>
          </a:stretch>
        </p:blipFill>
        <p:spPr>
          <a:xfrm>
            <a:off x="694990" y="2734638"/>
            <a:ext cx="7026610" cy="3972163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871460" y="2900516"/>
          <a:ext cx="4084637" cy="36084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435"/>
                <a:gridCol w="1012375"/>
                <a:gridCol w="1005082"/>
                <a:gridCol w="1005745"/>
              </a:tblGrid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年后评论数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平均字数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总字数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</a:tr>
              <a:tr h="295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腾势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1649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1092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别克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737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1205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1148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赛那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SIENNA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7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627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7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57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别克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新能源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理想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MEGA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6912076" y="5002647"/>
            <a:ext cx="481781" cy="72136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口碑数据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66205" y="5698607"/>
            <a:ext cx="1418590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2022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年后数据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37185" y="618728"/>
          <a:ext cx="116189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740"/>
                <a:gridCol w="859431"/>
                <a:gridCol w="859431"/>
                <a:gridCol w="859431"/>
                <a:gridCol w="859431"/>
                <a:gridCol w="859431"/>
                <a:gridCol w="859431"/>
                <a:gridCol w="859431"/>
                <a:gridCol w="859431"/>
                <a:gridCol w="859431"/>
                <a:gridCol w="859431"/>
                <a:gridCol w="859431"/>
                <a:gridCol w="859431"/>
              </a:tblGrid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腾势</a:t>
                      </a:r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1649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1582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赛那</a:t>
                      </a:r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SIENNA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魏牌 高山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新能源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理想</a:t>
                      </a:r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MEGA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" name="任意多边形 23"/>
          <p:cNvSpPr/>
          <p:nvPr/>
        </p:nvSpPr>
        <p:spPr>
          <a:xfrm>
            <a:off x="1412240" y="3031607"/>
            <a:ext cx="924560" cy="447675"/>
          </a:xfrm>
          <a:custGeom>
            <a:avLst/>
            <a:gdLst>
              <a:gd name="connisteX0" fmla="*/ 0 w 924560"/>
              <a:gd name="connsiteY0" fmla="*/ 0 h 447886"/>
              <a:gd name="connisteX1" fmla="*/ 20320 w 924560"/>
              <a:gd name="connsiteY1" fmla="*/ 81280 h 447886"/>
              <a:gd name="connisteX2" fmla="*/ 20320 w 924560"/>
              <a:gd name="connsiteY2" fmla="*/ 152400 h 447886"/>
              <a:gd name="connisteX3" fmla="*/ 20320 w 924560"/>
              <a:gd name="connsiteY3" fmla="*/ 223520 h 447886"/>
              <a:gd name="connisteX4" fmla="*/ 20320 w 924560"/>
              <a:gd name="connsiteY4" fmla="*/ 294640 h 447886"/>
              <a:gd name="connisteX5" fmla="*/ 10160 w 924560"/>
              <a:gd name="connsiteY5" fmla="*/ 365760 h 447886"/>
              <a:gd name="connisteX6" fmla="*/ 50800 w 924560"/>
              <a:gd name="connsiteY6" fmla="*/ 436880 h 447886"/>
              <a:gd name="connisteX7" fmla="*/ 132080 w 924560"/>
              <a:gd name="connsiteY7" fmla="*/ 447040 h 447886"/>
              <a:gd name="connisteX8" fmla="*/ 203200 w 924560"/>
              <a:gd name="connsiteY8" fmla="*/ 447040 h 447886"/>
              <a:gd name="connisteX9" fmla="*/ 274320 w 924560"/>
              <a:gd name="connsiteY9" fmla="*/ 447040 h 447886"/>
              <a:gd name="connisteX10" fmla="*/ 345440 w 924560"/>
              <a:gd name="connsiteY10" fmla="*/ 447040 h 447886"/>
              <a:gd name="connisteX11" fmla="*/ 416560 w 924560"/>
              <a:gd name="connsiteY11" fmla="*/ 447040 h 447886"/>
              <a:gd name="connisteX12" fmla="*/ 487680 w 924560"/>
              <a:gd name="connsiteY12" fmla="*/ 447040 h 447886"/>
              <a:gd name="connisteX13" fmla="*/ 558800 w 924560"/>
              <a:gd name="connsiteY13" fmla="*/ 447040 h 447886"/>
              <a:gd name="connisteX14" fmla="*/ 640080 w 924560"/>
              <a:gd name="connsiteY14" fmla="*/ 447040 h 447886"/>
              <a:gd name="connisteX15" fmla="*/ 711200 w 924560"/>
              <a:gd name="connsiteY15" fmla="*/ 447040 h 447886"/>
              <a:gd name="connisteX16" fmla="*/ 782320 w 924560"/>
              <a:gd name="connsiteY16" fmla="*/ 436880 h 447886"/>
              <a:gd name="connisteX17" fmla="*/ 853440 w 924560"/>
              <a:gd name="connsiteY17" fmla="*/ 436880 h 447886"/>
              <a:gd name="connisteX18" fmla="*/ 924560 w 924560"/>
              <a:gd name="connsiteY18" fmla="*/ 436880 h 44788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</a:cxnLst>
            <a:rect l="l" t="t" r="r" b="b"/>
            <a:pathLst>
              <a:path w="924560" h="447887">
                <a:moveTo>
                  <a:pt x="0" y="0"/>
                </a:moveTo>
                <a:cubicBezTo>
                  <a:pt x="3810" y="14605"/>
                  <a:pt x="16510" y="50800"/>
                  <a:pt x="20320" y="81280"/>
                </a:cubicBezTo>
                <a:cubicBezTo>
                  <a:pt x="24130" y="111760"/>
                  <a:pt x="20320" y="123825"/>
                  <a:pt x="20320" y="152400"/>
                </a:cubicBezTo>
                <a:cubicBezTo>
                  <a:pt x="20320" y="180975"/>
                  <a:pt x="20320" y="194945"/>
                  <a:pt x="20320" y="223520"/>
                </a:cubicBezTo>
                <a:cubicBezTo>
                  <a:pt x="20320" y="252095"/>
                  <a:pt x="22225" y="266065"/>
                  <a:pt x="20320" y="294640"/>
                </a:cubicBezTo>
                <a:cubicBezTo>
                  <a:pt x="18415" y="323215"/>
                  <a:pt x="3810" y="337185"/>
                  <a:pt x="10160" y="365760"/>
                </a:cubicBezTo>
                <a:cubicBezTo>
                  <a:pt x="16510" y="394335"/>
                  <a:pt x="26670" y="420370"/>
                  <a:pt x="50800" y="436880"/>
                </a:cubicBezTo>
                <a:cubicBezTo>
                  <a:pt x="74930" y="453390"/>
                  <a:pt x="101600" y="445135"/>
                  <a:pt x="132080" y="447040"/>
                </a:cubicBezTo>
                <a:cubicBezTo>
                  <a:pt x="162560" y="448945"/>
                  <a:pt x="174625" y="447040"/>
                  <a:pt x="203200" y="447040"/>
                </a:cubicBezTo>
                <a:cubicBezTo>
                  <a:pt x="231775" y="447040"/>
                  <a:pt x="245745" y="447040"/>
                  <a:pt x="274320" y="447040"/>
                </a:cubicBezTo>
                <a:cubicBezTo>
                  <a:pt x="302895" y="447040"/>
                  <a:pt x="316865" y="447040"/>
                  <a:pt x="345440" y="447040"/>
                </a:cubicBezTo>
                <a:cubicBezTo>
                  <a:pt x="374015" y="447040"/>
                  <a:pt x="387985" y="447040"/>
                  <a:pt x="416560" y="447040"/>
                </a:cubicBezTo>
                <a:cubicBezTo>
                  <a:pt x="445135" y="447040"/>
                  <a:pt x="459105" y="447040"/>
                  <a:pt x="487680" y="447040"/>
                </a:cubicBezTo>
                <a:cubicBezTo>
                  <a:pt x="516255" y="447040"/>
                  <a:pt x="528320" y="447040"/>
                  <a:pt x="558800" y="447040"/>
                </a:cubicBezTo>
                <a:cubicBezTo>
                  <a:pt x="589280" y="447040"/>
                  <a:pt x="609600" y="447040"/>
                  <a:pt x="640080" y="447040"/>
                </a:cubicBezTo>
                <a:cubicBezTo>
                  <a:pt x="670560" y="447040"/>
                  <a:pt x="682625" y="448945"/>
                  <a:pt x="711200" y="447040"/>
                </a:cubicBezTo>
                <a:cubicBezTo>
                  <a:pt x="739775" y="445135"/>
                  <a:pt x="753745" y="438785"/>
                  <a:pt x="782320" y="436880"/>
                </a:cubicBezTo>
                <a:cubicBezTo>
                  <a:pt x="810895" y="434975"/>
                  <a:pt x="824865" y="436880"/>
                  <a:pt x="853440" y="436880"/>
                </a:cubicBezTo>
                <a:cubicBezTo>
                  <a:pt x="882015" y="436880"/>
                  <a:pt x="911860" y="436880"/>
                  <a:pt x="924560" y="436880"/>
                </a:cubicBezTo>
              </a:path>
            </a:pathLst>
          </a:cu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3088" y="3196707"/>
            <a:ext cx="717250" cy="3307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95158" y="3224975"/>
          <a:ext cx="1059180" cy="3324508"/>
        </p:xfrm>
        <a:graphic>
          <a:graphicData uri="http://schemas.openxmlformats.org/drawingml/2006/table">
            <a:tbl>
              <a:tblPr/>
              <a:tblGrid>
                <a:gridCol w="1059180"/>
              </a:tblGrid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腾势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赛那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SIENNA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新能源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理想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MEGA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236855" y="1355725"/>
          <a:ext cx="11609070" cy="2194560"/>
        </p:xfrm>
        <a:graphic>
          <a:graphicData uri="http://schemas.openxmlformats.org/drawingml/2006/table">
            <a:tbl>
              <a:tblPr/>
              <a:tblGrid>
                <a:gridCol w="412750"/>
                <a:gridCol w="412750"/>
                <a:gridCol w="413385"/>
                <a:gridCol w="412750"/>
                <a:gridCol w="412750"/>
                <a:gridCol w="412750"/>
                <a:gridCol w="413385"/>
                <a:gridCol w="412750"/>
                <a:gridCol w="412750"/>
                <a:gridCol w="412750"/>
                <a:gridCol w="413385"/>
                <a:gridCol w="412750"/>
                <a:gridCol w="412750"/>
                <a:gridCol w="412750"/>
                <a:gridCol w="413385"/>
                <a:gridCol w="412750"/>
                <a:gridCol w="1250315"/>
                <a:gridCol w="1250950"/>
                <a:gridCol w="1250315"/>
                <a:gridCol w="1250950"/>
              </a:tblGrid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总口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碑数量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在售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口碑数量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发表时间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行驶里程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夏季电耗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春秋电耗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冬季电耗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夏季续航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春秋续航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冬季续航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百公里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裸车购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买价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购买时间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购买地点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最满意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最不满意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空间评分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空间评论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款 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PHEV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乾崑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Ultra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2026/3/5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3700km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21.0kWh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5.7L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41.90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Feb-26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深圳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满意的其实不是智驾也不是动力，盯着第二排那两个零重力座椅，上周带我爸妈去密云单程一百多公里，他们平时坐车超过一小时就说腰紧，这次上了高速把座椅按摩开着腿托抬起来，两个人一路迷糊到目的地，我爸下车还念叨这椅子比家里那台芝华仕更合适，后排那个冷暖冰箱也好用，带娃路上水果酸奶都能放得稳，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17.3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寸的屏找个动画片一开，孩子安安静静，副驾那位打开剧集自己看，车里算是清净了一路。</a:t>
                      </a:r>
                      <a:endParaRPr lang="zh-CN" altLang="en-US"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不太喜欢的就出在装配工艺，提车那天瞅见驾驶侧门板和车门缝有点大，销售说每台车都差不多，我跑去展车看了眼确实一样，后来有次</a:t>
                      </a:r>
                      <a:r>
                        <a:rPr lang="en-US" altLang="zh-CN" sz="800" b="0" i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ota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后语音助手没动静，重启车机才恢复，倒车影像冷启动要等几秒，地下车库那次后面有个矮桩，屏幕没出来我就只能扭头看，云灰内饰视觉好看，家里有孩子的要多考虑，我家那个小祖宗上周在车上吃巧克力，蹭到座椅上了湿巾和清洁剂轮番上阵才弄干净。</a:t>
                      </a:r>
                      <a:endParaRPr lang="zh-CN" altLang="en-US"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车确实有底子，轴距三米二，二排腿能伸直，我身高一七八坐到第三排腿部还有一拳多，不是那种临时小板凳，后备箱满座能塞两个二十八寸箱子外加几个背包，上次帮朋友搬家把三排放倒，直接把一个单人沙发推进去，车身宽，老小区地库拐弯得放慢多看两眼，侧方停车靠边缘时心里要有距离，轮毂别蹭。</a:t>
                      </a:r>
                      <a:endParaRPr lang="zh-CN" altLang="en-US"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236855" y="3639185"/>
          <a:ext cx="11730355" cy="2194560"/>
        </p:xfrm>
        <a:graphic>
          <a:graphicData uri="http://schemas.openxmlformats.org/drawingml/2006/table">
            <a:tbl>
              <a:tblPr/>
              <a:tblGrid>
                <a:gridCol w="383540"/>
                <a:gridCol w="1138555"/>
                <a:gridCol w="344805"/>
                <a:gridCol w="1174115"/>
                <a:gridCol w="309880"/>
                <a:gridCol w="1229360"/>
                <a:gridCol w="272415"/>
                <a:gridCol w="1250315"/>
                <a:gridCol w="358140"/>
                <a:gridCol w="1163955"/>
                <a:gridCol w="332105"/>
                <a:gridCol w="1186180"/>
                <a:gridCol w="323215"/>
                <a:gridCol w="323850"/>
                <a:gridCol w="323215"/>
                <a:gridCol w="323215"/>
                <a:gridCol w="323850"/>
                <a:gridCol w="322580"/>
                <a:gridCol w="323850"/>
                <a:gridCol w="323215"/>
              </a:tblGrid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驾驶感受评分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驾驶感受评论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续航评论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外观评论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内饰评分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内饰评论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性价比评分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性价比评论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智能化评分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智能化评论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油耗评分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油耗评论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配置评分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配置评论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观看数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点赞数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评论数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购车目的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这车开起来不像那么大的体型，双电机四驱总功率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490kW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扭矩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915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牛米零百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5.9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秒，电门响应跟脚，红绿灯起步基本第一批走，满载七人上高速加速并线不犹豫，后轮转向双向十度，掉头半径像紧凑型轿车，小区里双向车道一把就过去，魔毯空气悬架过减速带不颠，路面有大坑洼也能滤掉，急加速时发动机介入那一下噪音起来比较明显，高速上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柱风噪能听到。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这车标的是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CLTC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纯电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350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公里，我在市区开空调实测大概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上下，上下班通勤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公里一周补一次，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巡航掉得快一些在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左右，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快充速度给到，有次在服务区去个洗手间买杯咖啡回来电量从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干到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，亏电油耗我跑高速测过七点八升，市区馈电八个多，纯电能耗二十度每百公里，算账下来比加油划算，电池包在底盘下面，走烂路会多看地面，护板厚但我还是会避开大坎。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的是旭日紫，我就是想要个显眼的颜色，晴天看就是紫的，阴天又偏深灰，阳光下能看到漆面里的金属颗粒，邻居来问这是不是贴了改色膜，前脸那个扶摇直上格栅一排排镀铬饰条配贯穿大灯，远远看挺有辨识度，车长五米三，停到哪儿都比旁边车显得更大一圈，去洗车店师傅说按大型车算每次要多收二十，次数多了还是能感觉出来。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选云灰，眼睛看着亮，比纯黑敞快些，比米色耐脏一点点，麂皮绒顶棚摸上去细腻，车里气味很轻，这点给好评，销售提到母婴级用料，接触下来不刺鼻，中控几块屏幕显示细腻，鸿蒙系统用起来跟家里华为平板一个路数，菜单层级偏深，想调个座椅按摩要多划几下，座椅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点按摩比我家那台老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Q5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贴合，跑长途把它开着肩背不紧。</a:t>
                      </a:r>
                      <a:endParaRPr lang="zh-CN" altLang="en-US"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按我这台算，裸车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42.99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万加智驾包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万保险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万购置税七千多，落地差不多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万，这个价位同时带华为乾崑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ADS 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鸿蒙座舱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八百伏平台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超充空悬加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CDC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后轮转向的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MPV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，目前就它一台，岚图背靠东风做事更稳，品牌层面心里更有底，售后网点少一些，去保养要跑三十公里，对比同配置的合资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MPV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价格就不在一个区间，我自己看完账觉得值得，早买早享受。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鸿蒙座舱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用起来顺，像在用华为平板，四音区识别挺准，岳母说把空调开大点系统能跟上，乾崑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ADS 4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在高速比较省力，自动变道给到动作，进出匝道也稳，城市场景还在磨合，遇到加塞时反应慢一些要接管，跨层泊车在地库跑过几次能自己找车位停进去，速度不快，后面车催的时候你就得让一让，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感应尾门要对着地上的投影踢准，我媳妇儿老踢不到位，最后直接手按。</a:t>
                      </a:r>
                      <a:endParaRPr lang="zh-CN" altLang="en-US"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口碑数据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1135" y="1289050"/>
            <a:ext cx="663829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53690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基础信息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29425" y="1293495"/>
            <a:ext cx="251079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26655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核心信息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91135" y="3639185"/>
            <a:ext cx="914908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547350" y="1289050"/>
            <a:ext cx="1346835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756265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各维度信息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曲线连接符 13"/>
          <p:cNvCxnSpPr>
            <a:stCxn id="9" idx="3"/>
            <a:endCxn id="10" idx="2"/>
          </p:cNvCxnSpPr>
          <p:nvPr/>
        </p:nvCxnSpPr>
        <p:spPr>
          <a:xfrm flipV="1">
            <a:off x="9340215" y="3592195"/>
            <a:ext cx="1880870" cy="1198880"/>
          </a:xfrm>
          <a:prstGeom prst="curvedConnector2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91135" y="817245"/>
            <a:ext cx="141859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文本举例：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7135" y="829310"/>
            <a:ext cx="73018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梦想家</a:t>
            </a:r>
            <a:r>
              <a:rPr lang="en-US" altLang="zh-CN" sz="1600"/>
              <a:t>PHEV</a:t>
            </a:r>
            <a:r>
              <a:rPr lang="zh-CN" altLang="en-US" sz="1600"/>
              <a:t>，腾势</a:t>
            </a:r>
            <a:r>
              <a:rPr lang="en-US" altLang="zh-CN" sz="1600"/>
              <a:t>D9</a:t>
            </a:r>
            <a:r>
              <a:rPr lang="zh-CN" altLang="en-US" sz="1600"/>
              <a:t>，高山</a:t>
            </a:r>
            <a:r>
              <a:rPr lang="en-US" altLang="zh-CN" sz="1600"/>
              <a:t>8</a:t>
            </a:r>
            <a:r>
              <a:rPr lang="zh-CN" altLang="en-US" sz="1600"/>
              <a:t>，别克</a:t>
            </a:r>
            <a:r>
              <a:rPr lang="en-US" altLang="zh-CN" sz="1600"/>
              <a:t>GL8 PHEV </a:t>
            </a:r>
            <a:r>
              <a:rPr lang="zh-CN" altLang="en-US" sz="1600"/>
              <a:t>，理想</a:t>
            </a:r>
            <a:r>
              <a:rPr lang="en-US" altLang="zh-CN" sz="1600"/>
              <a:t>MEGA</a:t>
            </a:r>
            <a:r>
              <a:rPr lang="zh-CN" altLang="en-US" sz="1600"/>
              <a:t>，</a:t>
            </a:r>
            <a:r>
              <a:rPr lang="en-US" altLang="zh-CN" sz="1600"/>
              <a:t>ELYSION</a:t>
            </a:r>
            <a:endParaRPr lang="en-US" altLang="zh-CN" sz="16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高山用户最满意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+mn-ea"/>
              </a:rPr>
              <a:t>分析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55820" y="908685"/>
            <a:ext cx="7322820" cy="10318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3880" y="2068195"/>
            <a:ext cx="6336665" cy="4192905"/>
          </a:xfrm>
          <a:prstGeom prst="rect">
            <a:avLst/>
          </a:prstGeom>
        </p:spPr>
      </p:pic>
      <p:graphicFrame>
        <p:nvGraphicFramePr>
          <p:cNvPr id="25" name="表格 24"/>
          <p:cNvGraphicFramePr/>
          <p:nvPr/>
        </p:nvGraphicFramePr>
        <p:xfrm>
          <a:off x="175895" y="2068195"/>
          <a:ext cx="5467985" cy="4063365"/>
        </p:xfrm>
        <a:graphic>
          <a:graphicData uri="http://schemas.openxmlformats.org/drawingml/2006/table">
            <a:tbl>
              <a:tblPr/>
              <a:tblGrid>
                <a:gridCol w="607695"/>
                <a:gridCol w="607695"/>
                <a:gridCol w="607060"/>
                <a:gridCol w="607695"/>
                <a:gridCol w="607695"/>
                <a:gridCol w="607695"/>
                <a:gridCol w="607060"/>
                <a:gridCol w="607695"/>
                <a:gridCol w="607695"/>
              </a:tblGrid>
              <a:tr h="304800"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总提及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提及占比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非常满意次数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1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非常满意占比</a:t>
                      </a:r>
                      <a:endParaRPr lang="zh-CN" altLang="en-US" sz="1000" b="1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205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45.4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169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13.5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35.5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购车价格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31.9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6.9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23.9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动力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智能驾驶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20.8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品牌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20.7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使用成本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智能座舱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18.6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操控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19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5.6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5082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</a:t>
                      </a:r>
                      <a:endParaRPr lang="zh-CN" altLang="en-US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4.7</a:t>
                      </a:r>
                      <a:endParaRPr lang="en-US" altLang="zh-CN" sz="1000" b="0" i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/>
          <p:nvPr>
            <p:custDataLst>
              <p:tags r:id="rId2"/>
            </p:custDataLst>
          </p:nvPr>
        </p:nvGraphicFramePr>
        <p:xfrm>
          <a:off x="176530" y="589915"/>
          <a:ext cx="11765915" cy="1409700"/>
        </p:xfrm>
        <a:graphic>
          <a:graphicData uri="http://schemas.openxmlformats.org/drawingml/2006/table">
            <a:tbl>
              <a:tblPr/>
              <a:tblGrid>
                <a:gridCol w="636905"/>
                <a:gridCol w="635635"/>
                <a:gridCol w="635635"/>
                <a:gridCol w="636905"/>
                <a:gridCol w="635635"/>
                <a:gridCol w="636905"/>
                <a:gridCol w="635000"/>
                <a:gridCol w="7313295"/>
              </a:tblGrid>
              <a:tr h="339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发表时间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行驶里程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裸车购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买价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购买时间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购买地点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最满意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0699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款 四驱高山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2026/2/28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12000km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29.00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德州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众里寻他千百度，蓦然回首，高山就在灯火阑珊处！平时出去工作或者出门游玩，拉一车人也不拥挤，每个人都坐着舒服，开出去还有面儿。尤其是今年还是央视新媒体指定用车，更牛了！平时一家人出门，七座刚好坐满，老人、孩子、老婆都有自己舒服的位置，孩子有玩的，大人还解放双手！我家的孩子最喜欢的就是第二排的娱乐屏，平时出去玩，孩子总是吵着看手机，这下好了。一路上一点也不闹！一大家子出门，一台车就够了，不用开两辆车，省心、省钱、还安全。虽然车大，但是很灵活。我老婆也能轻松驾驭！对女性朋友也很友好，不用担心剐蹭问题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327" y="1887458"/>
            <a:ext cx="1581733" cy="1637112"/>
          </a:xfrm>
          <a:prstGeom prst="rect">
            <a:avLst/>
          </a:prstGeom>
        </p:spPr>
      </p:pic>
      <p:sp>
        <p:nvSpPr>
          <p:cNvPr id="25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岚图梦想家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236538" y="848060"/>
          <a:ext cx="4106862" cy="1061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2634"/>
                <a:gridCol w="440604"/>
                <a:gridCol w="440604"/>
                <a:gridCol w="440604"/>
                <a:gridCol w="440604"/>
                <a:gridCol w="440604"/>
                <a:gridCol w="440604"/>
                <a:gridCol w="440604"/>
              </a:tblGrid>
              <a:tr h="3332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42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岚图梦想家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86.9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94.2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82.5</a:t>
                      </a: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85.1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92.7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77.5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90.8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42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样本均值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85.1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92.4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84.0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78.9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91.2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74.5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88.5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4437216" y="848059"/>
          <a:ext cx="7518247" cy="2472270"/>
        </p:xfrm>
        <a:graphic>
          <a:graphicData uri="http://schemas.openxmlformats.org/drawingml/2006/table">
            <a:tbl>
              <a:tblPr/>
              <a:tblGrid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</a:tblGrid>
              <a:tr h="2690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整体造型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349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1594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辅助驾驶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335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1198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配置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305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90.5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纯电续航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299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76.6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20.4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驾驶感受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加速性能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292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1398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材质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278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1447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后备箱空间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277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1458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93.1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第三排空间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274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1458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83.6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中控设计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271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1447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82.3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747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前脸设计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265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1594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矩形 28"/>
          <p:cNvSpPr/>
          <p:nvPr/>
        </p:nvSpPr>
        <p:spPr>
          <a:xfrm>
            <a:off x="236538" y="3552092"/>
            <a:ext cx="11718925" cy="30087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47870" y="3627783"/>
          <a:ext cx="5715000" cy="2823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090"/>
                <a:gridCol w="1422400"/>
                <a:gridCol w="3817510"/>
              </a:tblGrid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排序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  <a:endParaRPr lang="zh-CN" altLang="en-US" sz="12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举例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内饰材质满意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大面积采用软质材料进行包裹处理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加速强劲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超车操作变得极为轻松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悬架减震舒适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滤震处理得相当柔和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座椅舒服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座椅的包裹性和柔软度都恰到好处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行驶稳定性好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过弯时车身姿态稳健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储物空间设计合理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后备箱里还有实用的挂钩和隐藏储物格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后备厢空间大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那么后备箱的空间会立马变得宽敞起来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续航里程长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续航稳定性也很好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车头设计耐看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前脸的格栅造型精致大气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7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+mn-ea"/>
                          <a:ea typeface="+mn-ea"/>
                        </a:rPr>
                        <a:t>车身霸气</a:t>
                      </a:r>
                      <a:endParaRPr lang="en-US" altLang="zh-CN" sz="12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整车外观兼顾了大气与精致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203950" y="3649479"/>
          <a:ext cx="5638801" cy="2802228"/>
        </p:xfrm>
        <a:graphic>
          <a:graphicData uri="http://schemas.openxmlformats.org/drawingml/2006/table">
            <a:tbl>
              <a:tblPr/>
              <a:tblGrid>
                <a:gridCol w="502145"/>
                <a:gridCol w="1341746"/>
                <a:gridCol w="3794910"/>
              </a:tblGrid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排序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  <a:endParaRPr lang="zh-CN" alt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举例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风噪大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高速风噪偏大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车机不好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还有就是车机偶尔会反应慢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胎噪大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同时胎噪同样会有所增大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电耗大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后半程掉电飞快的情况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导航系统不好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并且影响导航的使用流畅度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内饰易脏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浅色内饰特别容易弄脏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优惠幅度小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感觉这互联的便捷性大打折扣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冬天续航小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纯电续航冬天不够用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车机反应慢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车机刚启动那几秒反应慢半拍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7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保值率低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保值率估计也差点意思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矩形 43"/>
          <p:cNvSpPr/>
          <p:nvPr/>
        </p:nvSpPr>
        <p:spPr>
          <a:xfrm>
            <a:off x="6294119" y="3372327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不满意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99451" y="3363719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满意项目</a:t>
            </a:r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/>
        </p:nvGraphicFramePr>
        <p:xfrm>
          <a:off x="-6297938" y="274439"/>
          <a:ext cx="5715000" cy="2902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662"/>
                <a:gridCol w="830975"/>
                <a:gridCol w="4577363"/>
              </a:tblGrid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排序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满意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举例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94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内饰材质满意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麂皮绒顶棚摸上去细腻； 内饰用料颇为下本，所触之处皆为柔软材质，门板处设有实木饰板增添质感。；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加速强劲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双电机四驱总功率</a:t>
                      </a:r>
                      <a:r>
                        <a:rPr lang="en-US" altLang="zh-CN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490kW</a:t>
                      </a: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扭矩</a:t>
                      </a:r>
                      <a:r>
                        <a:rPr lang="en-US" altLang="zh-CN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915</a:t>
                      </a: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牛米零百</a:t>
                      </a:r>
                      <a:r>
                        <a:rPr lang="en-US" altLang="zh-CN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5.9</a:t>
                      </a: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秒，电门响应跟脚，红绿灯起步基本第一批走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悬架减震舒适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魔毯空气悬架过减速带不颠，路面有大坑洼也能滤掉；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座椅舒服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座椅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26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点按摩比我家那台老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Q5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贴合，跑长途把它开着肩背不紧； 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16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行驶稳定性好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在高速行驶时稳定性良好，即便车速达到</a:t>
                      </a:r>
                      <a:r>
                        <a:rPr lang="en-US" altLang="zh-CN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码，车内人员也能够正常说话交流。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16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储物空间设计合理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车里零碎格子不少，门板格子深，扶手箱空间大，充电线纸巾都能找到角落；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94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后备厢空间大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i="0" u="none" strike="noStrike">
                          <a:solidFill>
                            <a:srgbClr val="0055FF"/>
                          </a:solidFill>
                          <a:effectLst/>
                          <a:latin typeface="+mn-ea"/>
                          <a:ea typeface="+mn-ea"/>
                        </a:rPr>
                        <a:t>后备箱满座能塞两个二十八寸箱子外加几个背包，上次帮朋友搬家把三排放倒，直接把一个单人沙发推进去； 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16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续航里程长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这车标的是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CLTC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纯电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350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公里，我在市区开空调实测大概</a:t>
                      </a:r>
                      <a:r>
                        <a:rPr kumimoji="0" lang="en-US" altLang="zh-CN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290</a:t>
                      </a:r>
                      <a:r>
                        <a:rPr kumimoji="0" lang="zh-CN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上下；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车头设计耐看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其车身尺寸颇为可观，作为一辆长度超过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米的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MPV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55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车型，其线条给人的感觉是舒展且大气的，并不会让人觉得臃肿或者浮夸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5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4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车身霸气</a:t>
                      </a:r>
                      <a:endParaRPr lang="en-US" altLang="zh-CN" sz="1000" b="0" i="0" u="none" strike="noStrike" dirty="0">
                        <a:solidFill>
                          <a:srgbClr val="0055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851" y="1714003"/>
            <a:ext cx="1687265" cy="1747103"/>
          </a:xfrm>
          <a:prstGeom prst="rect">
            <a:avLst/>
          </a:prstGeom>
        </p:spPr>
      </p:pic>
      <p:sp>
        <p:nvSpPr>
          <p:cNvPr id="2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腾势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D9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91155" y="848060"/>
          <a:ext cx="3881126" cy="971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/>
                <a:gridCol w="416386"/>
                <a:gridCol w="416386"/>
                <a:gridCol w="416386"/>
                <a:gridCol w="416386"/>
                <a:gridCol w="416386"/>
                <a:gridCol w="416386"/>
                <a:gridCol w="416386"/>
              </a:tblGrid>
              <a:tr h="19101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3353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腾势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D9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85.9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94.5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86.5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87.7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93.9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80.2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89.1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353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样本均值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85.1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92.4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84.0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78.9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91.2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74.5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88.5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437216" y="848058"/>
          <a:ext cx="7518247" cy="2519400"/>
        </p:xfrm>
        <a:graphic>
          <a:graphicData uri="http://schemas.openxmlformats.org/drawingml/2006/table">
            <a:tbl>
              <a:tblPr/>
              <a:tblGrid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  <a:gridCol w="683477"/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整体造型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1473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1554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5199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94.8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驾驶感受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加速性能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1411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1483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5395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纯电续航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885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1124</a:t>
                      </a:r>
                      <a:endParaRPr lang="en-US" altLang="zh-CN" sz="10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3466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78.7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中控设计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866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1027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84.3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前脸设计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978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1014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5199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价格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981</a:t>
                      </a:r>
                      <a:endParaRPr lang="en-US" altLang="zh-CN" sz="1000" b="0" i="0" u="none" strike="noStrike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3261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材质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953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配置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894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934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3261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座椅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865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911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0879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车身线条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880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895</a:t>
                      </a:r>
                      <a:endParaRPr lang="en-US" altLang="zh-CN" sz="10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5199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98.3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级雷达图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各维度提及率和满意度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27014" y="3552092"/>
            <a:ext cx="11728450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1619" y="3409212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满意项目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271619" y="3718560"/>
          <a:ext cx="5763421" cy="25350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0665"/>
                <a:gridCol w="1483274"/>
                <a:gridCol w="3679482"/>
              </a:tblGrid>
              <a:tr h="19496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排序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  <a:endParaRPr lang="zh-CN" altLang="en-US" sz="1200" b="0" i="0" u="none" strike="noStrike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举例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舒适性不错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选车时最看重舒适性和实用性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内饰材质满意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内饰用料很实在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加速强劲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加速也轻快，就算坐满了人超车也不慢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座椅舒适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座椅舒适的加分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前排头部空间足够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头部不顶头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储物空间设计合理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车内储物格特别多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续航里程大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续航表现真的让我很惊喜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油耗低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混动模式下油耗也很经济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车头设计耐看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前脸没有过度张扬的设计</a:t>
                      </a:r>
                      <a:endParaRPr kumimoji="0" lang="en-US" altLang="zh-C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4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行驶稳定性不错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高速行驶时车身很稳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203950" y="3718560"/>
          <a:ext cx="5530854" cy="2535069"/>
        </p:xfrm>
        <a:graphic>
          <a:graphicData uri="http://schemas.openxmlformats.org/drawingml/2006/table">
            <a:tbl>
              <a:tblPr/>
              <a:tblGrid>
                <a:gridCol w="501650"/>
                <a:gridCol w="1256371"/>
                <a:gridCol w="3772833"/>
              </a:tblGrid>
              <a:tr h="19149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序号</a:t>
                      </a:r>
                      <a:endParaRPr lang="zh-CN" altLang="en-US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  <a:endParaRPr lang="zh-CN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重要度</a:t>
                      </a: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内饰异味大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提车时车内味道有点重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风噪大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会有一些风噪传进来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19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车机不好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车机屏幕触摸太灵敏了感觉有点连键了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胎噪大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上了高速速度跑起来后胎噪有点大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7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内饰易脏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浅色内饰温馨但确实不耐脏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中控台易留指纹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二是中控的钢琴漆面板太容易留指纹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底盘太低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毕竟底盘低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车漆薄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唯一的槽点是车漆确实偏薄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发动机异响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1.5T</a:t>
                      </a:r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发动机的嗡嗡声会穿透座舱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317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车机反应慢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车机互动有时候反应不是很灵敏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8353169" y="3461106"/>
            <a:ext cx="1495501" cy="28576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不满意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TOP10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TABLE_ENDDRAG_ORIGIN_RECT" val="308*287"/>
  <p:tag name="TABLE_ENDDRAG_RECT" val="619*196*308*287"/>
</p:tagLst>
</file>

<file path=ppt/tags/tag8.xml><?xml version="1.0" encoding="utf-8"?>
<p:tagLst xmlns:p="http://schemas.openxmlformats.org/presentationml/2006/main">
  <p:tag name="TABLE_ENDDRAG_ORIGIN_RECT" val="926*111"/>
  <p:tag name="TABLE_ENDDRAG_RECT" val="13*46*926*111"/>
</p:tagLst>
</file>

<file path=ppt/tags/tag9.xml><?xml version="1.0" encoding="utf-8"?>
<p:tagLst xmlns:p="http://schemas.openxmlformats.org/presentationml/2006/main">
  <p:tag name="ISLIDE.GUIDESSETTING" val="{&quot;Id&quot;:&quot;613d1c63-231d-492f-92de-8efe58046652&quot;,&quot;Name&quot;:&quot;创未来2030&quot;,&quot;Kind&quot;:&quot;Custom&quot;,&quot;OldGuidesSetting&quot;:{&quot;HeaderHeight&quot;:10.0,&quot;FooterHeight&quot;:6.0,&quot;SideMargin&quot;:4.0,&quot;TopMargin&quot;:0.0,&quot;BottomMargin&quot;:0.0,&quot;IntervalMargin&quot;:1.5}}"/>
  <p:tag name="COMMONDATA" val="eyJoZGlkIjoiZDJlYzAzNzhmMzRiMmMwZTdjY2VmNmE3NzYzZDFhNmYifQ=="/>
</p:tagLst>
</file>

<file path=ppt/theme/theme1.xml><?xml version="1.0" encoding="utf-8"?>
<a:theme xmlns:a="http://schemas.openxmlformats.org/drawingml/2006/main" name="2_版1">
  <a:themeElements>
    <a:clrScheme name="创未来2030">
      <a:dk1>
        <a:srgbClr val="000000"/>
      </a:dk1>
      <a:lt1>
        <a:srgbClr val="FFFFFF"/>
      </a:lt1>
      <a:dk2>
        <a:srgbClr val="898989"/>
      </a:dk2>
      <a:lt2>
        <a:srgbClr val="F0F0F0"/>
      </a:lt2>
      <a:accent1>
        <a:srgbClr val="006FBC"/>
      </a:accent1>
      <a:accent2>
        <a:srgbClr val="094AA8"/>
      </a:accent2>
      <a:accent3>
        <a:srgbClr val="4B4B4B"/>
      </a:accent3>
      <a:accent4>
        <a:srgbClr val="898989"/>
      </a:accent4>
      <a:accent5>
        <a:srgbClr val="F0F0F0"/>
      </a:accent5>
      <a:accent6>
        <a:srgbClr val="E60020"/>
      </a:accent6>
      <a:hlink>
        <a:srgbClr val="000000"/>
      </a:hlink>
      <a:folHlink>
        <a:srgbClr val="006FBC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rgbClr val="0000FF"/>
          </a:solidFill>
        </a:ln>
      </a:spPr>
      <a:bodyPr lIns="0" tIns="0" rIns="0" bIns="0" rtlCol="0" anchor="ctr"/>
      <a:lstStyle>
        <a:defPPr algn="ctr">
          <a:defRPr sz="1400" b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0" marR="0" indent="0" algn="l" defTabSz="914400" rtl="0" eaLnBrk="1" fontAlgn="auto" latinLnBrk="0" hangingPunct="1">
          <a:lnSpc>
            <a:spcPct val="120000"/>
          </a:lnSpc>
          <a:spcBef>
            <a:spcPts val="0"/>
          </a:spcBef>
          <a:spcAft>
            <a:spcPts val="600"/>
          </a:spcAft>
          <a:buClrTx/>
          <a:buSzTx/>
          <a:buFont typeface="Arial" panose="020B0604020202020204" pitchFamily="34" charset="0"/>
          <a:buNone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5384</Words>
  <Application>WPS 演示</Application>
  <PresentationFormat>宽屏</PresentationFormat>
  <Paragraphs>1853</Paragraphs>
  <Slides>6</Slides>
  <Notes>1</Notes>
  <HiddenSlides>5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阿里巴巴普惠体 2.0 55 Regular</vt:lpstr>
      <vt:lpstr>Calibri</vt:lpstr>
      <vt:lpstr>Arial Unicode MS</vt:lpstr>
      <vt:lpstr>等线</vt:lpstr>
      <vt:lpstr>阿里巴巴普惠体 2.0 55 Regular</vt:lpstr>
      <vt:lpstr>Segoe Print</vt:lpstr>
      <vt:lpstr>锐字逼格青春体简2.0</vt:lpstr>
      <vt:lpstr>2_版1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温舒童</dc:creator>
  <cp:lastModifiedBy>TX。</cp:lastModifiedBy>
  <cp:revision>1813</cp:revision>
  <cp:lastPrinted>2024-02-22T08:53:00Z</cp:lastPrinted>
  <dcterms:created xsi:type="dcterms:W3CDTF">2024-02-22T08:53:00Z</dcterms:created>
  <dcterms:modified xsi:type="dcterms:W3CDTF">2026-03-24T09:11:32Z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3F7184263F1A4F1AAA25FB121971B382_13</vt:lpwstr>
  </property>
  <property fmtid="{D5CDD505-2E9C-101B-9397-08002B2CF9AE}" pid="3" name="KSOProductBuildVer">
    <vt:lpwstr>2052-12.1.0.25225</vt:lpwstr>
  </property>
  <property fmtid="{D5CDD505-2E9C-101B-9397-08002B2CF9AE}" pid="4" name="_KSOProductBuildMID">
    <vt:lpwstr>CYWMI6GJ79TA00HGRPRNDLJF7N8MOSYR9U0XUJDVXGI8TE5TZ7BRIC0IFYYTP8RRXFMXJOLSZIX78PXJQFFT6FFA8RM0WOLB8SODDHB3F355F6247476E3F7BA96930F70AD87B9</vt:lpwstr>
  </property>
  <property fmtid="{D5CDD505-2E9C-101B-9397-08002B2CF9AE}" pid="5" name="_KSOProductBuildSID">
    <vt:lpwstr>CQWMP6GJ796Q06TG9ZRNYL097NL0OSVREF0XOJDXXGPRTECTN0BRPC0PFYRTPB8RBSM6COL5ZIW78PNJROFT6FF78RNMWHLBAOODPHB34E019711336597F7A194F050DF61F50A</vt:lpwstr>
  </property>
</Properties>
</file>
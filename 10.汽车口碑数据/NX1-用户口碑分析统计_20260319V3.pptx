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16671786" r:id="rId2"/>
    <p:sldId id="16671787" r:id="rId3"/>
    <p:sldId id="16671798" r:id="rId4"/>
    <p:sldId id="16671800" r:id="rId5"/>
    <p:sldId id="16671801" r:id="rId6"/>
    <p:sldId id="16671802" r:id="rId7"/>
    <p:sldId id="16671803" r:id="rId8"/>
    <p:sldId id="16671804" r:id="rId9"/>
  </p:sldIdLst>
  <p:sldSz cx="12192000" cy="6858000"/>
  <p:notesSz cx="6805613" cy="9939338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NX1分析-用户口碑分析" id="{5B6EF919-5F52-45D1-AAD5-A82F0E7E4B71}">
          <p14:sldIdLst>
            <p14:sldId id="16671786"/>
            <p14:sldId id="16671787"/>
            <p14:sldId id="16671798"/>
            <p14:sldId id="16671800"/>
            <p14:sldId id="16671801"/>
            <p14:sldId id="16671802"/>
            <p14:sldId id="16671803"/>
            <p14:sldId id="16671804"/>
          </p14:sldIdLst>
        </p14:section>
      </p14:sectionLst>
    </p:ext>
    <p:ext uri="{EFAFB233-063F-42B5-8137-9DF3F51BA10A}">
      <p15:sldGuideLst xmlns:p15="http://schemas.microsoft.com/office/powerpoint/2012/main">
        <p15:guide id="1" pos="143" userDrawn="1">
          <p15:clr>
            <a:srgbClr val="A4A3A4"/>
          </p15:clr>
        </p15:guide>
        <p15:guide id="2" pos="7460" userDrawn="1">
          <p15:clr>
            <a:srgbClr val="A4A3A4"/>
          </p15:clr>
        </p15:guide>
        <p15:guide id="3" orient="horz" pos="60" userDrawn="1">
          <p15:clr>
            <a:srgbClr val="A4A3A4"/>
          </p15:clr>
        </p15:guide>
        <p15:guide id="5" orient="horz" pos="3827" userDrawn="1">
          <p15:clr>
            <a:srgbClr val="A4A3A4"/>
          </p15:clr>
        </p15:guide>
        <p15:guide id="7" orient="horz" pos="2069" userDrawn="1">
          <p15:clr>
            <a:srgbClr val="A4A3A4"/>
          </p15:clr>
        </p15:guide>
        <p15:guide id="8" pos="39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童鑫" initials="童鑫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FFC000"/>
    <a:srgbClr val="E7EBF4"/>
    <a:srgbClr val="CBD5E7"/>
    <a:srgbClr val="FF0035"/>
    <a:srgbClr val="D9D9D9"/>
    <a:srgbClr val="BFBFBF"/>
    <a:srgbClr val="005089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12" autoAdjust="0"/>
    <p:restoredTop sz="95153" autoAdjust="0"/>
  </p:normalViewPr>
  <p:slideViewPr>
    <p:cSldViewPr snapToGrid="0" showGuides="1">
      <p:cViewPr varScale="1">
        <p:scale>
          <a:sx n="77" d="100"/>
          <a:sy n="77" d="100"/>
        </p:scale>
        <p:origin x="864" y="48"/>
      </p:cViewPr>
      <p:guideLst>
        <p:guide pos="143"/>
        <p:guide pos="7460"/>
        <p:guide orient="horz" pos="60"/>
        <p:guide orient="horz" pos="3827"/>
        <p:guide orient="horz" pos="2069"/>
        <p:guide pos="3908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50" d="100"/>
        <a:sy n="150" d="100"/>
      </p:scale>
      <p:origin x="0" y="-2610"/>
    </p:cViewPr>
  </p:sorterViewPr>
  <p:notesViewPr>
    <p:cSldViewPr snapToGrid="0">
      <p:cViewPr varScale="1">
        <p:scale>
          <a:sx n="51" d="100"/>
          <a:sy n="51" d="100"/>
        </p:scale>
        <p:origin x="151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75D67-55C7-4994-A130-9BF0F244F461}" type="datetimeFigureOut">
              <a:rPr lang="zh-CN" altLang="en-US" smtClean="0"/>
              <a:t>2026-03-19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6D0D5-FB3E-4D40-9677-6001CCC90F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6D0D5-FB3E-4D40-9677-6001CCC90F5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3546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间页-带底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483419" y="530073"/>
            <a:ext cx="11213281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 userDrawn="1"/>
        </p:nvGrpSpPr>
        <p:grpSpPr>
          <a:xfrm>
            <a:off x="-309880" y="6558280"/>
            <a:ext cx="12526645" cy="352425"/>
            <a:chOff x="-309880" y="6558280"/>
            <a:chExt cx="12526645" cy="352425"/>
          </a:xfrm>
        </p:grpSpPr>
        <p:grpSp>
          <p:nvGrpSpPr>
            <p:cNvPr id="11" name="组合 10"/>
            <p:cNvGrpSpPr/>
            <p:nvPr userDrawn="1"/>
          </p:nvGrpSpPr>
          <p:grpSpPr>
            <a:xfrm>
              <a:off x="-309880" y="6610032"/>
              <a:ext cx="11226800" cy="248920"/>
              <a:chOff x="2433189" y="6676080"/>
              <a:chExt cx="8256714" cy="188035"/>
            </a:xfrm>
          </p:grpSpPr>
          <p:sp>
            <p:nvSpPr>
              <p:cNvPr id="13" name="平行四边形 12"/>
              <p:cNvSpPr/>
              <p:nvPr userDrawn="1">
                <p:custDataLst>
                  <p:tags r:id="rId2"/>
                </p:custDataLst>
              </p:nvPr>
            </p:nvSpPr>
            <p:spPr>
              <a:xfrm>
                <a:off x="9890415" y="6676080"/>
                <a:ext cx="216541" cy="188035"/>
              </a:xfrm>
              <a:prstGeom prst="parallelogram">
                <a:avLst>
                  <a:gd name="adj" fmla="val 71393"/>
                </a:avLst>
              </a:prstGeom>
              <a:solidFill>
                <a:schemeClr val="accent6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4" name="平行四边形 13"/>
              <p:cNvSpPr/>
              <p:nvPr userDrawn="1">
                <p:custDataLst>
                  <p:tags r:id="rId3"/>
                </p:custDataLst>
              </p:nvPr>
            </p:nvSpPr>
            <p:spPr>
              <a:xfrm>
                <a:off x="10084731" y="6676080"/>
                <a:ext cx="216541" cy="188035"/>
              </a:xfrm>
              <a:prstGeom prst="parallelogram">
                <a:avLst>
                  <a:gd name="adj" fmla="val 71393"/>
                </a:avLst>
              </a:prstGeom>
              <a:solidFill>
                <a:schemeClr val="accent6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5" name="平行四边形 14"/>
              <p:cNvSpPr/>
              <p:nvPr userDrawn="1">
                <p:custDataLst>
                  <p:tags r:id="rId4"/>
                </p:custDataLst>
              </p:nvPr>
            </p:nvSpPr>
            <p:spPr>
              <a:xfrm>
                <a:off x="10279047" y="6676080"/>
                <a:ext cx="216541" cy="188035"/>
              </a:xfrm>
              <a:prstGeom prst="parallelogram">
                <a:avLst>
                  <a:gd name="adj" fmla="val 71393"/>
                </a:avLst>
              </a:prstGeom>
              <a:solidFill>
                <a:schemeClr val="accent6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6" name="平行四边形 15"/>
              <p:cNvSpPr/>
              <p:nvPr userDrawn="1">
                <p:custDataLst>
                  <p:tags r:id="rId5"/>
                </p:custDataLst>
              </p:nvPr>
            </p:nvSpPr>
            <p:spPr>
              <a:xfrm>
                <a:off x="10473362" y="6676080"/>
                <a:ext cx="216541" cy="188035"/>
              </a:xfrm>
              <a:prstGeom prst="parallelogram">
                <a:avLst>
                  <a:gd name="adj" fmla="val 71393"/>
                </a:avLst>
              </a:prstGeom>
              <a:solidFill>
                <a:schemeClr val="accent6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7" name="平行四边形 16"/>
              <p:cNvSpPr/>
              <p:nvPr userDrawn="1">
                <p:custDataLst>
                  <p:tags r:id="rId6"/>
                </p:custDataLst>
              </p:nvPr>
            </p:nvSpPr>
            <p:spPr>
              <a:xfrm>
                <a:off x="2433189" y="6676080"/>
                <a:ext cx="7479572" cy="188035"/>
              </a:xfrm>
              <a:prstGeom prst="parallelogram">
                <a:avLst>
                  <a:gd name="adj" fmla="val 71393"/>
                </a:avLst>
              </a:prstGeom>
              <a:gradFill>
                <a:gsLst>
                  <a:gs pos="0">
                    <a:schemeClr val="accent6">
                      <a:alpha val="0"/>
                    </a:schemeClr>
                  </a:gs>
                  <a:gs pos="100000">
                    <a:schemeClr val="accent6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  <p:pic>
          <p:nvPicPr>
            <p:cNvPr id="12" name="图片 11" descr="E:\Desktop\300ppi\资源 2-3.png资源 2-3"/>
            <p:cNvPicPr>
              <a:picLocks noChangeAspect="1"/>
            </p:cNvPicPr>
            <p:nvPr userDrawn="1">
              <p:custDataLst>
                <p:tags r:id="rId1"/>
              </p:custDataLst>
            </p:nvPr>
          </p:nvPicPr>
          <p:blipFill>
            <a:blip r:embed="rId8"/>
            <a:srcRect/>
            <a:stretch>
              <a:fillRect/>
            </a:stretch>
          </p:blipFill>
          <p:spPr>
            <a:xfrm>
              <a:off x="10906760" y="6558280"/>
              <a:ext cx="1310005" cy="352425"/>
            </a:xfrm>
            <a:prstGeom prst="rect">
              <a:avLst/>
            </a:prstGeom>
          </p:spPr>
        </p:pic>
      </p:grpSp>
      <p:sp>
        <p:nvSpPr>
          <p:cNvPr id="18" name="TextBox 5"/>
          <p:cNvSpPr txBox="1">
            <a:spLocks noChangeArrowheads="1"/>
          </p:cNvSpPr>
          <p:nvPr userDrawn="1"/>
        </p:nvSpPr>
        <p:spPr bwMode="auto">
          <a:xfrm>
            <a:off x="10241274" y="200520"/>
            <a:ext cx="115677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5BDB7EF3-72B3-4AF8-AED4-FF44441B5A9C}" type="slidenum">
              <a:rPr lang="zh-CN" altLang="en-US" sz="1600" b="1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2.0 55 Regular" panose="00020600040101010101" pitchFamily="18" charset="-122"/>
              </a:rPr>
              <a:t>‹#›</a:t>
            </a:fld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2.0 55 Regular" panose="00020600040101010101" pitchFamily="18" charset="-122"/>
              </a:rPr>
              <a:t>/14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78FBB517-D013-ACE2-A8E7-2A12B0A2D7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51"/>
          <a:stretch>
            <a:fillRect/>
          </a:stretch>
        </p:blipFill>
        <p:spPr>
          <a:xfrm>
            <a:off x="694990" y="2734638"/>
            <a:ext cx="7026610" cy="3972163"/>
          </a:xfrm>
          <a:prstGeom prst="rect">
            <a:avLst/>
          </a:prstGeom>
        </p:spPr>
      </p:pic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1322709"/>
              </p:ext>
            </p:extLst>
          </p:nvPr>
        </p:nvGraphicFramePr>
        <p:xfrm>
          <a:off x="7871460" y="2900516"/>
          <a:ext cx="4084637" cy="36084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1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0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7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603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车型名称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</a:t>
                      </a:r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年后评论数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平均字数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总字数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0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腾势</a:t>
                      </a:r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1649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1092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180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03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别克</a:t>
                      </a:r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GL8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737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53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03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1148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138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51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奥德赛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9.4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51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艾力绅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4.8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03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赛那</a:t>
                      </a:r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SIENNA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51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魏牌 高山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973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7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小鹏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X9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7.4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770900"/>
                  </a:ext>
                </a:extLst>
              </a:tr>
              <a:tr h="3157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极氪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009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51776"/>
                  </a:ext>
                </a:extLst>
              </a:tr>
              <a:tr h="3157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别克</a:t>
                      </a:r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GL8</a:t>
                      </a:r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新能源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4.9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51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理想</a:t>
                      </a:r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MEGA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1.7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6912076" y="5002647"/>
            <a:ext cx="481781" cy="721360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标题 1"/>
          <p:cNvSpPr txBox="1"/>
          <p:nvPr/>
        </p:nvSpPr>
        <p:spPr bwMode="auto">
          <a:xfrm>
            <a:off x="0" y="95250"/>
            <a:ext cx="12192000" cy="35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2250"/>
              </a:lnSpc>
              <a:tabLst>
                <a:tab pos="32258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NX1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用户趋势分析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-1.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口碑数据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466205" y="5698607"/>
            <a:ext cx="1418590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选择</a:t>
            </a: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2022</a:t>
            </a: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年后数据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97027"/>
              </p:ext>
            </p:extLst>
          </p:nvPr>
        </p:nvGraphicFramePr>
        <p:xfrm>
          <a:off x="337185" y="618728"/>
          <a:ext cx="11618912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5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680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车型名称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总计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腾势</a:t>
                      </a:r>
                      <a:r>
                        <a:rPr 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592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1649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0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别克</a:t>
                      </a:r>
                      <a:r>
                        <a:rPr 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GL8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536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1582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0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157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532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0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奥德赛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80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艾力绅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80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赛那</a:t>
                      </a:r>
                      <a:r>
                        <a:rPr 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SIENNA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80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魏牌 高山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802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小鹏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X9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862640"/>
                  </a:ext>
                </a:extLst>
              </a:tr>
              <a:tr h="1680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极氪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241427"/>
                  </a:ext>
                </a:extLst>
              </a:tr>
              <a:tr h="1680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别克</a:t>
                      </a:r>
                      <a:r>
                        <a:rPr 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GL8</a:t>
                      </a:r>
                      <a:r>
                        <a:rPr lang="zh-CN" alt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新能源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024395"/>
                  </a:ext>
                </a:extLst>
              </a:tr>
              <a:tr h="1680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理想</a:t>
                      </a:r>
                      <a:r>
                        <a:rPr 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MEGA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052239"/>
                  </a:ext>
                </a:extLst>
              </a:tr>
            </a:tbl>
          </a:graphicData>
        </a:graphic>
      </p:graphicFrame>
      <p:sp>
        <p:nvSpPr>
          <p:cNvPr id="24" name="任意多边形 23"/>
          <p:cNvSpPr/>
          <p:nvPr/>
        </p:nvSpPr>
        <p:spPr>
          <a:xfrm>
            <a:off x="1412240" y="3031607"/>
            <a:ext cx="924560" cy="447675"/>
          </a:xfrm>
          <a:custGeom>
            <a:avLst/>
            <a:gdLst>
              <a:gd name="connisteX0" fmla="*/ 0 w 924560"/>
              <a:gd name="connsiteY0" fmla="*/ 0 h 447886"/>
              <a:gd name="connisteX1" fmla="*/ 20320 w 924560"/>
              <a:gd name="connsiteY1" fmla="*/ 81280 h 447886"/>
              <a:gd name="connisteX2" fmla="*/ 20320 w 924560"/>
              <a:gd name="connsiteY2" fmla="*/ 152400 h 447886"/>
              <a:gd name="connisteX3" fmla="*/ 20320 w 924560"/>
              <a:gd name="connsiteY3" fmla="*/ 223520 h 447886"/>
              <a:gd name="connisteX4" fmla="*/ 20320 w 924560"/>
              <a:gd name="connsiteY4" fmla="*/ 294640 h 447886"/>
              <a:gd name="connisteX5" fmla="*/ 10160 w 924560"/>
              <a:gd name="connsiteY5" fmla="*/ 365760 h 447886"/>
              <a:gd name="connisteX6" fmla="*/ 50800 w 924560"/>
              <a:gd name="connsiteY6" fmla="*/ 436880 h 447886"/>
              <a:gd name="connisteX7" fmla="*/ 132080 w 924560"/>
              <a:gd name="connsiteY7" fmla="*/ 447040 h 447886"/>
              <a:gd name="connisteX8" fmla="*/ 203200 w 924560"/>
              <a:gd name="connsiteY8" fmla="*/ 447040 h 447886"/>
              <a:gd name="connisteX9" fmla="*/ 274320 w 924560"/>
              <a:gd name="connsiteY9" fmla="*/ 447040 h 447886"/>
              <a:gd name="connisteX10" fmla="*/ 345440 w 924560"/>
              <a:gd name="connsiteY10" fmla="*/ 447040 h 447886"/>
              <a:gd name="connisteX11" fmla="*/ 416560 w 924560"/>
              <a:gd name="connsiteY11" fmla="*/ 447040 h 447886"/>
              <a:gd name="connisteX12" fmla="*/ 487680 w 924560"/>
              <a:gd name="connsiteY12" fmla="*/ 447040 h 447886"/>
              <a:gd name="connisteX13" fmla="*/ 558800 w 924560"/>
              <a:gd name="connsiteY13" fmla="*/ 447040 h 447886"/>
              <a:gd name="connisteX14" fmla="*/ 640080 w 924560"/>
              <a:gd name="connsiteY14" fmla="*/ 447040 h 447886"/>
              <a:gd name="connisteX15" fmla="*/ 711200 w 924560"/>
              <a:gd name="connsiteY15" fmla="*/ 447040 h 447886"/>
              <a:gd name="connisteX16" fmla="*/ 782320 w 924560"/>
              <a:gd name="connsiteY16" fmla="*/ 436880 h 447886"/>
              <a:gd name="connisteX17" fmla="*/ 853440 w 924560"/>
              <a:gd name="connsiteY17" fmla="*/ 436880 h 447886"/>
              <a:gd name="connisteX18" fmla="*/ 924560 w 924560"/>
              <a:gd name="connsiteY18" fmla="*/ 436880 h 44788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</a:cxnLst>
            <a:rect l="l" t="t" r="r" b="b"/>
            <a:pathLst>
              <a:path w="924560" h="447887">
                <a:moveTo>
                  <a:pt x="0" y="0"/>
                </a:moveTo>
                <a:cubicBezTo>
                  <a:pt x="3810" y="14605"/>
                  <a:pt x="16510" y="50800"/>
                  <a:pt x="20320" y="81280"/>
                </a:cubicBezTo>
                <a:cubicBezTo>
                  <a:pt x="24130" y="111760"/>
                  <a:pt x="20320" y="123825"/>
                  <a:pt x="20320" y="152400"/>
                </a:cubicBezTo>
                <a:cubicBezTo>
                  <a:pt x="20320" y="180975"/>
                  <a:pt x="20320" y="194945"/>
                  <a:pt x="20320" y="223520"/>
                </a:cubicBezTo>
                <a:cubicBezTo>
                  <a:pt x="20320" y="252095"/>
                  <a:pt x="22225" y="266065"/>
                  <a:pt x="20320" y="294640"/>
                </a:cubicBezTo>
                <a:cubicBezTo>
                  <a:pt x="18415" y="323215"/>
                  <a:pt x="3810" y="337185"/>
                  <a:pt x="10160" y="365760"/>
                </a:cubicBezTo>
                <a:cubicBezTo>
                  <a:pt x="16510" y="394335"/>
                  <a:pt x="26670" y="420370"/>
                  <a:pt x="50800" y="436880"/>
                </a:cubicBezTo>
                <a:cubicBezTo>
                  <a:pt x="74930" y="453390"/>
                  <a:pt x="101600" y="445135"/>
                  <a:pt x="132080" y="447040"/>
                </a:cubicBezTo>
                <a:cubicBezTo>
                  <a:pt x="162560" y="448945"/>
                  <a:pt x="174625" y="447040"/>
                  <a:pt x="203200" y="447040"/>
                </a:cubicBezTo>
                <a:cubicBezTo>
                  <a:pt x="231775" y="447040"/>
                  <a:pt x="245745" y="447040"/>
                  <a:pt x="274320" y="447040"/>
                </a:cubicBezTo>
                <a:cubicBezTo>
                  <a:pt x="302895" y="447040"/>
                  <a:pt x="316865" y="447040"/>
                  <a:pt x="345440" y="447040"/>
                </a:cubicBezTo>
                <a:cubicBezTo>
                  <a:pt x="374015" y="447040"/>
                  <a:pt x="387985" y="447040"/>
                  <a:pt x="416560" y="447040"/>
                </a:cubicBezTo>
                <a:cubicBezTo>
                  <a:pt x="445135" y="447040"/>
                  <a:pt x="459105" y="447040"/>
                  <a:pt x="487680" y="447040"/>
                </a:cubicBezTo>
                <a:cubicBezTo>
                  <a:pt x="516255" y="447040"/>
                  <a:pt x="528320" y="447040"/>
                  <a:pt x="558800" y="447040"/>
                </a:cubicBezTo>
                <a:cubicBezTo>
                  <a:pt x="589280" y="447040"/>
                  <a:pt x="609600" y="447040"/>
                  <a:pt x="640080" y="447040"/>
                </a:cubicBezTo>
                <a:cubicBezTo>
                  <a:pt x="670560" y="447040"/>
                  <a:pt x="682625" y="448945"/>
                  <a:pt x="711200" y="447040"/>
                </a:cubicBezTo>
                <a:cubicBezTo>
                  <a:pt x="739775" y="445135"/>
                  <a:pt x="753745" y="438785"/>
                  <a:pt x="782320" y="436880"/>
                </a:cubicBezTo>
                <a:cubicBezTo>
                  <a:pt x="810895" y="434975"/>
                  <a:pt x="824865" y="436880"/>
                  <a:pt x="853440" y="436880"/>
                </a:cubicBezTo>
                <a:cubicBezTo>
                  <a:pt x="882015" y="436880"/>
                  <a:pt x="911860" y="436880"/>
                  <a:pt x="924560" y="436880"/>
                </a:cubicBezTo>
              </a:path>
            </a:pathLst>
          </a:cu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CFC3094-80EE-28D2-8A06-FA9967CB119C}"/>
              </a:ext>
            </a:extLst>
          </p:cNvPr>
          <p:cNvSpPr/>
          <p:nvPr/>
        </p:nvSpPr>
        <p:spPr>
          <a:xfrm>
            <a:off x="713088" y="3196707"/>
            <a:ext cx="717250" cy="330708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09928"/>
              </p:ext>
            </p:extLst>
          </p:nvPr>
        </p:nvGraphicFramePr>
        <p:xfrm>
          <a:off x="295158" y="3224975"/>
          <a:ext cx="1059180" cy="3324508"/>
        </p:xfrm>
        <a:graphic>
          <a:graphicData uri="http://schemas.openxmlformats.org/drawingml/2006/table">
            <a:tbl>
              <a:tblPr/>
              <a:tblGrid>
                <a:gridCol w="1059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2228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腾势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228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别克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GL8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228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228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奥德赛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228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艾力绅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228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赛那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SIENNA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228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魏牌 高山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228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小鹏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X9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004309"/>
                  </a:ext>
                </a:extLst>
              </a:tr>
              <a:tr h="302228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极氪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009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415911"/>
                  </a:ext>
                </a:extLst>
              </a:tr>
              <a:tr h="302228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别克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GL8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新能源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228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理想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MEGA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/>
        </p:nvGraphicFramePr>
        <p:xfrm>
          <a:off x="236855" y="1355725"/>
          <a:ext cx="11609070" cy="2194560"/>
        </p:xfrm>
        <a:graphic>
          <a:graphicData uri="http://schemas.openxmlformats.org/drawingml/2006/table">
            <a:tbl>
              <a:tblPr/>
              <a:tblGrid>
                <a:gridCol w="41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25031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125031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总口</a:t>
                      </a:r>
                    </a:p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碑数量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在售</a:t>
                      </a:r>
                    </a:p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口碑数量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车型名称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车型版本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发表时间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行驶里程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夏季电耗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春秋电耗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冬季电耗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夏季续航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春秋续航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冬季续航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百公里</a:t>
                      </a:r>
                    </a:p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油耗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裸车购</a:t>
                      </a:r>
                    </a:p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买价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购买时间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购买地点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最满意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最不满意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空间评分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空间评论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072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749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2026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款 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PHEV 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乾崑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Ultra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2026/3/5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3700km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21.0kWh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290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公里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5.7L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41.90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Feb-26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深圳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最满意的其实不是智驾也不是动力，盯着第二排那两个零重力座椅，上周带我爸妈去密云单程一百多公里，他们平时坐车超过一小时就说腰紧，这次上了高速把座椅按摩开着腿托抬起来，两个人一路迷糊到目的地，我爸下车还念叨这椅子比家里那台芝华仕更合适，后排那个冷暖冰箱也好用，带娃路上水果酸奶都能放得稳，</a:t>
                      </a:r>
                      <a:r>
                        <a:rPr lang="en-US" altLang="zh-CN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17.3</a:t>
                      </a:r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寸的屏找个动画片一开，孩子安安静静，副驾那位打开剧集自己看，车里算是清净了一路。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不太喜欢的就出在装配工艺，提车那天瞅见驾驶侧门板和车门缝有点大，销售说每台车都差不多，我跑去展车看了眼确实一样，后来有次</a:t>
                      </a:r>
                      <a:r>
                        <a:rPr lang="en-US" altLang="zh-CN" sz="800" b="0" i="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ota</a:t>
                      </a:r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之后语音助手没动静，重启车机才恢复，倒车影像冷启动要等几秒，地下车库那次后面有个矮桩，屏幕没出来我就只能扭头看，云灰内饰视觉好看，家里有孩子的要多考虑，我家那个小祖宗上周在车上吃巧克力，蹭到座椅上了湿巾和清洁剂轮番上阵才弄干净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这车确实有底子，轴距三米二，二排腿能伸直，我身高一七八坐到第三排腿部还有一拳多，不是那种临时小板凳，后备箱满座能塞两个二十八寸箱子外加几个背包，上次帮朋友搬家把三排放倒，直接把一个单人沙发推进去，车身宽，老小区地库拐弯得放慢多看两眼，侧方停车靠边缘时心里要有距离，轮毂别蹭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236855" y="3639185"/>
          <a:ext cx="11730355" cy="2194560"/>
        </p:xfrm>
        <a:graphic>
          <a:graphicData uri="http://schemas.openxmlformats.org/drawingml/2006/table">
            <a:tbl>
              <a:tblPr/>
              <a:tblGrid>
                <a:gridCol w="383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8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4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9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9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24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503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81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6395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210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2321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2321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2321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2258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2321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驾驶感受评分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驾驶感受评论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续航</a:t>
                      </a:r>
                    </a:p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评分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续航评论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外观</a:t>
                      </a:r>
                    </a:p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评分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外观评论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内饰评分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内饰评论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性价比评分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性价比评论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智能化评分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智能化评论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油耗评分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油耗评论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配置评分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配置评论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观看数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点赞数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评论数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购车目的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072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这车开起来不像那么大的体型，双电机四驱总功率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490kW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扭矩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915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牛米零百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5.9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秒，电门响应跟脚，红绿灯起步基本第一批走，满载七人上高速加速并线不犹豫，后轮转向双向十度，掉头半径像紧凑型轿车，小区里双向车道一把就过去，魔毯空气悬架过减速带不颠，路面有大坑洼也能滤掉，急加速时发动机介入那一下噪音起来比较明显，高速上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柱风噪能听到。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这车标的是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CLTC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纯电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350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公里，我在市区开空调实测大概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290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上下，上下班通勤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公里一周补一次，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巡航掉得快一些在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220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左右，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5C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快充速度给到，有次在服务区去个洗手间买杯咖啡回来电量从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干到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，亏电油耗我跑高速测过七点八升，市区馈电八个多，纯电能耗二十度每百公里，算账下来比加油划算，电池包在底盘下面，走烂路会多看地面，护板厚但我还是会避开大坎。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选的是旭日紫，我就是想要个显眼的颜色，晴天看就是紫的，阴天又偏深灰，阳光下能看到漆面里的金属颗粒，邻居来问这是不是贴了改色膜，前脸那个扶摇直上格栅一排排镀铬饰条配贯穿大灯，远远看挺有辨识度，车长五米三，停到哪儿都比旁边车显得更大一圈，去洗车店师傅说按大型车算每次要多收二十，次数多了还是能感觉出来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选云灰，眼睛看着亮，比纯黑敞快些，比米色耐脏一点点，麂皮绒顶棚摸上去细腻，车里气味很轻，这点给好评，销售提到母婴级用料，接触下来不刺鼻，中控几块屏幕显示细腻，鸿蒙系统用起来跟家里华为平板一个路数，菜单层级偏深，想调个座椅按摩要多划几下，座椅</a:t>
                      </a:r>
                      <a:r>
                        <a:rPr lang="en-US" altLang="zh-CN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26</a:t>
                      </a:r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点按摩比我家那台老</a:t>
                      </a:r>
                      <a:r>
                        <a:rPr lang="en-US" altLang="zh-CN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Q5</a:t>
                      </a:r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贴合，跑长途把它开着肩背不紧。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按我这台算，裸车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42.99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万加智驾包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1.2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万保险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1.2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万购置税七千多，落地差不多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44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万，这个价位同时带华为乾崑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ADS 4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鸿蒙座舱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八百伏平台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5C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超充空悬加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CDC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后轮转向的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MPV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，目前就它一台，岚图背靠东风做事更稳，品牌层面心里更有底，售后网点少一些，去保养要跑三十公里，对比同配置的合资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MPV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价格就不在一个区间，我自己看完账觉得值得，早买早享受。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鸿蒙座舱</a:t>
                      </a:r>
                      <a:r>
                        <a:rPr lang="en-US" altLang="zh-CN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用起来顺，像在用华为平板，四音区识别挺准，岳母说把空调开大点系统能跟上，乾崑</a:t>
                      </a:r>
                      <a:r>
                        <a:rPr lang="en-US" altLang="zh-CN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ADS 4</a:t>
                      </a:r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在高速比较省力，自动变道给到动作，进出匝道也稳，城市场景还在磨合，遇到加塞时反应慢一些要接管，跨层泊车在地库跑过几次能自己找车位停进去，速度不快，后面车催的时候你就得让一让，</a:t>
                      </a:r>
                      <a:r>
                        <a:rPr lang="en-US" altLang="zh-CN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AR</a:t>
                      </a:r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感应尾门要对着地上的投影踢准，我媳妇儿老踢不到位，最后直接手按。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8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标题 1"/>
          <p:cNvSpPr txBox="1"/>
          <p:nvPr/>
        </p:nvSpPr>
        <p:spPr bwMode="auto">
          <a:xfrm>
            <a:off x="0" y="95250"/>
            <a:ext cx="12192000" cy="35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2250"/>
              </a:lnSpc>
              <a:tabLst>
                <a:tab pos="32258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NX1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用户趋势分析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-1.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口碑数据</a:t>
            </a:r>
          </a:p>
        </p:txBody>
      </p:sp>
      <p:sp>
        <p:nvSpPr>
          <p:cNvPr id="6" name="矩形 5"/>
          <p:cNvSpPr/>
          <p:nvPr/>
        </p:nvSpPr>
        <p:spPr>
          <a:xfrm>
            <a:off x="191135" y="1289050"/>
            <a:ext cx="6638290" cy="23031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853690" y="1166495"/>
            <a:ext cx="981710" cy="25781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基础信息</a:t>
            </a:r>
          </a:p>
        </p:txBody>
      </p:sp>
      <p:sp>
        <p:nvSpPr>
          <p:cNvPr id="8" name="矩形 7"/>
          <p:cNvSpPr/>
          <p:nvPr/>
        </p:nvSpPr>
        <p:spPr>
          <a:xfrm>
            <a:off x="6829425" y="1293495"/>
            <a:ext cx="2510790" cy="23031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526655" y="1166495"/>
            <a:ext cx="981710" cy="25781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核心信息</a:t>
            </a:r>
          </a:p>
        </p:txBody>
      </p:sp>
      <p:sp>
        <p:nvSpPr>
          <p:cNvPr id="9" name="矩形 8"/>
          <p:cNvSpPr/>
          <p:nvPr/>
        </p:nvSpPr>
        <p:spPr>
          <a:xfrm>
            <a:off x="191135" y="3639185"/>
            <a:ext cx="9149080" cy="23031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547350" y="1289050"/>
            <a:ext cx="1346835" cy="23031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756265" y="1166495"/>
            <a:ext cx="981710" cy="25781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各维度信息</a:t>
            </a:r>
          </a:p>
        </p:txBody>
      </p:sp>
      <p:cxnSp>
        <p:nvCxnSpPr>
          <p:cNvPr id="14" name="曲线连接符 13"/>
          <p:cNvCxnSpPr>
            <a:stCxn id="9" idx="3"/>
            <a:endCxn id="10" idx="2"/>
          </p:cNvCxnSpPr>
          <p:nvPr/>
        </p:nvCxnSpPr>
        <p:spPr>
          <a:xfrm flipV="1">
            <a:off x="9340215" y="3592195"/>
            <a:ext cx="1880870" cy="1198880"/>
          </a:xfrm>
          <a:prstGeom prst="curvedConnector2">
            <a:avLst/>
          </a:prstGeom>
          <a:ln w="28575"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91135" y="817245"/>
            <a:ext cx="1418590" cy="349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文本举例：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207135" y="829310"/>
            <a:ext cx="730186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/>
              <a:t>梦想家</a:t>
            </a:r>
            <a:r>
              <a:rPr lang="en-US" altLang="zh-CN" sz="1600"/>
              <a:t>PHEV</a:t>
            </a:r>
            <a:r>
              <a:rPr lang="zh-CN" altLang="en-US" sz="1600"/>
              <a:t>，腾势</a:t>
            </a:r>
            <a:r>
              <a:rPr lang="en-US" altLang="zh-CN" sz="1600"/>
              <a:t>D9</a:t>
            </a:r>
            <a:r>
              <a:rPr lang="zh-CN" altLang="en-US" sz="1600"/>
              <a:t>，高山</a:t>
            </a:r>
            <a:r>
              <a:rPr lang="en-US" altLang="zh-CN" sz="1600"/>
              <a:t>8</a:t>
            </a:r>
            <a:r>
              <a:rPr lang="zh-CN" altLang="en-US" sz="1600"/>
              <a:t>，别克</a:t>
            </a:r>
            <a:r>
              <a:rPr lang="en-US" altLang="zh-CN" sz="1600"/>
              <a:t>GL8 PHEV </a:t>
            </a:r>
            <a:r>
              <a:rPr lang="zh-CN" altLang="en-US" sz="1600"/>
              <a:t>，理想</a:t>
            </a:r>
            <a:r>
              <a:rPr lang="en-US" altLang="zh-CN" sz="1600"/>
              <a:t>MEGA</a:t>
            </a:r>
            <a:r>
              <a:rPr lang="zh-CN" altLang="en-US" sz="1600"/>
              <a:t>，</a:t>
            </a:r>
            <a:r>
              <a:rPr lang="en-US" altLang="zh-CN" sz="1600"/>
              <a:t>ELYSION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84B71AFC-08B0-479E-BF8C-35D5496B35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327" y="1887458"/>
            <a:ext cx="1581733" cy="1637112"/>
          </a:xfrm>
          <a:prstGeom prst="rect">
            <a:avLst/>
          </a:prstGeom>
        </p:spPr>
      </p:pic>
      <p:sp>
        <p:nvSpPr>
          <p:cNvPr id="25" name="标题 1">
            <a:extLst>
              <a:ext uri="{FF2B5EF4-FFF2-40B4-BE49-F238E27FC236}">
                <a16:creationId xmlns:a16="http://schemas.microsoft.com/office/drawing/2014/main" id="{19059FB9-E3D4-4316-8204-DABDD0CCF19D}"/>
              </a:ext>
            </a:extLst>
          </p:cNvPr>
          <p:cNvSpPr txBox="1"/>
          <p:nvPr/>
        </p:nvSpPr>
        <p:spPr bwMode="auto">
          <a:xfrm>
            <a:off x="0" y="95250"/>
            <a:ext cx="12192000" cy="35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2250"/>
              </a:lnSpc>
              <a:tabLst>
                <a:tab pos="32258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+mn-ea"/>
                <a:ea typeface="+mn-ea"/>
              </a:rPr>
              <a:t>NX1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</a:rPr>
              <a:t>用户趋势分析</a:t>
            </a:r>
            <a:r>
              <a:rPr lang="en-US" altLang="zh-CN" sz="2400" b="1" dirty="0">
                <a:solidFill>
                  <a:srgbClr val="000000"/>
                </a:solidFill>
                <a:latin typeface="+mn-ea"/>
                <a:ea typeface="+mn-ea"/>
              </a:rPr>
              <a:t>-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</a:rPr>
              <a:t>岚图梦想家</a:t>
            </a:r>
          </a:p>
        </p:txBody>
      </p:sp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E196D4B1-A288-4FAC-8796-15DED6A5A2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626169"/>
              </p:ext>
            </p:extLst>
          </p:nvPr>
        </p:nvGraphicFramePr>
        <p:xfrm>
          <a:off x="236538" y="848060"/>
          <a:ext cx="4106862" cy="10617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2634">
                  <a:extLst>
                    <a:ext uri="{9D8B030D-6E8A-4147-A177-3AD203B41FA5}">
                      <a16:colId xmlns:a16="http://schemas.microsoft.com/office/drawing/2014/main" val="587934770"/>
                    </a:ext>
                  </a:extLst>
                </a:gridCol>
                <a:gridCol w="440604">
                  <a:extLst>
                    <a:ext uri="{9D8B030D-6E8A-4147-A177-3AD203B41FA5}">
                      <a16:colId xmlns:a16="http://schemas.microsoft.com/office/drawing/2014/main" val="318352738"/>
                    </a:ext>
                  </a:extLst>
                </a:gridCol>
                <a:gridCol w="440604">
                  <a:extLst>
                    <a:ext uri="{9D8B030D-6E8A-4147-A177-3AD203B41FA5}">
                      <a16:colId xmlns:a16="http://schemas.microsoft.com/office/drawing/2014/main" val="2192336958"/>
                    </a:ext>
                  </a:extLst>
                </a:gridCol>
                <a:gridCol w="440604">
                  <a:extLst>
                    <a:ext uri="{9D8B030D-6E8A-4147-A177-3AD203B41FA5}">
                      <a16:colId xmlns:a16="http://schemas.microsoft.com/office/drawing/2014/main" val="36648068"/>
                    </a:ext>
                  </a:extLst>
                </a:gridCol>
                <a:gridCol w="440604">
                  <a:extLst>
                    <a:ext uri="{9D8B030D-6E8A-4147-A177-3AD203B41FA5}">
                      <a16:colId xmlns:a16="http://schemas.microsoft.com/office/drawing/2014/main" val="148283538"/>
                    </a:ext>
                  </a:extLst>
                </a:gridCol>
                <a:gridCol w="440604">
                  <a:extLst>
                    <a:ext uri="{9D8B030D-6E8A-4147-A177-3AD203B41FA5}">
                      <a16:colId xmlns:a16="http://schemas.microsoft.com/office/drawing/2014/main" val="109899700"/>
                    </a:ext>
                  </a:extLst>
                </a:gridCol>
                <a:gridCol w="440604">
                  <a:extLst>
                    <a:ext uri="{9D8B030D-6E8A-4147-A177-3AD203B41FA5}">
                      <a16:colId xmlns:a16="http://schemas.microsoft.com/office/drawing/2014/main" val="4209540011"/>
                    </a:ext>
                  </a:extLst>
                </a:gridCol>
                <a:gridCol w="440604">
                  <a:extLst>
                    <a:ext uri="{9D8B030D-6E8A-4147-A177-3AD203B41FA5}">
                      <a16:colId xmlns:a16="http://schemas.microsoft.com/office/drawing/2014/main" val="2091170211"/>
                    </a:ext>
                  </a:extLst>
                </a:gridCol>
              </a:tblGrid>
              <a:tr h="33323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车型版本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内饰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外观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性价比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智能化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空间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续航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驾驶</a:t>
                      </a:r>
                      <a:endParaRPr lang="en-US" altLang="zh-CN" sz="1000" u="none" strike="noStrike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感受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637524"/>
                  </a:ext>
                </a:extLst>
              </a:tr>
              <a:tr h="36426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岚图梦想家</a:t>
                      </a:r>
                      <a:endParaRPr lang="en-US" altLang="zh-CN" sz="100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86.9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94.2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82.5</a:t>
                      </a:r>
                      <a:endParaRPr lang="en-US" altLang="zh-CN" sz="10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85.1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92.7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77.5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90.8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157839"/>
                  </a:ext>
                </a:extLst>
              </a:tr>
              <a:tr h="36426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样本均值</a:t>
                      </a:r>
                      <a:endParaRPr lang="en-US" altLang="zh-CN" sz="100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85.1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92.4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84.0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78.9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91.2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74.5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88.5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335940"/>
                  </a:ext>
                </a:extLst>
              </a:tr>
            </a:tbl>
          </a:graphicData>
        </a:graphic>
      </p:graphicFrame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DCC0FF3B-E402-4E0C-B6E0-BEF21D9BB9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037150"/>
              </p:ext>
            </p:extLst>
          </p:nvPr>
        </p:nvGraphicFramePr>
        <p:xfrm>
          <a:off x="4437216" y="848059"/>
          <a:ext cx="7518247" cy="2472270"/>
        </p:xfrm>
        <a:graphic>
          <a:graphicData uri="http://schemas.openxmlformats.org/drawingml/2006/table">
            <a:tbl>
              <a:tblPr/>
              <a:tblGrid>
                <a:gridCol w="683477">
                  <a:extLst>
                    <a:ext uri="{9D8B030D-6E8A-4147-A177-3AD203B41FA5}">
                      <a16:colId xmlns:a16="http://schemas.microsoft.com/office/drawing/2014/main" val="325790476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554068689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88853909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191648071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95411566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488998727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81927537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04238213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1935054496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608258960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998316053"/>
                    </a:ext>
                  </a:extLst>
                </a:gridCol>
              </a:tblGrid>
              <a:tr h="26901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维度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子维度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不满意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中立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满意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总提及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维度总提及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提及率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满意占比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中立占比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不满意占比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42487"/>
                  </a:ext>
                </a:extLst>
              </a:tr>
              <a:tr h="21674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外观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整体造型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333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349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95.4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379363"/>
                  </a:ext>
                </a:extLst>
              </a:tr>
              <a:tr h="21674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智能化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辅助驾驶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335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88.4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597740"/>
                  </a:ext>
                </a:extLst>
              </a:tr>
              <a:tr h="21674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性价比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配置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276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305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841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36.3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90.5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087894"/>
                  </a:ext>
                </a:extLst>
              </a:tr>
              <a:tr h="21674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续航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纯电续航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299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76.6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151524"/>
                  </a:ext>
                </a:extLst>
              </a:tr>
              <a:tr h="21674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驾驶感受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加速性能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292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96.9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199592"/>
                  </a:ext>
                </a:extLst>
              </a:tr>
              <a:tr h="21674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内饰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材质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278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1447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92.8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002563"/>
                  </a:ext>
                </a:extLst>
              </a:tr>
              <a:tr h="21674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空间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后备箱空间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277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93.1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379139"/>
                  </a:ext>
                </a:extLst>
              </a:tr>
              <a:tr h="21674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空间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第三排空间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274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83.6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981819"/>
                  </a:ext>
                </a:extLst>
              </a:tr>
              <a:tr h="21674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内饰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中控设计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271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1447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82.3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55424"/>
                  </a:ext>
                </a:extLst>
              </a:tr>
              <a:tr h="21674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外观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前脸设计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265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98.9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755300"/>
                  </a:ext>
                </a:extLst>
              </a:tr>
            </a:tbl>
          </a:graphicData>
        </a:graphic>
      </p:graphicFrame>
      <p:sp>
        <p:nvSpPr>
          <p:cNvPr id="29" name="矩形 28">
            <a:extLst>
              <a:ext uri="{FF2B5EF4-FFF2-40B4-BE49-F238E27FC236}">
                <a16:creationId xmlns:a16="http://schemas.microsoft.com/office/drawing/2014/main" id="{A7EB19A3-848A-4302-B781-2659C3A4B19E}"/>
              </a:ext>
            </a:extLst>
          </p:cNvPr>
          <p:cNvSpPr/>
          <p:nvPr/>
        </p:nvSpPr>
        <p:spPr>
          <a:xfrm>
            <a:off x="236538" y="3552092"/>
            <a:ext cx="11718925" cy="30087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37A0685-B382-4A3D-B677-995BA294B4E1}"/>
              </a:ext>
            </a:extLst>
          </p:cNvPr>
          <p:cNvSpPr/>
          <p:nvPr/>
        </p:nvSpPr>
        <p:spPr>
          <a:xfrm>
            <a:off x="391155" y="653181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L1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级雷达图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E6E5030-F6B3-4A47-AA84-EFEBBC156117}"/>
              </a:ext>
            </a:extLst>
          </p:cNvPr>
          <p:cNvSpPr/>
          <p:nvPr/>
        </p:nvSpPr>
        <p:spPr>
          <a:xfrm>
            <a:off x="4397299" y="653181"/>
            <a:ext cx="1896821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各维度提及率和满意度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6DA41E7-6411-455C-8888-CE0EB3648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515687"/>
              </p:ext>
            </p:extLst>
          </p:nvPr>
        </p:nvGraphicFramePr>
        <p:xfrm>
          <a:off x="347870" y="3627783"/>
          <a:ext cx="5715000" cy="28239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090">
                  <a:extLst>
                    <a:ext uri="{9D8B030D-6E8A-4147-A177-3AD203B41FA5}">
                      <a16:colId xmlns:a16="http://schemas.microsoft.com/office/drawing/2014/main" val="368206005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3157758909"/>
                    </a:ext>
                  </a:extLst>
                </a:gridCol>
                <a:gridCol w="3817510">
                  <a:extLst>
                    <a:ext uri="{9D8B030D-6E8A-4147-A177-3AD203B41FA5}">
                      <a16:colId xmlns:a16="http://schemas.microsoft.com/office/drawing/2014/main" val="3556240593"/>
                    </a:ext>
                  </a:extLst>
                </a:gridCol>
              </a:tblGrid>
              <a:tr h="25672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排序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满意</a:t>
                      </a:r>
                      <a:endParaRPr lang="zh-CN" alt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举例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905985"/>
                  </a:ext>
                </a:extLst>
              </a:tr>
              <a:tr h="2567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</a:rPr>
                        <a:t>内饰材质满意</a:t>
                      </a:r>
                      <a:endParaRPr lang="en-US" altLang="zh-CN" sz="12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大面积采用软质材料进行包裹处理</a:t>
                      </a:r>
                      <a:endParaRPr lang="en-US" altLang="zh-CN" sz="12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67779"/>
                  </a:ext>
                </a:extLst>
              </a:tr>
              <a:tr h="2567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</a:rPr>
                        <a:t>加速强劲</a:t>
                      </a:r>
                      <a:endParaRPr lang="en-US" altLang="zh-CN" sz="12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超车操作变得极为轻松</a:t>
                      </a:r>
                      <a:endParaRPr lang="en-US" altLang="zh-CN" sz="12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941965"/>
                  </a:ext>
                </a:extLst>
              </a:tr>
              <a:tr h="2567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</a:rPr>
                        <a:t>悬架减震舒适</a:t>
                      </a:r>
                      <a:endParaRPr lang="en-US" altLang="zh-CN" sz="12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滤震处理得相当柔和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5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74122"/>
                  </a:ext>
                </a:extLst>
              </a:tr>
              <a:tr h="2567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</a:rPr>
                        <a:t>座椅舒服</a:t>
                      </a:r>
                      <a:endParaRPr lang="en-US" altLang="zh-CN" sz="12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座椅的包裹性和柔软度都恰到好处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5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110690"/>
                  </a:ext>
                </a:extLst>
              </a:tr>
              <a:tr h="2567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</a:rPr>
                        <a:t>行驶稳定性好</a:t>
                      </a:r>
                      <a:endParaRPr lang="en-US" altLang="zh-CN" sz="12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过弯时车身姿态稳健</a:t>
                      </a:r>
                      <a:endParaRPr lang="en-US" altLang="zh-CN" sz="12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474402"/>
                  </a:ext>
                </a:extLst>
              </a:tr>
              <a:tr h="2567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</a:rPr>
                        <a:t>储物空间设计合理</a:t>
                      </a:r>
                      <a:endParaRPr lang="en-US" altLang="zh-CN" sz="12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后备箱里还有实用的挂钩和隐藏储物格</a:t>
                      </a:r>
                      <a:endParaRPr lang="en-US" altLang="zh-CN" sz="12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001165"/>
                  </a:ext>
                </a:extLst>
              </a:tr>
              <a:tr h="2567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</a:rPr>
                        <a:t>后备厢空间大</a:t>
                      </a:r>
                      <a:endParaRPr lang="en-US" altLang="zh-CN" sz="12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那么后备箱的空间会立马变得宽敞起来</a:t>
                      </a:r>
                      <a:endParaRPr lang="en-US" altLang="zh-CN" sz="12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087129"/>
                  </a:ext>
                </a:extLst>
              </a:tr>
              <a:tr h="2567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</a:rPr>
                        <a:t>续航里程长</a:t>
                      </a:r>
                      <a:endParaRPr lang="en-US" altLang="zh-CN" sz="12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续航稳定性也很好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5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321519"/>
                  </a:ext>
                </a:extLst>
              </a:tr>
              <a:tr h="2567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</a:rPr>
                        <a:t>车头设计耐看</a:t>
                      </a:r>
                      <a:endParaRPr lang="en-US" altLang="zh-CN" sz="12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前脸的格栅造型精致大气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5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954651"/>
                  </a:ext>
                </a:extLst>
              </a:tr>
              <a:tr h="2567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</a:rPr>
                        <a:t>车身霸气</a:t>
                      </a:r>
                      <a:endParaRPr lang="en-US" altLang="zh-CN" sz="12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整车外观兼顾了大气与精致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5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119853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86EACFD-601E-4A45-A040-2B28B0FEA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29119"/>
              </p:ext>
            </p:extLst>
          </p:nvPr>
        </p:nvGraphicFramePr>
        <p:xfrm>
          <a:off x="6203950" y="3649479"/>
          <a:ext cx="5638801" cy="2802228"/>
        </p:xfrm>
        <a:graphic>
          <a:graphicData uri="http://schemas.openxmlformats.org/drawingml/2006/table">
            <a:tbl>
              <a:tblPr/>
              <a:tblGrid>
                <a:gridCol w="502145">
                  <a:extLst>
                    <a:ext uri="{9D8B030D-6E8A-4147-A177-3AD203B41FA5}">
                      <a16:colId xmlns:a16="http://schemas.microsoft.com/office/drawing/2014/main" val="3192849396"/>
                    </a:ext>
                  </a:extLst>
                </a:gridCol>
                <a:gridCol w="1341746">
                  <a:extLst>
                    <a:ext uri="{9D8B030D-6E8A-4147-A177-3AD203B41FA5}">
                      <a16:colId xmlns:a16="http://schemas.microsoft.com/office/drawing/2014/main" val="2817775672"/>
                    </a:ext>
                  </a:extLst>
                </a:gridCol>
                <a:gridCol w="3794910">
                  <a:extLst>
                    <a:ext uri="{9D8B030D-6E8A-4147-A177-3AD203B41FA5}">
                      <a16:colId xmlns:a16="http://schemas.microsoft.com/office/drawing/2014/main" val="785369610"/>
                    </a:ext>
                  </a:extLst>
                </a:gridCol>
              </a:tblGrid>
              <a:tr h="25474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排序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不满意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举例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8428634"/>
                  </a:ext>
                </a:extLst>
              </a:tr>
              <a:tr h="2547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风噪大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高速风噪偏大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7014482"/>
                  </a:ext>
                </a:extLst>
              </a:tr>
              <a:tr h="2547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车机不好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还有就是车机偶尔会反应慢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8531796"/>
                  </a:ext>
                </a:extLst>
              </a:tr>
              <a:tr h="2547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胎噪大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同时胎噪同样会有所增大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068743"/>
                  </a:ext>
                </a:extLst>
              </a:tr>
              <a:tr h="2547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电耗大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后半程掉电飞快的情况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952583"/>
                  </a:ext>
                </a:extLst>
              </a:tr>
              <a:tr h="2547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导航系统不好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并且影响导航的使用流畅度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8189267"/>
                  </a:ext>
                </a:extLst>
              </a:tr>
              <a:tr h="2547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内饰易脏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浅色内饰特别容易弄脏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1094443"/>
                  </a:ext>
                </a:extLst>
              </a:tr>
              <a:tr h="2547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优惠幅度小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感觉这互联的便捷性大打折扣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7239409"/>
                  </a:ext>
                </a:extLst>
              </a:tr>
              <a:tr h="2547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冬天续航小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纯电续航冬天不够用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5737762"/>
                  </a:ext>
                </a:extLst>
              </a:tr>
              <a:tr h="2547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车机反应慢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车机刚启动那几秒反应慢半拍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1613424"/>
                  </a:ext>
                </a:extLst>
              </a:tr>
              <a:tr h="2547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保值率低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保值率估计也差点意思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0353536"/>
                  </a:ext>
                </a:extLst>
              </a:tr>
            </a:tbl>
          </a:graphicData>
        </a:graphic>
      </p:graphicFrame>
      <p:sp>
        <p:nvSpPr>
          <p:cNvPr id="44" name="矩形 43">
            <a:extLst>
              <a:ext uri="{FF2B5EF4-FFF2-40B4-BE49-F238E27FC236}">
                <a16:creationId xmlns:a16="http://schemas.microsoft.com/office/drawing/2014/main" id="{B6669476-4C7E-445C-9AE8-AFDEE9B92375}"/>
              </a:ext>
            </a:extLst>
          </p:cNvPr>
          <p:cNvSpPr/>
          <p:nvPr/>
        </p:nvSpPr>
        <p:spPr>
          <a:xfrm>
            <a:off x="6294119" y="3372327"/>
            <a:ext cx="1495501" cy="28576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不满意</a:t>
            </a:r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TOP10</a:t>
            </a:r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40B1311-CF13-427B-BBBA-4F6A3A054D46}"/>
              </a:ext>
            </a:extLst>
          </p:cNvPr>
          <p:cNvSpPr/>
          <p:nvPr/>
        </p:nvSpPr>
        <p:spPr>
          <a:xfrm>
            <a:off x="399451" y="3363719"/>
            <a:ext cx="1495501" cy="28576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满意项目</a:t>
            </a:r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TOP10</a:t>
            </a:r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45" name="表格 44">
            <a:extLst>
              <a:ext uri="{FF2B5EF4-FFF2-40B4-BE49-F238E27FC236}">
                <a16:creationId xmlns:a16="http://schemas.microsoft.com/office/drawing/2014/main" id="{5B11D0E1-DD04-4661-8AC2-16D0531D78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315714"/>
              </p:ext>
            </p:extLst>
          </p:nvPr>
        </p:nvGraphicFramePr>
        <p:xfrm>
          <a:off x="-6297938" y="274439"/>
          <a:ext cx="5715000" cy="29025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6662">
                  <a:extLst>
                    <a:ext uri="{9D8B030D-6E8A-4147-A177-3AD203B41FA5}">
                      <a16:colId xmlns:a16="http://schemas.microsoft.com/office/drawing/2014/main" val="3682060050"/>
                    </a:ext>
                  </a:extLst>
                </a:gridCol>
                <a:gridCol w="830975">
                  <a:extLst>
                    <a:ext uri="{9D8B030D-6E8A-4147-A177-3AD203B41FA5}">
                      <a16:colId xmlns:a16="http://schemas.microsoft.com/office/drawing/2014/main" val="3157758909"/>
                    </a:ext>
                  </a:extLst>
                </a:gridCol>
                <a:gridCol w="4577363">
                  <a:extLst>
                    <a:ext uri="{9D8B030D-6E8A-4147-A177-3AD203B41FA5}">
                      <a16:colId xmlns:a16="http://schemas.microsoft.com/office/drawing/2014/main" val="3556240593"/>
                    </a:ext>
                  </a:extLst>
                </a:gridCol>
              </a:tblGrid>
              <a:tr h="19945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排序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满意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举例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905985"/>
                  </a:ext>
                </a:extLst>
              </a:tr>
              <a:tr h="38940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内饰材质满意</a:t>
                      </a: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0" i="0" u="none" strike="noStrike">
                          <a:solidFill>
                            <a:srgbClr val="0055FF"/>
                          </a:solidFill>
                          <a:effectLst/>
                          <a:latin typeface="+mn-ea"/>
                          <a:ea typeface="+mn-ea"/>
                        </a:rPr>
                        <a:t>麂皮绒顶棚摸上去细腻； 内饰用料颇为下本，所触之处皆为柔软材质，门板处设有实木饰板增添质感。；</a:t>
                      </a: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67779"/>
                  </a:ext>
                </a:extLst>
              </a:tr>
              <a:tr h="32160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加速强劲</a:t>
                      </a: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55FF"/>
                          </a:solidFill>
                          <a:effectLst/>
                          <a:latin typeface="+mn-ea"/>
                          <a:ea typeface="+mn-ea"/>
                        </a:rPr>
                        <a:t>双电机四驱总功率</a:t>
                      </a:r>
                      <a:r>
                        <a:rPr lang="en-US" altLang="zh-CN" sz="1000" b="0" i="0" u="none" strike="noStrike">
                          <a:solidFill>
                            <a:srgbClr val="0055FF"/>
                          </a:solidFill>
                          <a:effectLst/>
                          <a:latin typeface="+mn-ea"/>
                          <a:ea typeface="+mn-ea"/>
                        </a:rPr>
                        <a:t>490kW</a:t>
                      </a:r>
                      <a:r>
                        <a:rPr lang="zh-CN" altLang="en-US" sz="1000" b="0" i="0" u="none" strike="noStrike">
                          <a:solidFill>
                            <a:srgbClr val="0055FF"/>
                          </a:solidFill>
                          <a:effectLst/>
                          <a:latin typeface="+mn-ea"/>
                          <a:ea typeface="+mn-ea"/>
                        </a:rPr>
                        <a:t>扭矩</a:t>
                      </a:r>
                      <a:r>
                        <a:rPr lang="en-US" altLang="zh-CN" sz="1000" b="0" i="0" u="none" strike="noStrike">
                          <a:solidFill>
                            <a:srgbClr val="0055FF"/>
                          </a:solidFill>
                          <a:effectLst/>
                          <a:latin typeface="+mn-ea"/>
                          <a:ea typeface="+mn-ea"/>
                        </a:rPr>
                        <a:t>915</a:t>
                      </a:r>
                      <a:r>
                        <a:rPr lang="zh-CN" altLang="en-US" sz="1000" b="0" i="0" u="none" strike="noStrike">
                          <a:solidFill>
                            <a:srgbClr val="0055FF"/>
                          </a:solidFill>
                          <a:effectLst/>
                          <a:latin typeface="+mn-ea"/>
                          <a:ea typeface="+mn-ea"/>
                        </a:rPr>
                        <a:t>牛米零百</a:t>
                      </a:r>
                      <a:r>
                        <a:rPr lang="en-US" altLang="zh-CN" sz="1000" b="0" i="0" u="none" strike="noStrike">
                          <a:solidFill>
                            <a:srgbClr val="0055FF"/>
                          </a:solidFill>
                          <a:effectLst/>
                          <a:latin typeface="+mn-ea"/>
                          <a:ea typeface="+mn-ea"/>
                        </a:rPr>
                        <a:t>5.9</a:t>
                      </a:r>
                      <a:r>
                        <a:rPr lang="zh-CN" altLang="en-US" sz="1000" b="0" i="0" u="none" strike="noStrike">
                          <a:solidFill>
                            <a:srgbClr val="0055FF"/>
                          </a:solidFill>
                          <a:effectLst/>
                          <a:latin typeface="+mn-ea"/>
                          <a:ea typeface="+mn-ea"/>
                        </a:rPr>
                        <a:t>秒，电门响应跟脚，红绿灯起步基本第一批走</a:t>
                      </a: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941965"/>
                  </a:ext>
                </a:extLst>
              </a:tr>
              <a:tr h="1994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悬架减震舒适</a:t>
                      </a: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魔毯空气悬架过减速带不颠，路面有大坑洼也能滤掉；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5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74122"/>
                  </a:ext>
                </a:extLst>
              </a:tr>
              <a:tr h="1994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座椅舒服</a:t>
                      </a: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座椅</a:t>
                      </a:r>
                      <a:r>
                        <a:rPr kumimoji="0" lang="en-US" altLang="zh-C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26</a:t>
                      </a:r>
                      <a:r>
                        <a:rPr kumimoji="0" lang="zh-CN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点按摩比我家那台老</a:t>
                      </a:r>
                      <a:r>
                        <a:rPr kumimoji="0" lang="en-US" altLang="zh-C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Q5</a:t>
                      </a:r>
                      <a:r>
                        <a:rPr kumimoji="0" lang="zh-CN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贴合，跑长途把它开着肩背不紧； 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5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110690"/>
                  </a:ext>
                </a:extLst>
              </a:tr>
              <a:tr h="2416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行驶稳定性好</a:t>
                      </a: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0" i="0" u="none" strike="noStrike">
                          <a:solidFill>
                            <a:srgbClr val="0055FF"/>
                          </a:solidFill>
                          <a:effectLst/>
                          <a:latin typeface="+mn-ea"/>
                          <a:ea typeface="+mn-ea"/>
                        </a:rPr>
                        <a:t>在高速行驶时稳定性良好，即便车速达到</a:t>
                      </a:r>
                      <a:r>
                        <a:rPr lang="en-US" altLang="zh-CN" sz="1000" b="0" i="0" u="none" strike="noStrike">
                          <a:solidFill>
                            <a:srgbClr val="0055FF"/>
                          </a:solidFill>
                          <a:effectLst/>
                          <a:latin typeface="+mn-ea"/>
                          <a:ea typeface="+mn-ea"/>
                        </a:rPr>
                        <a:t>120</a:t>
                      </a:r>
                      <a:r>
                        <a:rPr lang="zh-CN" altLang="en-US" sz="1000" b="0" i="0" u="none" strike="noStrike">
                          <a:solidFill>
                            <a:srgbClr val="0055FF"/>
                          </a:solidFill>
                          <a:effectLst/>
                          <a:latin typeface="+mn-ea"/>
                          <a:ea typeface="+mn-ea"/>
                        </a:rPr>
                        <a:t>码，车内人员也能够正常说话交流。</a:t>
                      </a: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474402"/>
                  </a:ext>
                </a:extLst>
              </a:tr>
              <a:tr h="32160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储物空间设计合理</a:t>
                      </a: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0" i="0" u="none" strike="noStrike">
                          <a:solidFill>
                            <a:srgbClr val="0055FF"/>
                          </a:solidFill>
                          <a:effectLst/>
                          <a:latin typeface="+mn-ea"/>
                          <a:ea typeface="+mn-ea"/>
                        </a:rPr>
                        <a:t>车里零碎格子不少，门板格子深，扶手箱空间大，充电线纸巾都能找到角落；</a:t>
                      </a: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001165"/>
                  </a:ext>
                </a:extLst>
              </a:tr>
              <a:tr h="38940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后备厢空间大</a:t>
                      </a: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0" i="0" u="none" strike="noStrike">
                          <a:solidFill>
                            <a:srgbClr val="0055FF"/>
                          </a:solidFill>
                          <a:effectLst/>
                          <a:latin typeface="+mn-ea"/>
                          <a:ea typeface="+mn-ea"/>
                        </a:rPr>
                        <a:t>后备箱满座能塞两个二十八寸箱子外加几个背包，上次帮朋友搬家把三排放倒，直接把一个单人沙发推进去； </a:t>
                      </a: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087129"/>
                  </a:ext>
                </a:extLst>
              </a:tr>
              <a:tr h="2416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续航里程长</a:t>
                      </a: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这车标的是</a:t>
                      </a:r>
                      <a:r>
                        <a:rPr kumimoji="0" lang="en-US" altLang="zh-C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CLTC</a:t>
                      </a:r>
                      <a:r>
                        <a:rPr kumimoji="0" lang="zh-CN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纯电</a:t>
                      </a:r>
                      <a:r>
                        <a:rPr kumimoji="0" lang="en-US" altLang="zh-C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350</a:t>
                      </a:r>
                      <a:r>
                        <a:rPr kumimoji="0" lang="zh-CN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公里，我在市区开空调实测大概</a:t>
                      </a:r>
                      <a:r>
                        <a:rPr kumimoji="0" lang="en-US" altLang="zh-C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290</a:t>
                      </a:r>
                      <a:r>
                        <a:rPr kumimoji="0" lang="zh-CN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上下；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5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321519"/>
                  </a:ext>
                </a:extLst>
              </a:tr>
              <a:tr h="1994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车头设计耐看</a:t>
                      </a: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其车身尺寸颇为可观，作为一辆长度超过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米的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MPV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车型，其线条给人的感觉是舒展且大气的，并不会让人觉得臃肿或者浮夸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5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954651"/>
                  </a:ext>
                </a:extLst>
              </a:tr>
              <a:tr h="1994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车身霸气</a:t>
                      </a: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119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7728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E33DFF08-7FA1-7F60-5524-5346927FA5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851" y="1714003"/>
            <a:ext cx="1687265" cy="174710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F78B6A5-8037-87F2-731C-F0AAC1744734}"/>
              </a:ext>
            </a:extLst>
          </p:cNvPr>
          <p:cNvSpPr txBox="1"/>
          <p:nvPr/>
        </p:nvSpPr>
        <p:spPr bwMode="auto">
          <a:xfrm>
            <a:off x="0" y="95250"/>
            <a:ext cx="12192000" cy="35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2250"/>
              </a:lnSpc>
              <a:tabLst>
                <a:tab pos="32258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NX1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用户趋势分析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腾势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D9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67D08B9-0000-F1EE-4657-F47C34B25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023306"/>
              </p:ext>
            </p:extLst>
          </p:nvPr>
        </p:nvGraphicFramePr>
        <p:xfrm>
          <a:off x="391155" y="848060"/>
          <a:ext cx="3881126" cy="971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6424">
                  <a:extLst>
                    <a:ext uri="{9D8B030D-6E8A-4147-A177-3AD203B41FA5}">
                      <a16:colId xmlns:a16="http://schemas.microsoft.com/office/drawing/2014/main" val="587934770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31835273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219233695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3664806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14828353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109899700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4209540011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2091170211"/>
                    </a:ext>
                  </a:extLst>
                </a:gridCol>
              </a:tblGrid>
              <a:tr h="19101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车型版本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内饰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外观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性价比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智能化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空间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续航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驾驶</a:t>
                      </a:r>
                      <a:endParaRPr lang="en-US" altLang="zh-CN" sz="1000" u="none" strike="noStrike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感受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637524"/>
                  </a:ext>
                </a:extLst>
              </a:tr>
              <a:tr h="33353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腾势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D9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85.9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94.5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86.5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87.7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93.9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80.2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89.1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157839"/>
                  </a:ext>
                </a:extLst>
              </a:tr>
              <a:tr h="33353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样本均值</a:t>
                      </a:r>
                      <a:endParaRPr lang="en-US" altLang="zh-CN" sz="100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85.1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92.4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84.0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78.9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91.2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74.5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88.5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691513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1CBA8B4-266F-BFCF-41BA-84595D4C1A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511070"/>
              </p:ext>
            </p:extLst>
          </p:nvPr>
        </p:nvGraphicFramePr>
        <p:xfrm>
          <a:off x="4437216" y="848058"/>
          <a:ext cx="7518247" cy="2519400"/>
        </p:xfrm>
        <a:graphic>
          <a:graphicData uri="http://schemas.openxmlformats.org/drawingml/2006/table">
            <a:tbl>
              <a:tblPr/>
              <a:tblGrid>
                <a:gridCol w="683477">
                  <a:extLst>
                    <a:ext uri="{9D8B030D-6E8A-4147-A177-3AD203B41FA5}">
                      <a16:colId xmlns:a16="http://schemas.microsoft.com/office/drawing/2014/main" val="325790476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554068689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88853909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191648071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95411566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488998727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81927537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04238213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1935054496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608258960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998316053"/>
                    </a:ext>
                  </a:extLst>
                </a:gridCol>
              </a:tblGrid>
              <a:tr h="31061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维度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子维度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不满意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中立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满意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总提及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维度总提及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提及率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满意占比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中立占比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不满意占比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42487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外观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整体造型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1473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1554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5199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94.8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379363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驾驶感受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加速性能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1483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5395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27.5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95.1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597740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续航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纯电续航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885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1124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3466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78.7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087894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内饰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中控设计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866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1027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5013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84.3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151524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外观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前脸设计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978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1014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5199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96.4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199592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性价比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价格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981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3261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82.4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002563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内饰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材质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953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5013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379139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性价比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配置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894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934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3261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95.7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981819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内饰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座椅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911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5013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55424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外观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车身线条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895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5199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98.3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755300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8AD8FD66-D17B-608F-E2B5-82200F4C06D5}"/>
              </a:ext>
            </a:extLst>
          </p:cNvPr>
          <p:cNvSpPr/>
          <p:nvPr/>
        </p:nvSpPr>
        <p:spPr>
          <a:xfrm>
            <a:off x="391155" y="653181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L1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级雷达图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89A90A6-FF47-A83D-AFB7-61B7881291B4}"/>
              </a:ext>
            </a:extLst>
          </p:cNvPr>
          <p:cNvSpPr/>
          <p:nvPr/>
        </p:nvSpPr>
        <p:spPr>
          <a:xfrm>
            <a:off x="4397299" y="653181"/>
            <a:ext cx="1896821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各维度提及率和满意度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F0E3267-8C43-44DE-B789-D2691930C2FB}"/>
              </a:ext>
            </a:extLst>
          </p:cNvPr>
          <p:cNvSpPr/>
          <p:nvPr/>
        </p:nvSpPr>
        <p:spPr>
          <a:xfrm>
            <a:off x="227014" y="3552092"/>
            <a:ext cx="11728450" cy="2895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CA5062B-69C0-484E-B51E-A537BE935646}"/>
              </a:ext>
            </a:extLst>
          </p:cNvPr>
          <p:cNvSpPr/>
          <p:nvPr/>
        </p:nvSpPr>
        <p:spPr>
          <a:xfrm>
            <a:off x="271619" y="3409212"/>
            <a:ext cx="1495501" cy="28576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满意项目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TOP10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5E69E0BB-C1CE-425A-AC93-58D1F88F32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725422"/>
              </p:ext>
            </p:extLst>
          </p:nvPr>
        </p:nvGraphicFramePr>
        <p:xfrm>
          <a:off x="271619" y="3718560"/>
          <a:ext cx="5763421" cy="25350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0665">
                  <a:extLst>
                    <a:ext uri="{9D8B030D-6E8A-4147-A177-3AD203B41FA5}">
                      <a16:colId xmlns:a16="http://schemas.microsoft.com/office/drawing/2014/main" val="3682060050"/>
                    </a:ext>
                  </a:extLst>
                </a:gridCol>
                <a:gridCol w="1483274">
                  <a:extLst>
                    <a:ext uri="{9D8B030D-6E8A-4147-A177-3AD203B41FA5}">
                      <a16:colId xmlns:a16="http://schemas.microsoft.com/office/drawing/2014/main" val="3157758909"/>
                    </a:ext>
                  </a:extLst>
                </a:gridCol>
                <a:gridCol w="3679482">
                  <a:extLst>
                    <a:ext uri="{9D8B030D-6E8A-4147-A177-3AD203B41FA5}">
                      <a16:colId xmlns:a16="http://schemas.microsoft.com/office/drawing/2014/main" val="3556240593"/>
                    </a:ext>
                  </a:extLst>
                </a:gridCol>
              </a:tblGrid>
              <a:tr h="19496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排序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满意</a:t>
                      </a:r>
                      <a:endParaRPr lang="zh-CN" alt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举例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905985"/>
                  </a:ext>
                </a:extLst>
              </a:tr>
              <a:tr h="2340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舒适性不错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选车时最看重舒适性和实用性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67779"/>
                  </a:ext>
                </a:extLst>
              </a:tr>
              <a:tr h="2340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内饰材质满意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内饰用料很实在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941965"/>
                  </a:ext>
                </a:extLst>
              </a:tr>
              <a:tr h="2340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加速强劲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加速也轻快，就算坐满了人超车也不慢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74122"/>
                  </a:ext>
                </a:extLst>
              </a:tr>
              <a:tr h="2340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座椅舒适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座椅舒适的加分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110690"/>
                  </a:ext>
                </a:extLst>
              </a:tr>
              <a:tr h="2340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前排头部空间足够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头部不顶头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474402"/>
                  </a:ext>
                </a:extLst>
              </a:tr>
              <a:tr h="2340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储物空间设计合理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车内储物格特别多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001165"/>
                  </a:ext>
                </a:extLst>
              </a:tr>
              <a:tr h="2340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续航里程大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续航表现真的让我很惊喜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087129"/>
                  </a:ext>
                </a:extLst>
              </a:tr>
              <a:tr h="2340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油耗低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混动模式下油耗也很经济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321519"/>
                  </a:ext>
                </a:extLst>
              </a:tr>
              <a:tr h="2340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车头设计耐看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前脸没有过度张扬的设计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954651"/>
                  </a:ext>
                </a:extLst>
              </a:tr>
              <a:tr h="2340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行驶稳定性不错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高速行驶时车身很稳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119853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39D5B2C5-2010-461F-B1C7-6D3F7C447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415829"/>
              </p:ext>
            </p:extLst>
          </p:nvPr>
        </p:nvGraphicFramePr>
        <p:xfrm>
          <a:off x="6203950" y="3718560"/>
          <a:ext cx="5530854" cy="2535069"/>
        </p:xfrm>
        <a:graphic>
          <a:graphicData uri="http://schemas.openxmlformats.org/drawingml/2006/table">
            <a:tbl>
              <a:tblPr/>
              <a:tblGrid>
                <a:gridCol w="501650">
                  <a:extLst>
                    <a:ext uri="{9D8B030D-6E8A-4147-A177-3AD203B41FA5}">
                      <a16:colId xmlns:a16="http://schemas.microsoft.com/office/drawing/2014/main" val="3192849396"/>
                    </a:ext>
                  </a:extLst>
                </a:gridCol>
                <a:gridCol w="1256371">
                  <a:extLst>
                    <a:ext uri="{9D8B030D-6E8A-4147-A177-3AD203B41FA5}">
                      <a16:colId xmlns:a16="http://schemas.microsoft.com/office/drawing/2014/main" val="2817775672"/>
                    </a:ext>
                  </a:extLst>
                </a:gridCol>
                <a:gridCol w="3772833">
                  <a:extLst>
                    <a:ext uri="{9D8B030D-6E8A-4147-A177-3AD203B41FA5}">
                      <a16:colId xmlns:a16="http://schemas.microsoft.com/office/drawing/2014/main" val="785369610"/>
                    </a:ext>
                  </a:extLst>
                </a:gridCol>
              </a:tblGrid>
              <a:tr h="19149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序号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不满意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重要度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428634"/>
                  </a:ext>
                </a:extLst>
              </a:tr>
              <a:tr h="2317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内饰异味大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提车时车内味道有点重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014482"/>
                  </a:ext>
                </a:extLst>
              </a:tr>
              <a:tr h="2317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风噪大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会有一些风噪传进来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531796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车机不好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车机屏幕触摸太灵敏了感觉有点连键了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068743"/>
                  </a:ext>
                </a:extLst>
              </a:tr>
              <a:tr h="2317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胎噪大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上了高速速度跑起来后胎噪有点大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952583"/>
                  </a:ext>
                </a:extLst>
              </a:tr>
              <a:tr h="2375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内饰易脏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浅色内饰温馨但确实不耐脏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189267"/>
                  </a:ext>
                </a:extLst>
              </a:tr>
              <a:tr h="2317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中控台易留指纹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二是中控的钢琴漆面板太容易留指纹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094443"/>
                  </a:ext>
                </a:extLst>
              </a:tr>
              <a:tr h="2317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底盘太低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毕竟底盘低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239409"/>
                  </a:ext>
                </a:extLst>
              </a:tr>
              <a:tr h="2317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车漆薄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唯一的槽点是车漆确实偏薄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37762"/>
                  </a:ext>
                </a:extLst>
              </a:tr>
              <a:tr h="2317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发动机异响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1.5T</a:t>
                      </a:r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发动机的嗡嗡声会穿透座舱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613424"/>
                  </a:ext>
                </a:extLst>
              </a:tr>
              <a:tr h="2317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车机反应慢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车机互动有时候反应不是很灵敏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0353536"/>
                  </a:ext>
                </a:extLst>
              </a:tr>
            </a:tbl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404FDBA0-3D90-4F8F-9BDC-1884DFB8EBB7}"/>
              </a:ext>
            </a:extLst>
          </p:cNvPr>
          <p:cNvSpPr/>
          <p:nvPr/>
        </p:nvSpPr>
        <p:spPr>
          <a:xfrm>
            <a:off x="8353169" y="3461106"/>
            <a:ext cx="1495501" cy="28576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不满意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TOP10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5267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59362FBB-4923-D8BE-A987-C098ADDA6B87}"/>
              </a:ext>
            </a:extLst>
          </p:cNvPr>
          <p:cNvSpPr txBox="1"/>
          <p:nvPr/>
        </p:nvSpPr>
        <p:spPr bwMode="auto">
          <a:xfrm>
            <a:off x="0" y="95250"/>
            <a:ext cx="12192000" cy="35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2250"/>
              </a:lnSpc>
              <a:tabLst>
                <a:tab pos="32258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NX1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用户趋势分析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魏牌 高山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732956F-9669-C13D-5617-4ADBD5513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633870"/>
              </p:ext>
            </p:extLst>
          </p:nvPr>
        </p:nvGraphicFramePr>
        <p:xfrm>
          <a:off x="391155" y="848060"/>
          <a:ext cx="3881126" cy="8370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6424">
                  <a:extLst>
                    <a:ext uri="{9D8B030D-6E8A-4147-A177-3AD203B41FA5}">
                      <a16:colId xmlns:a16="http://schemas.microsoft.com/office/drawing/2014/main" val="587934770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31835273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219233695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3664806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14828353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109899700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4209540011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2091170211"/>
                    </a:ext>
                  </a:extLst>
                </a:gridCol>
              </a:tblGrid>
              <a:tr h="30231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车型版本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内饰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外观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性价比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智能化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空间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续航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驾驶</a:t>
                      </a:r>
                      <a:endParaRPr lang="en-US" altLang="zh-CN" sz="1000" u="none" strike="noStrike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感受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637524"/>
                  </a:ext>
                </a:extLst>
              </a:tr>
              <a:tr h="5322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魏牌 高山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87.7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87.8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88.2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82.3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79.7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88.5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157839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FCCCB10-C8BF-E23E-0660-B2E6ADF3F0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049194"/>
              </p:ext>
            </p:extLst>
          </p:nvPr>
        </p:nvGraphicFramePr>
        <p:xfrm>
          <a:off x="4437216" y="848058"/>
          <a:ext cx="7518247" cy="2641421"/>
        </p:xfrm>
        <a:graphic>
          <a:graphicData uri="http://schemas.openxmlformats.org/drawingml/2006/table">
            <a:tbl>
              <a:tblPr/>
              <a:tblGrid>
                <a:gridCol w="683477">
                  <a:extLst>
                    <a:ext uri="{9D8B030D-6E8A-4147-A177-3AD203B41FA5}">
                      <a16:colId xmlns:a16="http://schemas.microsoft.com/office/drawing/2014/main" val="325790476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554068689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88853909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191648071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95411566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488998727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81927537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04238213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1935054496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608258960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998316053"/>
                    </a:ext>
                  </a:extLst>
                </a:gridCol>
              </a:tblGrid>
              <a:tr h="31061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L1</a:t>
                      </a: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维度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L2</a:t>
                      </a: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子维度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不满意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中立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满意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总提及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维度总提及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提及率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满意占比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中立占比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不满意占比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42487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外观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整体造型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213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246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730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33.7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86.6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7.7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5.7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379363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性价比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价格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557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37.2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86.5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11.1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597740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性价比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配置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557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36.1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90.5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9.5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087894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智能化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辅助驾驶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605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32.9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74.9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12.1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13.1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151524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续航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纯电续航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576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30.2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79.3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4.6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16.1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199592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驾驶感受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加速性能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767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22.3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96.5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002563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外观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前脸设计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730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21.9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6.2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379139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空间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第三排空间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829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18.9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93.6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5.7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981819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内饰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材质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746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19.3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94.4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4.9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55424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内饰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中控设计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746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88.7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7.7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755300"/>
                  </a:ext>
                </a:extLst>
              </a:tr>
            </a:tbl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C02CC0EA-FB43-093E-3198-AE99FFDDCC35}"/>
              </a:ext>
            </a:extLst>
          </p:cNvPr>
          <p:cNvSpPr/>
          <p:nvPr/>
        </p:nvSpPr>
        <p:spPr>
          <a:xfrm>
            <a:off x="391155" y="653181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L1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级雷达图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853A73F-1307-E4C3-62AE-AD55E84638CA}"/>
              </a:ext>
            </a:extLst>
          </p:cNvPr>
          <p:cNvSpPr/>
          <p:nvPr/>
        </p:nvSpPr>
        <p:spPr>
          <a:xfrm>
            <a:off x="4397299" y="653181"/>
            <a:ext cx="1896821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各维度提及率和满意度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8AFA21BA-3CB0-E3D4-3D12-0779AC4FDA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155" y="2049167"/>
            <a:ext cx="3826793" cy="3960773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4C39255B-3956-4831-A366-A47B373EA4A6}"/>
              </a:ext>
            </a:extLst>
          </p:cNvPr>
          <p:cNvSpPr/>
          <p:nvPr/>
        </p:nvSpPr>
        <p:spPr>
          <a:xfrm>
            <a:off x="4437216" y="3552092"/>
            <a:ext cx="7518247" cy="2895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241D50F-DDBC-4670-A019-A3BC9214B37D}"/>
              </a:ext>
            </a:extLst>
          </p:cNvPr>
          <p:cNvSpPr/>
          <p:nvPr/>
        </p:nvSpPr>
        <p:spPr>
          <a:xfrm>
            <a:off x="4397299" y="3429000"/>
            <a:ext cx="1495501" cy="28576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满意项目</a:t>
            </a:r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TOP10</a:t>
            </a:r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528C71FC-D2A8-4276-806F-DD3DAAAEAE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820727"/>
              </p:ext>
            </p:extLst>
          </p:nvPr>
        </p:nvGraphicFramePr>
        <p:xfrm>
          <a:off x="4611586" y="3758319"/>
          <a:ext cx="3567213" cy="2446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0665">
                  <a:extLst>
                    <a:ext uri="{9D8B030D-6E8A-4147-A177-3AD203B41FA5}">
                      <a16:colId xmlns:a16="http://schemas.microsoft.com/office/drawing/2014/main" val="3682060050"/>
                    </a:ext>
                  </a:extLst>
                </a:gridCol>
                <a:gridCol w="1483274">
                  <a:extLst>
                    <a:ext uri="{9D8B030D-6E8A-4147-A177-3AD203B41FA5}">
                      <a16:colId xmlns:a16="http://schemas.microsoft.com/office/drawing/2014/main" val="3157758909"/>
                    </a:ext>
                  </a:extLst>
                </a:gridCol>
                <a:gridCol w="1483274">
                  <a:extLst>
                    <a:ext uri="{9D8B030D-6E8A-4147-A177-3AD203B41FA5}">
                      <a16:colId xmlns:a16="http://schemas.microsoft.com/office/drawing/2014/main" val="3556240593"/>
                    </a:ext>
                  </a:extLst>
                </a:gridCol>
              </a:tblGrid>
              <a:tr h="14862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序号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满意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重要度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905985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 dirty="0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第三排空间足够</a:t>
                      </a:r>
                      <a:r>
                        <a:rPr lang="en-US" altLang="zh-CN" sz="800" b="0" i="0" u="none" strike="noStrike" dirty="0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113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67779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加速强劲</a:t>
                      </a:r>
                      <a:r>
                        <a:rPr lang="en-US" altLang="zh-CN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109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941965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 dirty="0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座椅舒服</a:t>
                      </a:r>
                      <a:r>
                        <a:rPr lang="en-US" altLang="zh-CN" sz="800" b="0" i="0" u="none" strike="noStrike" dirty="0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107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5FF"/>
                        </a:solidFill>
                        <a:effectLst/>
                        <a:uLnTx/>
                        <a:uFillTx/>
                        <a:latin typeface="微软雅黑"/>
                        <a:ea typeface="微软雅黑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74122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内饰材质不错</a:t>
                      </a:r>
                      <a:r>
                        <a:rPr lang="en-US" altLang="zh-CN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104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5FF"/>
                        </a:solidFill>
                        <a:effectLst/>
                        <a:uLnTx/>
                        <a:uFillTx/>
                        <a:latin typeface="微软雅黑"/>
                        <a:ea typeface="微软雅黑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110690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舒适性好</a:t>
                      </a:r>
                      <a:r>
                        <a:rPr lang="en-US" altLang="zh-CN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102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474402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续航里程长</a:t>
                      </a:r>
                      <a:r>
                        <a:rPr lang="en-US" altLang="zh-CN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84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001165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 dirty="0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座椅材质不错</a:t>
                      </a:r>
                      <a:r>
                        <a:rPr lang="en-US" altLang="zh-CN" sz="800" b="0" i="0" u="none" strike="noStrike" dirty="0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087129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 dirty="0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车身霸气</a:t>
                      </a:r>
                      <a:r>
                        <a:rPr lang="en-US" altLang="zh-CN" sz="800" b="0" i="0" u="none" strike="noStrike" dirty="0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78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5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321519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 dirty="0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车头设计好看</a:t>
                      </a:r>
                      <a:r>
                        <a:rPr lang="en-US" altLang="zh-CN" sz="800" b="0" i="0" u="none" strike="noStrike" dirty="0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74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5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954651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 dirty="0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油耗低</a:t>
                      </a:r>
                      <a:r>
                        <a:rPr lang="en-US" altLang="zh-CN" sz="800" b="0" i="0" u="none" strike="noStrike" dirty="0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70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119853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1B66A8E1-1811-419A-807A-DFED95EE6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169146"/>
              </p:ext>
            </p:extLst>
          </p:nvPr>
        </p:nvGraphicFramePr>
        <p:xfrm>
          <a:off x="8353169" y="3758319"/>
          <a:ext cx="3381634" cy="2436280"/>
        </p:xfrm>
        <a:graphic>
          <a:graphicData uri="http://schemas.openxmlformats.org/drawingml/2006/table">
            <a:tbl>
              <a:tblPr/>
              <a:tblGrid>
                <a:gridCol w="569416">
                  <a:extLst>
                    <a:ext uri="{9D8B030D-6E8A-4147-A177-3AD203B41FA5}">
                      <a16:colId xmlns:a16="http://schemas.microsoft.com/office/drawing/2014/main" val="3192849396"/>
                    </a:ext>
                  </a:extLst>
                </a:gridCol>
                <a:gridCol w="1406109">
                  <a:extLst>
                    <a:ext uri="{9D8B030D-6E8A-4147-A177-3AD203B41FA5}">
                      <a16:colId xmlns:a16="http://schemas.microsoft.com/office/drawing/2014/main" val="2817775672"/>
                    </a:ext>
                  </a:extLst>
                </a:gridCol>
                <a:gridCol w="1406109">
                  <a:extLst>
                    <a:ext uri="{9D8B030D-6E8A-4147-A177-3AD203B41FA5}">
                      <a16:colId xmlns:a16="http://schemas.microsoft.com/office/drawing/2014/main" val="785369610"/>
                    </a:ext>
                  </a:extLst>
                </a:gridCol>
              </a:tblGrid>
              <a:tr h="15720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重要度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8428634"/>
                  </a:ext>
                </a:extLst>
              </a:tr>
              <a:tr h="225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 dirty="0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车头灯亮度小</a:t>
                      </a:r>
                      <a:r>
                        <a:rPr lang="en-US" altLang="zh-CN" sz="800" b="0" i="0" u="none" strike="noStrike" dirty="0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</a:p>
                  </a:txBody>
                  <a:tcPr marL="20574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7014482"/>
                  </a:ext>
                </a:extLst>
              </a:tr>
              <a:tr h="225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氛围灯不耐看</a:t>
                      </a:r>
                      <a:r>
                        <a:rPr lang="en-US" altLang="zh-CN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  <a:endParaRPr lang="en-US" altLang="zh-CN" sz="800" b="0" i="0" u="none" strike="noStrike" dirty="0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0574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8531796"/>
                  </a:ext>
                </a:extLst>
              </a:tr>
              <a:tr h="2447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内饰异味大</a:t>
                      </a:r>
                      <a:r>
                        <a:rPr lang="en-US" altLang="zh-CN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800" b="0" i="0" u="none" strike="noStrike" dirty="0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0574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068743"/>
                  </a:ext>
                </a:extLst>
              </a:tr>
              <a:tr h="225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车灯不好</a:t>
                      </a:r>
                      <a:r>
                        <a:rPr lang="en-US" altLang="zh-CN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</a:p>
                  </a:txBody>
                  <a:tcPr marL="20574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952583"/>
                  </a:ext>
                </a:extLst>
              </a:tr>
              <a:tr h="2307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刹车异响</a:t>
                      </a:r>
                      <a:r>
                        <a:rPr lang="en-US" altLang="zh-CN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</a:p>
                  </a:txBody>
                  <a:tcPr marL="20574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8189267"/>
                  </a:ext>
                </a:extLst>
              </a:tr>
              <a:tr h="225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杯架不好</a:t>
                      </a:r>
                      <a:r>
                        <a:rPr lang="en-US" altLang="zh-CN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800" b="0" i="0" u="none" strike="noStrike" dirty="0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0574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1094443"/>
                  </a:ext>
                </a:extLst>
              </a:tr>
              <a:tr h="225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发动机噪音大</a:t>
                      </a:r>
                      <a:r>
                        <a:rPr lang="en-US" altLang="zh-CN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20574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7239409"/>
                  </a:ext>
                </a:extLst>
              </a:tr>
              <a:tr h="225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充电速度慢</a:t>
                      </a:r>
                      <a:r>
                        <a:rPr lang="en-US" altLang="zh-CN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800" b="0" i="0" u="none" strike="noStrike" dirty="0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0574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5737762"/>
                  </a:ext>
                </a:extLst>
              </a:tr>
              <a:tr h="225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没有眼镜盒</a:t>
                      </a:r>
                      <a:r>
                        <a:rPr lang="en-US" altLang="zh-CN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800" b="0" i="0" u="none" strike="noStrike" dirty="0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0574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1613424"/>
                  </a:ext>
                </a:extLst>
              </a:tr>
              <a:tr h="225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 dirty="0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车漆薄</a:t>
                      </a:r>
                      <a:r>
                        <a:rPr lang="en-US" altLang="zh-CN" sz="800" b="0" i="0" u="none" strike="noStrike" dirty="0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20574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0353536"/>
                  </a:ext>
                </a:extLst>
              </a:tr>
            </a:tbl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5DA96083-7323-4F63-B63D-14C6C8952A8A}"/>
              </a:ext>
            </a:extLst>
          </p:cNvPr>
          <p:cNvSpPr/>
          <p:nvPr/>
        </p:nvSpPr>
        <p:spPr>
          <a:xfrm>
            <a:off x="8353169" y="3461106"/>
            <a:ext cx="1495501" cy="28576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不满意</a:t>
            </a:r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TOP10</a:t>
            </a:r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72725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AFD32D-C782-ADE2-926C-FF186DD515C9}"/>
              </a:ext>
            </a:extLst>
          </p:cNvPr>
          <p:cNvSpPr txBox="1"/>
          <p:nvPr/>
        </p:nvSpPr>
        <p:spPr bwMode="auto">
          <a:xfrm>
            <a:off x="0" y="95250"/>
            <a:ext cx="12192000" cy="35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2250"/>
              </a:lnSpc>
              <a:tabLst>
                <a:tab pos="32258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NX1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用户趋势分析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小鹏 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X9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4D90B3D-083C-A02D-22FB-D53BA8AF6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13319"/>
              </p:ext>
            </p:extLst>
          </p:nvPr>
        </p:nvGraphicFramePr>
        <p:xfrm>
          <a:off x="391155" y="848060"/>
          <a:ext cx="3881126" cy="8370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6424">
                  <a:extLst>
                    <a:ext uri="{9D8B030D-6E8A-4147-A177-3AD203B41FA5}">
                      <a16:colId xmlns:a16="http://schemas.microsoft.com/office/drawing/2014/main" val="587934770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31835273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219233695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3664806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14828353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109899700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4209540011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2091170211"/>
                    </a:ext>
                  </a:extLst>
                </a:gridCol>
              </a:tblGrid>
              <a:tr h="30231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车型版本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外观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性价比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智能化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续航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驾驶</a:t>
                      </a:r>
                      <a:endParaRPr lang="en-US" altLang="zh-CN" sz="100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感受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637524"/>
                  </a:ext>
                </a:extLst>
              </a:tr>
              <a:tr h="5322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小鹏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84.2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89.2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86.3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88.8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92.8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85.2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87.5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157839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942EB02-68A2-A63D-1BF3-DF6B46B8AE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983495"/>
              </p:ext>
            </p:extLst>
          </p:nvPr>
        </p:nvGraphicFramePr>
        <p:xfrm>
          <a:off x="4437216" y="848058"/>
          <a:ext cx="7518247" cy="2641421"/>
        </p:xfrm>
        <a:graphic>
          <a:graphicData uri="http://schemas.openxmlformats.org/drawingml/2006/table">
            <a:tbl>
              <a:tblPr/>
              <a:tblGrid>
                <a:gridCol w="683477">
                  <a:extLst>
                    <a:ext uri="{9D8B030D-6E8A-4147-A177-3AD203B41FA5}">
                      <a16:colId xmlns:a16="http://schemas.microsoft.com/office/drawing/2014/main" val="325790476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554068689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88853909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191648071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95411566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488998727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81927537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04238213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1935054496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608258960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998316053"/>
                    </a:ext>
                  </a:extLst>
                </a:gridCol>
              </a:tblGrid>
              <a:tr h="31061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维度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子维度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不满意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中立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满意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总提及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维度总提及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提及率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满意占比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中立占比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不满意占比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42487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外观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整体造型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94.4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379363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性价比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价格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88.7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597740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性价比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配置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37.9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11.6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087894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续航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纯电续航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37.4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92.6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7.4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151524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内饰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中控设计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25.7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95.4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199592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空间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后排空间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20.2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96.9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002563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驾驶感受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加速性能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264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24.2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379139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内饰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座椅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22.9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87.9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12.1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981819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智能化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辅助驾驶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29.8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83.9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14.3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55424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空间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第三排空间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16.2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94.2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755300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ABB1BF5B-4EC2-DC0B-9333-7180A82E9D86}"/>
              </a:ext>
            </a:extLst>
          </p:cNvPr>
          <p:cNvSpPr/>
          <p:nvPr/>
        </p:nvSpPr>
        <p:spPr>
          <a:xfrm>
            <a:off x="391155" y="653181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L1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级雷达图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8D81083-0DD3-FCF2-8531-DEF1BC933516}"/>
              </a:ext>
            </a:extLst>
          </p:cNvPr>
          <p:cNvSpPr/>
          <p:nvPr/>
        </p:nvSpPr>
        <p:spPr>
          <a:xfrm>
            <a:off x="4397299" y="653181"/>
            <a:ext cx="1896821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各维度提及率和满意度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538C513-9B9E-25E6-7BB0-31437872D1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955" y="1977903"/>
            <a:ext cx="3958855" cy="409746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BD891D76-2372-4B96-BE4F-1107C3750337}"/>
              </a:ext>
            </a:extLst>
          </p:cNvPr>
          <p:cNvSpPr/>
          <p:nvPr/>
        </p:nvSpPr>
        <p:spPr>
          <a:xfrm>
            <a:off x="4437216" y="3552092"/>
            <a:ext cx="7518247" cy="2895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75AD586-8897-4236-9E05-5DB9F25EADDE}"/>
              </a:ext>
            </a:extLst>
          </p:cNvPr>
          <p:cNvSpPr/>
          <p:nvPr/>
        </p:nvSpPr>
        <p:spPr>
          <a:xfrm>
            <a:off x="4397299" y="3429000"/>
            <a:ext cx="1495501" cy="28576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满意项目</a:t>
            </a:r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TOP10</a:t>
            </a:r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490E7F8E-91EA-4B17-A9C1-E2225E2FD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877931"/>
              </p:ext>
            </p:extLst>
          </p:nvPr>
        </p:nvGraphicFramePr>
        <p:xfrm>
          <a:off x="4611586" y="3758319"/>
          <a:ext cx="3567213" cy="2446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0665">
                  <a:extLst>
                    <a:ext uri="{9D8B030D-6E8A-4147-A177-3AD203B41FA5}">
                      <a16:colId xmlns:a16="http://schemas.microsoft.com/office/drawing/2014/main" val="3682060050"/>
                    </a:ext>
                  </a:extLst>
                </a:gridCol>
                <a:gridCol w="1483274">
                  <a:extLst>
                    <a:ext uri="{9D8B030D-6E8A-4147-A177-3AD203B41FA5}">
                      <a16:colId xmlns:a16="http://schemas.microsoft.com/office/drawing/2014/main" val="3157758909"/>
                    </a:ext>
                  </a:extLst>
                </a:gridCol>
                <a:gridCol w="1483274">
                  <a:extLst>
                    <a:ext uri="{9D8B030D-6E8A-4147-A177-3AD203B41FA5}">
                      <a16:colId xmlns:a16="http://schemas.microsoft.com/office/drawing/2014/main" val="3556240593"/>
                    </a:ext>
                  </a:extLst>
                </a:gridCol>
              </a:tblGrid>
              <a:tr h="14862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序号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满意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重要度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905985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配置高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67779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储物空间设计合理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941965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第三排空间足够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5FF"/>
                        </a:solidFill>
                        <a:effectLst/>
                        <a:uLnTx/>
                        <a:uFillTx/>
                        <a:latin typeface="微软雅黑"/>
                        <a:ea typeface="微软雅黑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74122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方向盘轻重合适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5FF"/>
                        </a:solidFill>
                        <a:effectLst/>
                        <a:uLnTx/>
                        <a:uFillTx/>
                        <a:latin typeface="微软雅黑"/>
                        <a:ea typeface="微软雅黑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110690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内饰材质满意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474402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空间够用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001165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动力足够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087129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zh-CN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5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321519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zh-CN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5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954651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zh-CN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119853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A4B736EA-47C8-4023-BFD0-1461C976AD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371001"/>
              </p:ext>
            </p:extLst>
          </p:nvPr>
        </p:nvGraphicFramePr>
        <p:xfrm>
          <a:off x="8353169" y="3758319"/>
          <a:ext cx="3381634" cy="2436280"/>
        </p:xfrm>
        <a:graphic>
          <a:graphicData uri="http://schemas.openxmlformats.org/drawingml/2006/table">
            <a:tbl>
              <a:tblPr/>
              <a:tblGrid>
                <a:gridCol w="569416">
                  <a:extLst>
                    <a:ext uri="{9D8B030D-6E8A-4147-A177-3AD203B41FA5}">
                      <a16:colId xmlns:a16="http://schemas.microsoft.com/office/drawing/2014/main" val="3192849396"/>
                    </a:ext>
                  </a:extLst>
                </a:gridCol>
                <a:gridCol w="1406109">
                  <a:extLst>
                    <a:ext uri="{9D8B030D-6E8A-4147-A177-3AD203B41FA5}">
                      <a16:colId xmlns:a16="http://schemas.microsoft.com/office/drawing/2014/main" val="2817775672"/>
                    </a:ext>
                  </a:extLst>
                </a:gridCol>
                <a:gridCol w="1406109">
                  <a:extLst>
                    <a:ext uri="{9D8B030D-6E8A-4147-A177-3AD203B41FA5}">
                      <a16:colId xmlns:a16="http://schemas.microsoft.com/office/drawing/2014/main" val="785369610"/>
                    </a:ext>
                  </a:extLst>
                </a:gridCol>
              </a:tblGrid>
              <a:tr h="15720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重要度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8428634"/>
                  </a:ext>
                </a:extLst>
              </a:tr>
              <a:tr h="225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风噪大</a:t>
                      </a:r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20574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7014482"/>
                  </a:ext>
                </a:extLst>
              </a:tr>
              <a:tr h="225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800" b="0" i="0" u="none" strike="noStrike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8531796"/>
                  </a:ext>
                </a:extLst>
              </a:tr>
              <a:tr h="2447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800" b="0" i="0" u="none" strike="noStrike" dirty="0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068743"/>
                  </a:ext>
                </a:extLst>
              </a:tr>
              <a:tr h="225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800" b="0" i="0" u="none" strike="noStrike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952583"/>
                  </a:ext>
                </a:extLst>
              </a:tr>
              <a:tr h="2307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800" b="0" i="0" u="none" strike="noStrike" dirty="0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8189267"/>
                  </a:ext>
                </a:extLst>
              </a:tr>
              <a:tr h="225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800" b="0" i="0" u="none" strike="noStrike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1094443"/>
                  </a:ext>
                </a:extLst>
              </a:tr>
              <a:tr h="225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800" b="0" i="0" u="none" strike="noStrike" dirty="0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7239409"/>
                  </a:ext>
                </a:extLst>
              </a:tr>
              <a:tr h="225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800" b="0" i="0" u="none" strike="noStrike" dirty="0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5737762"/>
                  </a:ext>
                </a:extLst>
              </a:tr>
              <a:tr h="225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800" b="0" i="0" u="none" strike="noStrike" dirty="0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1613424"/>
                  </a:ext>
                </a:extLst>
              </a:tr>
              <a:tr h="225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800" b="0" i="0" u="none" strike="noStrike" dirty="0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0353536"/>
                  </a:ext>
                </a:extLst>
              </a:tr>
            </a:tbl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41037149-B439-4853-8906-26D154083B25}"/>
              </a:ext>
            </a:extLst>
          </p:cNvPr>
          <p:cNvSpPr/>
          <p:nvPr/>
        </p:nvSpPr>
        <p:spPr>
          <a:xfrm>
            <a:off x="8353169" y="3461106"/>
            <a:ext cx="1495501" cy="28576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不满意</a:t>
            </a:r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TOP10</a:t>
            </a:r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45589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D7B38C-8B64-6E7B-DC1C-F7BB882F310F}"/>
              </a:ext>
            </a:extLst>
          </p:cNvPr>
          <p:cNvSpPr txBox="1"/>
          <p:nvPr/>
        </p:nvSpPr>
        <p:spPr bwMode="auto">
          <a:xfrm>
            <a:off x="0" y="95250"/>
            <a:ext cx="12192000" cy="35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2250"/>
              </a:lnSpc>
              <a:tabLst>
                <a:tab pos="32258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NX1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用户趋势分析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极氪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009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323E0E5-7BEC-DA42-E6B0-EE8ECFE67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157313"/>
              </p:ext>
            </p:extLst>
          </p:nvPr>
        </p:nvGraphicFramePr>
        <p:xfrm>
          <a:off x="391155" y="848060"/>
          <a:ext cx="3881126" cy="8370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6424">
                  <a:extLst>
                    <a:ext uri="{9D8B030D-6E8A-4147-A177-3AD203B41FA5}">
                      <a16:colId xmlns:a16="http://schemas.microsoft.com/office/drawing/2014/main" val="587934770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31835273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219233695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3664806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14828353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109899700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4209540011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2091170211"/>
                    </a:ext>
                  </a:extLst>
                </a:gridCol>
              </a:tblGrid>
              <a:tr h="30231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车型版本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外观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性价比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智能化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续航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驾驶</a:t>
                      </a:r>
                      <a:endParaRPr lang="en-US" altLang="zh-CN" sz="100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感受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637524"/>
                  </a:ext>
                </a:extLst>
              </a:tr>
              <a:tr h="5322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极氪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89.3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85.1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68.4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76.3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88.8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76.1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87.8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157839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18A42B2-CBE8-21AD-2257-A1FB36235F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808453"/>
              </p:ext>
            </p:extLst>
          </p:nvPr>
        </p:nvGraphicFramePr>
        <p:xfrm>
          <a:off x="4437216" y="848058"/>
          <a:ext cx="7518247" cy="2641421"/>
        </p:xfrm>
        <a:graphic>
          <a:graphicData uri="http://schemas.openxmlformats.org/drawingml/2006/table">
            <a:tbl>
              <a:tblPr/>
              <a:tblGrid>
                <a:gridCol w="683477">
                  <a:extLst>
                    <a:ext uri="{9D8B030D-6E8A-4147-A177-3AD203B41FA5}">
                      <a16:colId xmlns:a16="http://schemas.microsoft.com/office/drawing/2014/main" val="325790476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554068689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88853909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191648071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95411566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488998727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81927537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04238213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1935054496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608258960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998316053"/>
                    </a:ext>
                  </a:extLst>
                </a:gridCol>
              </a:tblGrid>
              <a:tr h="31061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子维度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中立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满意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总提及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维度总提及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提及率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满意占比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中立占比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42487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性价比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价格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39.9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54.5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32.5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379363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续航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纯电续航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40.4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92.1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6.6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597740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驾驶感受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加速性能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312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23.1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97.2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087894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智能化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辅助驾驶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224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28.6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64.1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14.1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21.9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151524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性价比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配置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32.1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82.3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16.1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199592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内饰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座椅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22.9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98.3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002563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内饰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材质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21.3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94.4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5.6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379139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驾驶感受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稳定性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312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17.3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98.1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981819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内饰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中控设计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20.9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84.9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13.2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55424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空间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第三排空间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260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20.4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81.1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5.7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13.2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755300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42D4E77D-1BED-26F5-DF2A-6EE2C677B369}"/>
              </a:ext>
            </a:extLst>
          </p:cNvPr>
          <p:cNvSpPr/>
          <p:nvPr/>
        </p:nvSpPr>
        <p:spPr>
          <a:xfrm>
            <a:off x="391155" y="653181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L1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级雷达图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1FB3D2-4342-2DE1-7DD9-446DC2C668E7}"/>
              </a:ext>
            </a:extLst>
          </p:cNvPr>
          <p:cNvSpPr/>
          <p:nvPr/>
        </p:nvSpPr>
        <p:spPr>
          <a:xfrm>
            <a:off x="4397299" y="653181"/>
            <a:ext cx="1896821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各维度提及率和满意度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0E7E2636-74C8-EFF8-8353-CDEAD64B0F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79" y="1996445"/>
            <a:ext cx="3940941" cy="4078918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404D5D90-77C1-4E39-BF61-84BFD085E37F}"/>
              </a:ext>
            </a:extLst>
          </p:cNvPr>
          <p:cNvSpPr/>
          <p:nvPr/>
        </p:nvSpPr>
        <p:spPr>
          <a:xfrm>
            <a:off x="4437216" y="3552092"/>
            <a:ext cx="7518247" cy="2895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CE88D5D-4C5A-40DE-B0C7-4DB9D7F924AF}"/>
              </a:ext>
            </a:extLst>
          </p:cNvPr>
          <p:cNvSpPr/>
          <p:nvPr/>
        </p:nvSpPr>
        <p:spPr>
          <a:xfrm>
            <a:off x="4397299" y="3429000"/>
            <a:ext cx="1495501" cy="28576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满意项目</a:t>
            </a:r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TOP10</a:t>
            </a:r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BA49C40E-6C5F-4DD2-B691-A753C5729B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879964"/>
              </p:ext>
            </p:extLst>
          </p:nvPr>
        </p:nvGraphicFramePr>
        <p:xfrm>
          <a:off x="4611586" y="3758319"/>
          <a:ext cx="3567213" cy="2446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0665">
                  <a:extLst>
                    <a:ext uri="{9D8B030D-6E8A-4147-A177-3AD203B41FA5}">
                      <a16:colId xmlns:a16="http://schemas.microsoft.com/office/drawing/2014/main" val="3682060050"/>
                    </a:ext>
                  </a:extLst>
                </a:gridCol>
                <a:gridCol w="1483274">
                  <a:extLst>
                    <a:ext uri="{9D8B030D-6E8A-4147-A177-3AD203B41FA5}">
                      <a16:colId xmlns:a16="http://schemas.microsoft.com/office/drawing/2014/main" val="3157758909"/>
                    </a:ext>
                  </a:extLst>
                </a:gridCol>
                <a:gridCol w="1483274">
                  <a:extLst>
                    <a:ext uri="{9D8B030D-6E8A-4147-A177-3AD203B41FA5}">
                      <a16:colId xmlns:a16="http://schemas.microsoft.com/office/drawing/2014/main" val="3556240593"/>
                    </a:ext>
                  </a:extLst>
                </a:gridCol>
              </a:tblGrid>
              <a:tr h="14862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序号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满意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重要度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905985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座椅舒适</a:t>
                      </a:r>
                      <a:r>
                        <a:rPr lang="en-US" altLang="zh-CN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67779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后排空间足够</a:t>
                      </a:r>
                      <a:r>
                        <a:rPr lang="en-US" altLang="zh-CN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85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941965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内饰材质好</a:t>
                      </a:r>
                      <a:r>
                        <a:rPr lang="en-US" altLang="zh-CN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5FF"/>
                        </a:solidFill>
                        <a:effectLst/>
                        <a:uLnTx/>
                        <a:uFillTx/>
                        <a:latin typeface="微软雅黑"/>
                        <a:ea typeface="微软雅黑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74122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内饰高端</a:t>
                      </a:r>
                      <a:r>
                        <a:rPr lang="en-US" altLang="zh-CN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5FF"/>
                        </a:solidFill>
                        <a:effectLst/>
                        <a:uLnTx/>
                        <a:uFillTx/>
                        <a:latin typeface="微软雅黑"/>
                        <a:ea typeface="微软雅黑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110690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加速强劲</a:t>
                      </a:r>
                      <a:r>
                        <a:rPr lang="en-US" altLang="zh-CN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68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474402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车身霸气</a:t>
                      </a:r>
                      <a:r>
                        <a:rPr lang="en-US" altLang="zh-CN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62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001165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悬架减震舒适</a:t>
                      </a:r>
                      <a:r>
                        <a:rPr lang="en-US" altLang="zh-CN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59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087129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行驶稳定性不错</a:t>
                      </a:r>
                      <a:r>
                        <a:rPr lang="en-US" altLang="zh-CN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5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321519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第三排空间够用</a:t>
                      </a:r>
                      <a:r>
                        <a:rPr lang="en-US" altLang="zh-CN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5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954651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 dirty="0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座椅舒适</a:t>
                      </a:r>
                      <a:r>
                        <a:rPr lang="en-US" altLang="zh-CN" sz="800" b="0" i="0" u="none" strike="noStrike" dirty="0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119853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D7E299EE-53C9-451B-96A4-0D816D408D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836164"/>
              </p:ext>
            </p:extLst>
          </p:nvPr>
        </p:nvGraphicFramePr>
        <p:xfrm>
          <a:off x="8353169" y="3758319"/>
          <a:ext cx="3381634" cy="2436280"/>
        </p:xfrm>
        <a:graphic>
          <a:graphicData uri="http://schemas.openxmlformats.org/drawingml/2006/table">
            <a:tbl>
              <a:tblPr/>
              <a:tblGrid>
                <a:gridCol w="569416">
                  <a:extLst>
                    <a:ext uri="{9D8B030D-6E8A-4147-A177-3AD203B41FA5}">
                      <a16:colId xmlns:a16="http://schemas.microsoft.com/office/drawing/2014/main" val="3192849396"/>
                    </a:ext>
                  </a:extLst>
                </a:gridCol>
                <a:gridCol w="1406109">
                  <a:extLst>
                    <a:ext uri="{9D8B030D-6E8A-4147-A177-3AD203B41FA5}">
                      <a16:colId xmlns:a16="http://schemas.microsoft.com/office/drawing/2014/main" val="2817775672"/>
                    </a:ext>
                  </a:extLst>
                </a:gridCol>
                <a:gridCol w="1406109">
                  <a:extLst>
                    <a:ext uri="{9D8B030D-6E8A-4147-A177-3AD203B41FA5}">
                      <a16:colId xmlns:a16="http://schemas.microsoft.com/office/drawing/2014/main" val="785369610"/>
                    </a:ext>
                  </a:extLst>
                </a:gridCol>
              </a:tblGrid>
              <a:tr h="15720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重要度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8428634"/>
                  </a:ext>
                </a:extLst>
              </a:tr>
              <a:tr h="225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前备厢空间小</a:t>
                      </a:r>
                      <a:r>
                        <a:rPr lang="en-US" altLang="zh-CN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</a:p>
                  </a:txBody>
                  <a:tcPr marL="20574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7014482"/>
                  </a:ext>
                </a:extLst>
              </a:tr>
              <a:tr h="225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优惠幅度小</a:t>
                      </a:r>
                      <a:r>
                        <a:rPr lang="en-US" altLang="zh-CN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</a:p>
                  </a:txBody>
                  <a:tcPr marL="20574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8531796"/>
                  </a:ext>
                </a:extLst>
              </a:tr>
              <a:tr h="2447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电耗大</a:t>
                      </a:r>
                      <a:r>
                        <a:rPr lang="en-US" altLang="zh-CN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20574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068743"/>
                  </a:ext>
                </a:extLst>
              </a:tr>
              <a:tr h="225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续航里程小</a:t>
                      </a:r>
                      <a:r>
                        <a:rPr lang="en-US" altLang="zh-CN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20574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952583"/>
                  </a:ext>
                </a:extLst>
              </a:tr>
              <a:tr h="2307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第三排座椅不舒服</a:t>
                      </a:r>
                      <a:r>
                        <a:rPr lang="en-US" altLang="zh-CN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20574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8189267"/>
                  </a:ext>
                </a:extLst>
              </a:tr>
              <a:tr h="225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车机不好</a:t>
                      </a:r>
                      <a:r>
                        <a:rPr lang="en-US" altLang="zh-CN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20574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1094443"/>
                  </a:ext>
                </a:extLst>
              </a:tr>
              <a:tr h="225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内饰易脏</a:t>
                      </a:r>
                      <a:r>
                        <a:rPr lang="en-US" altLang="zh-CN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20574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7239409"/>
                  </a:ext>
                </a:extLst>
              </a:tr>
              <a:tr h="225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没有座椅通风</a:t>
                      </a:r>
                      <a:r>
                        <a:rPr lang="en-US" altLang="zh-CN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20574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5737762"/>
                  </a:ext>
                </a:extLst>
              </a:tr>
              <a:tr h="225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语音识别功能不好</a:t>
                      </a:r>
                      <a:r>
                        <a:rPr lang="en-US" altLang="zh-CN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20574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1613424"/>
                  </a:ext>
                </a:extLst>
              </a:tr>
              <a:tr h="225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 dirty="0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前备厢空间小</a:t>
                      </a:r>
                      <a:r>
                        <a:rPr lang="en-US" altLang="zh-CN" sz="800" b="0" i="0" u="none" strike="noStrike" dirty="0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</a:p>
                  </a:txBody>
                  <a:tcPr marL="20574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0353536"/>
                  </a:ext>
                </a:extLst>
              </a:tr>
            </a:tbl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D3EF42A4-4779-4AA8-922C-974D687B30C8}"/>
              </a:ext>
            </a:extLst>
          </p:cNvPr>
          <p:cNvSpPr/>
          <p:nvPr/>
        </p:nvSpPr>
        <p:spPr>
          <a:xfrm>
            <a:off x="8353169" y="3461106"/>
            <a:ext cx="1495501" cy="28576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不满意</a:t>
            </a:r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TOP10</a:t>
            </a:r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96040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0F07F70-E023-CC30-EF4E-146B3DCB3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29D526-8D55-096B-7745-B824CCC76D43}"/>
              </a:ext>
            </a:extLst>
          </p:cNvPr>
          <p:cNvSpPr txBox="1"/>
          <p:nvPr/>
        </p:nvSpPr>
        <p:spPr bwMode="auto">
          <a:xfrm>
            <a:off x="0" y="95250"/>
            <a:ext cx="12192000" cy="35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2250"/>
              </a:lnSpc>
              <a:tabLst>
                <a:tab pos="32258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NX1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用户趋势分析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别克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GL8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新能源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B49D91E-63E7-2525-1BF2-08F8FD7614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703532"/>
              </p:ext>
            </p:extLst>
          </p:nvPr>
        </p:nvGraphicFramePr>
        <p:xfrm>
          <a:off x="391155" y="848060"/>
          <a:ext cx="3881126" cy="8370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6424">
                  <a:extLst>
                    <a:ext uri="{9D8B030D-6E8A-4147-A177-3AD203B41FA5}">
                      <a16:colId xmlns:a16="http://schemas.microsoft.com/office/drawing/2014/main" val="587934770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31835273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219233695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3664806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14828353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109899700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4209540011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2091170211"/>
                    </a:ext>
                  </a:extLst>
                </a:gridCol>
              </a:tblGrid>
              <a:tr h="30231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车型版本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内饰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外观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性价比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智能化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空间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续航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驾驶</a:t>
                      </a:r>
                      <a:endParaRPr lang="en-US" altLang="zh-CN" sz="1000" u="none" strike="noStrike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感受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637524"/>
                  </a:ext>
                </a:extLst>
              </a:tr>
              <a:tr h="5322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别克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GL8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新能源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65.9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86.9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55.8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90.7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62.1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157839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F1236E0-F396-B803-CD99-A77861DF61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907398"/>
              </p:ext>
            </p:extLst>
          </p:nvPr>
        </p:nvGraphicFramePr>
        <p:xfrm>
          <a:off x="4437216" y="848058"/>
          <a:ext cx="7518247" cy="2483617"/>
        </p:xfrm>
        <a:graphic>
          <a:graphicData uri="http://schemas.openxmlformats.org/drawingml/2006/table">
            <a:tbl>
              <a:tblPr/>
              <a:tblGrid>
                <a:gridCol w="683477">
                  <a:extLst>
                    <a:ext uri="{9D8B030D-6E8A-4147-A177-3AD203B41FA5}">
                      <a16:colId xmlns:a16="http://schemas.microsoft.com/office/drawing/2014/main" val="325790476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554068689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88853909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191648071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95411566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488998727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81927537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04238213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1935054496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608258960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998316053"/>
                    </a:ext>
                  </a:extLst>
                </a:gridCol>
              </a:tblGrid>
              <a:tr h="33562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维度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子维度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不满意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中立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满意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总提及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维度总提及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提及率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满意占比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中立占比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不满意占比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42487"/>
                  </a:ext>
                </a:extLst>
              </a:tr>
              <a:tr h="238666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外观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整体造型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35.2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4.7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597740"/>
                  </a:ext>
                </a:extLst>
              </a:tr>
              <a:tr h="238666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驾驶感受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加速性能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23.4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87.5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7.5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087894"/>
                  </a:ext>
                </a:extLst>
              </a:tr>
              <a:tr h="238666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智能化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辅助驾驶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34.6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58.3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22.2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19.4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151524"/>
                  </a:ext>
                </a:extLst>
              </a:tr>
              <a:tr h="238666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续航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纯电续航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29.3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55.9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14.7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29.4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199592"/>
                  </a:ext>
                </a:extLst>
              </a:tr>
              <a:tr h="238666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性价比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配置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69.7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6.1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24.2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002563"/>
                  </a:ext>
                </a:extLst>
              </a:tr>
              <a:tr h="238666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性价比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价格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78.8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15.2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6.1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379139"/>
                  </a:ext>
                </a:extLst>
              </a:tr>
              <a:tr h="238666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驾驶感受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噪音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16.4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60.7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10.7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28.6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981819"/>
                  </a:ext>
                </a:extLst>
              </a:tr>
              <a:tr h="238666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续航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综合续航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24.1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89.3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7.1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55424"/>
                  </a:ext>
                </a:extLst>
              </a:tr>
              <a:tr h="238666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空间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后排空间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19.3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92.6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7.4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755300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D6E14D8A-62C0-28FD-DD35-FA4C90E4083E}"/>
              </a:ext>
            </a:extLst>
          </p:cNvPr>
          <p:cNvSpPr/>
          <p:nvPr/>
        </p:nvSpPr>
        <p:spPr>
          <a:xfrm>
            <a:off x="391155" y="653181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L1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级雷达图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2F9EECF-5FF8-D046-E395-AEC9DAC8D9CD}"/>
              </a:ext>
            </a:extLst>
          </p:cNvPr>
          <p:cNvSpPr/>
          <p:nvPr/>
        </p:nvSpPr>
        <p:spPr>
          <a:xfrm>
            <a:off x="4397299" y="653181"/>
            <a:ext cx="1896821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各维度提及率和满意度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E2822FA6-77CF-AB16-A080-541103048D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98" y="2079498"/>
            <a:ext cx="4116110" cy="426022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302EC7A0-7FFF-4CBA-B3DD-ABAA520E4E46}"/>
              </a:ext>
            </a:extLst>
          </p:cNvPr>
          <p:cNvSpPr/>
          <p:nvPr/>
        </p:nvSpPr>
        <p:spPr>
          <a:xfrm>
            <a:off x="4437216" y="3552092"/>
            <a:ext cx="7518247" cy="2895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13F1041-BCC8-44C1-82C8-80765B7B80BE}"/>
              </a:ext>
            </a:extLst>
          </p:cNvPr>
          <p:cNvSpPr/>
          <p:nvPr/>
        </p:nvSpPr>
        <p:spPr>
          <a:xfrm>
            <a:off x="4397299" y="3429000"/>
            <a:ext cx="1495501" cy="28576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满意项目</a:t>
            </a:r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TOP10</a:t>
            </a:r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7B87C466-3CDF-4C8E-8FE9-E772C0612E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151156"/>
              </p:ext>
            </p:extLst>
          </p:nvPr>
        </p:nvGraphicFramePr>
        <p:xfrm>
          <a:off x="4611586" y="3758319"/>
          <a:ext cx="3567213" cy="2446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0665">
                  <a:extLst>
                    <a:ext uri="{9D8B030D-6E8A-4147-A177-3AD203B41FA5}">
                      <a16:colId xmlns:a16="http://schemas.microsoft.com/office/drawing/2014/main" val="3682060050"/>
                    </a:ext>
                  </a:extLst>
                </a:gridCol>
                <a:gridCol w="1483274">
                  <a:extLst>
                    <a:ext uri="{9D8B030D-6E8A-4147-A177-3AD203B41FA5}">
                      <a16:colId xmlns:a16="http://schemas.microsoft.com/office/drawing/2014/main" val="3157758909"/>
                    </a:ext>
                  </a:extLst>
                </a:gridCol>
                <a:gridCol w="1483274">
                  <a:extLst>
                    <a:ext uri="{9D8B030D-6E8A-4147-A177-3AD203B41FA5}">
                      <a16:colId xmlns:a16="http://schemas.microsoft.com/office/drawing/2014/main" val="3556240593"/>
                    </a:ext>
                  </a:extLst>
                </a:gridCol>
              </a:tblGrid>
              <a:tr h="14862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序号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满意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重要度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905985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舒适性好</a:t>
                      </a:r>
                      <a:r>
                        <a:rPr lang="en-US" altLang="zh-CN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101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67779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加速强劲</a:t>
                      </a:r>
                      <a:r>
                        <a:rPr lang="en-US" altLang="zh-CN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84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941965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座椅舒适</a:t>
                      </a:r>
                      <a:r>
                        <a:rPr lang="en-US" altLang="zh-CN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82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5FF"/>
                        </a:solidFill>
                        <a:effectLst/>
                        <a:uLnTx/>
                        <a:uFillTx/>
                        <a:latin typeface="微软雅黑"/>
                        <a:ea typeface="微软雅黑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74122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油耗低</a:t>
                      </a:r>
                      <a:r>
                        <a:rPr lang="en-US" altLang="zh-CN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59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5FF"/>
                        </a:solidFill>
                        <a:effectLst/>
                        <a:uLnTx/>
                        <a:uFillTx/>
                        <a:latin typeface="微软雅黑"/>
                        <a:ea typeface="微软雅黑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110690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续航里程大</a:t>
                      </a:r>
                      <a:r>
                        <a:rPr lang="en-US" altLang="zh-CN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474402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内饰材质好</a:t>
                      </a:r>
                      <a:r>
                        <a:rPr lang="en-US" altLang="zh-CN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001165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车身霸气</a:t>
                      </a:r>
                      <a:r>
                        <a:rPr lang="en-US" altLang="zh-CN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087129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行驶稳定性满意</a:t>
                      </a:r>
                      <a:r>
                        <a:rPr lang="en-US" altLang="zh-CN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5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321519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座椅材质不错</a:t>
                      </a:r>
                      <a:r>
                        <a:rPr lang="en-US" altLang="zh-CN" sz="800" b="0" i="0" u="none" strike="noStrike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44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5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954651"/>
                  </a:ext>
                </a:extLst>
              </a:tr>
              <a:tr h="2286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 dirty="0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舒适性好</a:t>
                      </a:r>
                      <a:r>
                        <a:rPr lang="en-US" altLang="zh-CN" sz="800" b="0" i="0" u="none" strike="noStrike" dirty="0">
                          <a:solidFill>
                            <a:srgbClr val="0055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101</a:t>
                      </a:r>
                    </a:p>
                  </a:txBody>
                  <a:tcPr marL="20574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119853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21D80E67-96AB-4050-A302-585642E46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430430"/>
              </p:ext>
            </p:extLst>
          </p:nvPr>
        </p:nvGraphicFramePr>
        <p:xfrm>
          <a:off x="8353169" y="3758319"/>
          <a:ext cx="3381634" cy="2436280"/>
        </p:xfrm>
        <a:graphic>
          <a:graphicData uri="http://schemas.openxmlformats.org/drawingml/2006/table">
            <a:tbl>
              <a:tblPr/>
              <a:tblGrid>
                <a:gridCol w="569416">
                  <a:extLst>
                    <a:ext uri="{9D8B030D-6E8A-4147-A177-3AD203B41FA5}">
                      <a16:colId xmlns:a16="http://schemas.microsoft.com/office/drawing/2014/main" val="3192849396"/>
                    </a:ext>
                  </a:extLst>
                </a:gridCol>
                <a:gridCol w="1406109">
                  <a:extLst>
                    <a:ext uri="{9D8B030D-6E8A-4147-A177-3AD203B41FA5}">
                      <a16:colId xmlns:a16="http://schemas.microsoft.com/office/drawing/2014/main" val="2817775672"/>
                    </a:ext>
                  </a:extLst>
                </a:gridCol>
                <a:gridCol w="1406109">
                  <a:extLst>
                    <a:ext uri="{9D8B030D-6E8A-4147-A177-3AD203B41FA5}">
                      <a16:colId xmlns:a16="http://schemas.microsoft.com/office/drawing/2014/main" val="785369610"/>
                    </a:ext>
                  </a:extLst>
                </a:gridCol>
              </a:tblGrid>
              <a:tr h="15720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重要度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8428634"/>
                  </a:ext>
                </a:extLst>
              </a:tr>
              <a:tr h="225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车机不好</a:t>
                      </a:r>
                      <a:r>
                        <a:rPr lang="en-US" altLang="zh-CN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</a:p>
                  </a:txBody>
                  <a:tcPr marL="20574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7014482"/>
                  </a:ext>
                </a:extLst>
              </a:tr>
              <a:tr h="225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发动机噪音大</a:t>
                      </a:r>
                      <a:r>
                        <a:rPr lang="en-US" altLang="zh-CN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</a:t>
                      </a:r>
                    </a:p>
                  </a:txBody>
                  <a:tcPr marL="20574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8531796"/>
                  </a:ext>
                </a:extLst>
              </a:tr>
              <a:tr h="2447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内饰易脏</a:t>
                      </a:r>
                      <a:r>
                        <a:rPr lang="en-US" altLang="zh-CN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</a:p>
                  </a:txBody>
                  <a:tcPr marL="20574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068743"/>
                  </a:ext>
                </a:extLst>
              </a:tr>
              <a:tr h="225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优惠幅度小</a:t>
                      </a:r>
                      <a:r>
                        <a:rPr lang="en-US" altLang="zh-CN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20574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952583"/>
                  </a:ext>
                </a:extLst>
              </a:tr>
              <a:tr h="2307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快充速度慢</a:t>
                      </a:r>
                      <a:r>
                        <a:rPr lang="en-US" altLang="zh-CN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20574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8189267"/>
                  </a:ext>
                </a:extLst>
              </a:tr>
              <a:tr h="225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充电速度慢</a:t>
                      </a:r>
                      <a:r>
                        <a:rPr lang="en-US" altLang="zh-CN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20574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1094443"/>
                  </a:ext>
                </a:extLst>
              </a:tr>
              <a:tr h="225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车机反应慢</a:t>
                      </a:r>
                      <a:r>
                        <a:rPr lang="en-US" altLang="zh-CN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20574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7239409"/>
                  </a:ext>
                </a:extLst>
              </a:tr>
              <a:tr h="225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冬天续航短</a:t>
                      </a:r>
                      <a:r>
                        <a:rPr lang="en-US" altLang="zh-CN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20574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5737762"/>
                  </a:ext>
                </a:extLst>
              </a:tr>
              <a:tr h="225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座椅易脏</a:t>
                      </a:r>
                      <a:r>
                        <a:rPr lang="en-US" altLang="zh-CN" sz="800" b="0" i="0" u="none" strike="noStrike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20574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1613424"/>
                  </a:ext>
                </a:extLst>
              </a:tr>
              <a:tr h="2250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 dirty="0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车机不好</a:t>
                      </a:r>
                      <a:r>
                        <a:rPr lang="en-US" altLang="zh-CN" sz="800" b="0" i="0" u="none" strike="noStrike" dirty="0">
                          <a:solidFill>
                            <a:srgbClr val="111E3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</a:p>
                  </a:txBody>
                  <a:tcPr marL="20574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111E3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0353536"/>
                  </a:ext>
                </a:extLst>
              </a:tr>
            </a:tbl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CEC4B908-E2E2-4D71-B469-14BA5AFD0543}"/>
              </a:ext>
            </a:extLst>
          </p:cNvPr>
          <p:cNvSpPr/>
          <p:nvPr/>
        </p:nvSpPr>
        <p:spPr>
          <a:xfrm>
            <a:off x="8353169" y="3461106"/>
            <a:ext cx="1495501" cy="28576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不满意</a:t>
            </a:r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TOP10</a:t>
            </a:r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722434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613d1c63-231d-492f-92de-8efe58046652&quot;,&quot;Name&quot;:&quot;创未来2030&quot;,&quot;Kind&quot;:&quot;Custom&quot;,&quot;OldGuidesSetting&quot;:{&quot;HeaderHeight&quot;:10.0,&quot;FooterHeight&quot;:6.0,&quot;SideMargin&quot;:4.0,&quot;TopMargin&quot;:0.0,&quot;BottomMargin&quot;:0.0,&quot;IntervalMargin&quot;:1.5}}"/>
  <p:tag name="COMMONDATA" val="eyJoZGlkIjoiZDJlYzAzNzhmMzRiMmMwZTdjY2VmNmE3NzYzZDFhNm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08*287"/>
  <p:tag name="TABLE_ENDDRAG_RECT" val="619*196*308*287"/>
</p:tagLst>
</file>

<file path=ppt/theme/theme1.xml><?xml version="1.0" encoding="utf-8"?>
<a:theme xmlns:a="http://schemas.openxmlformats.org/drawingml/2006/main" name="2_版1">
  <a:themeElements>
    <a:clrScheme name="创未来2030">
      <a:dk1>
        <a:srgbClr val="000000"/>
      </a:dk1>
      <a:lt1>
        <a:srgbClr val="FFFFFF"/>
      </a:lt1>
      <a:dk2>
        <a:srgbClr val="898989"/>
      </a:dk2>
      <a:lt2>
        <a:srgbClr val="F0F0F0"/>
      </a:lt2>
      <a:accent1>
        <a:srgbClr val="006FBC"/>
      </a:accent1>
      <a:accent2>
        <a:srgbClr val="094AA8"/>
      </a:accent2>
      <a:accent3>
        <a:srgbClr val="4B4B4B"/>
      </a:accent3>
      <a:accent4>
        <a:srgbClr val="898989"/>
      </a:accent4>
      <a:accent5>
        <a:srgbClr val="F0F0F0"/>
      </a:accent5>
      <a:accent6>
        <a:srgbClr val="E60020"/>
      </a:accent6>
      <a:hlink>
        <a:srgbClr val="000000"/>
      </a:hlink>
      <a:folHlink>
        <a:srgbClr val="006FBC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rgbClr val="0000FF"/>
          </a:solidFill>
        </a:ln>
      </a:spPr>
      <a:bodyPr lIns="0" tIns="0" rIns="0" bIns="0" rtlCol="0" anchor="ctr"/>
      <a:lstStyle>
        <a:defPPr algn="ctr">
          <a:defRPr sz="1400" b="1" dirty="0">
            <a:solidFill>
              <a:schemeClr val="tx1"/>
            </a:solidFill>
            <a:latin typeface="+mn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marL="0" marR="0" indent="0" algn="l" defTabSz="914400" rtl="0" eaLnBrk="1" fontAlgn="auto" latinLnBrk="0" hangingPunct="1">
          <a:lnSpc>
            <a:spcPct val="120000"/>
          </a:lnSpc>
          <a:spcBef>
            <a:spcPts val="0"/>
          </a:spcBef>
          <a:spcAft>
            <a:spcPts val="600"/>
          </a:spcAft>
          <a:buClrTx/>
          <a:buSzTx/>
          <a:buFont typeface="Arial" panose="020B0604020202020204" pitchFamily="34" charset="0"/>
          <a:buNone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779</TotalTime>
  <Words>3894</Words>
  <Application>Microsoft Office PowerPoint</Application>
  <PresentationFormat>宽屏</PresentationFormat>
  <Paragraphs>1502</Paragraphs>
  <Slides>8</Slides>
  <Notes>1</Notes>
  <HiddenSlides>5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宋体</vt:lpstr>
      <vt:lpstr>微软雅黑</vt:lpstr>
      <vt:lpstr>Arial</vt:lpstr>
      <vt:lpstr>2_版1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温舒童</dc:creator>
  <cp:lastModifiedBy>童鑫</cp:lastModifiedBy>
  <cp:revision>1812</cp:revision>
  <cp:lastPrinted>2024-02-22T08:53:00Z</cp:lastPrinted>
  <dcterms:created xsi:type="dcterms:W3CDTF">2024-02-22T08:53:00Z</dcterms:created>
  <dcterms:modified xsi:type="dcterms:W3CDTF">2026-03-19T06:22:59Z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3F7184263F1A4F1AAA25FB121971B382_13</vt:lpwstr>
  </property>
  <property fmtid="{D5CDD505-2E9C-101B-9397-08002B2CF9AE}" pid="3" name="KSOProductBuildVer">
    <vt:lpwstr>2052-12.1.0.25225</vt:lpwstr>
  </property>
  <property fmtid="{D5CDD505-2E9C-101B-9397-08002B2CF9AE}" pid="4" name="_KSOProductBuildMID">
    <vt:lpwstr>CYWMI6GJ79TA00HGRPRNDLJF7N8MOSYR9U0XUJDVXGI8TE5TZ7BRIC0IFYYTP8RRXFMXJOLSZIX78PXJQFFT6FFA8RM0WOLB8SODDHB3F355F6247476E3F7BA96930F70AD87B9</vt:lpwstr>
  </property>
  <property fmtid="{D5CDD505-2E9C-101B-9397-08002B2CF9AE}" pid="5" name="_KSOProductBuildSID">
    <vt:lpwstr>CQWMP6GJ796Q06TG9ZRNYL097NL0OSVREF0XOJDXXGPRTECTN0BRPC0PFYRTPB8RBSM6COL5ZIW78PNJROFT6FF78RNMWHLBAOODPHB34E019711336597F7A194F050DF61F50A</vt:lpwstr>
  </property>
</Properties>
</file>
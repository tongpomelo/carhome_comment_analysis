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16671786" r:id="rId2"/>
    <p:sldId id="16671787" r:id="rId3"/>
    <p:sldId id="16671798" r:id="rId4"/>
    <p:sldId id="16671799" r:id="rId5"/>
    <p:sldId id="16671800" r:id="rId6"/>
    <p:sldId id="16671801" r:id="rId7"/>
    <p:sldId id="16671802" r:id="rId8"/>
    <p:sldId id="16671803" r:id="rId9"/>
    <p:sldId id="16671804" r:id="rId10"/>
  </p:sldIdLst>
  <p:sldSz cx="12192000" cy="6858000"/>
  <p:notesSz cx="6805613" cy="9939338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NX1分析-用户口碑分析" id="{5B6EF919-5F52-45D1-AAD5-A82F0E7E4B71}">
          <p14:sldIdLst>
            <p14:sldId id="16671786"/>
            <p14:sldId id="16671787"/>
            <p14:sldId id="16671798"/>
            <p14:sldId id="16671799"/>
            <p14:sldId id="16671800"/>
            <p14:sldId id="16671801"/>
            <p14:sldId id="16671802"/>
            <p14:sldId id="16671803"/>
            <p14:sldId id="16671804"/>
          </p14:sldIdLst>
        </p14:section>
      </p14:sectionLst>
    </p:ext>
    <p:ext uri="{EFAFB233-063F-42B5-8137-9DF3F51BA10A}">
      <p15:sldGuideLst xmlns:p15="http://schemas.microsoft.com/office/powerpoint/2012/main">
        <p15:guide id="1" pos="149" userDrawn="1">
          <p15:clr>
            <a:srgbClr val="A4A3A4"/>
          </p15:clr>
        </p15:guide>
        <p15:guide id="2" pos="7460" userDrawn="1">
          <p15:clr>
            <a:srgbClr val="A4A3A4"/>
          </p15:clr>
        </p15:guide>
        <p15:guide id="3" orient="horz" pos="60" userDrawn="1">
          <p15:clr>
            <a:srgbClr val="A4A3A4"/>
          </p15:clr>
        </p15:guide>
        <p15:guide id="5" orient="horz" pos="3827" userDrawn="1">
          <p15:clr>
            <a:srgbClr val="A4A3A4"/>
          </p15:clr>
        </p15:guide>
        <p15:guide id="7" orient="horz" pos="2069" userDrawn="1">
          <p15:clr>
            <a:srgbClr val="A4A3A4"/>
          </p15:clr>
        </p15:guide>
        <p15:guide id="8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童鑫" initials="童鑫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C000"/>
    <a:srgbClr val="E7EBF4"/>
    <a:srgbClr val="CBD5E7"/>
    <a:srgbClr val="FF0035"/>
    <a:srgbClr val="D9D9D9"/>
    <a:srgbClr val="BFBFBF"/>
    <a:srgbClr val="00508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12" autoAdjust="0"/>
    <p:restoredTop sz="95153" autoAdjust="0"/>
  </p:normalViewPr>
  <p:slideViewPr>
    <p:cSldViewPr snapToGrid="0" showGuides="1">
      <p:cViewPr>
        <p:scale>
          <a:sx n="75" d="100"/>
          <a:sy n="75" d="100"/>
        </p:scale>
        <p:origin x="1003" y="125"/>
      </p:cViewPr>
      <p:guideLst>
        <p:guide pos="149"/>
        <p:guide pos="7460"/>
        <p:guide orient="horz" pos="60"/>
        <p:guide orient="horz" pos="3827"/>
        <p:guide orient="horz" pos="2069"/>
        <p:guide pos="384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50" d="100"/>
        <a:sy n="150" d="100"/>
      </p:scale>
      <p:origin x="0" y="-2610"/>
    </p:cViewPr>
  </p:sorterViewPr>
  <p:notesViewPr>
    <p:cSldViewPr snapToGrid="0">
      <p:cViewPr varScale="1">
        <p:scale>
          <a:sx n="51" d="100"/>
          <a:sy n="51" d="100"/>
        </p:scale>
        <p:origin x="151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75D67-55C7-4994-A130-9BF0F244F461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6D0D5-FB3E-4D40-9677-6001CCC90F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间页-带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83419" y="530073"/>
            <a:ext cx="1121328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-309880" y="6558280"/>
            <a:ext cx="12526645" cy="352425"/>
            <a:chOff x="-309880" y="6558280"/>
            <a:chExt cx="12526645" cy="352425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-309880" y="6610032"/>
              <a:ext cx="11226800" cy="248920"/>
              <a:chOff x="2433189" y="6676080"/>
              <a:chExt cx="8256714" cy="188035"/>
            </a:xfrm>
          </p:grpSpPr>
          <p:sp>
            <p:nvSpPr>
              <p:cNvPr id="13" name="平行四边形 12"/>
              <p:cNvSpPr/>
              <p:nvPr userDrawn="1">
                <p:custDataLst>
                  <p:tags r:id="rId2"/>
                </p:custDataLst>
              </p:nvPr>
            </p:nvSpPr>
            <p:spPr>
              <a:xfrm>
                <a:off x="9890415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平行四边形 13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10084731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5" name="平行四边形 14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0279047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平行四边形 15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0473362" y="6676080"/>
                <a:ext cx="216541" cy="188035"/>
              </a:xfrm>
              <a:prstGeom prst="parallelogram">
                <a:avLst>
                  <a:gd name="adj" fmla="val 71393"/>
                </a:avLst>
              </a:pr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平行四边形 16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2433189" y="6676080"/>
                <a:ext cx="7479572" cy="188035"/>
              </a:xfrm>
              <a:prstGeom prst="parallelogram">
                <a:avLst>
                  <a:gd name="adj" fmla="val 71393"/>
                </a:avLst>
              </a:prstGeom>
              <a:gradFill>
                <a:gsLst>
                  <a:gs pos="0">
                    <a:schemeClr val="accent6">
                      <a:alpha val="0"/>
                    </a:schemeClr>
                  </a:gs>
                  <a:gs pos="100000">
                    <a:schemeClr val="accent6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pic>
          <p:nvPicPr>
            <p:cNvPr id="12" name="图片 11" descr="E:\Desktop\300ppi\资源 2-3.png资源 2-3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>
            <a:xfrm>
              <a:off x="10906760" y="6558280"/>
              <a:ext cx="1310005" cy="352425"/>
            </a:xfrm>
            <a:prstGeom prst="rect">
              <a:avLst/>
            </a:prstGeom>
          </p:spPr>
        </p:pic>
      </p:grpSp>
      <p:sp>
        <p:nvSpPr>
          <p:cNvPr id="18" name="TextBox 5"/>
          <p:cNvSpPr txBox="1">
            <a:spLocks noChangeArrowheads="1"/>
          </p:cNvSpPr>
          <p:nvPr userDrawn="1"/>
        </p:nvSpPr>
        <p:spPr bwMode="auto">
          <a:xfrm>
            <a:off x="10241274" y="200520"/>
            <a:ext cx="11567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5BDB7EF3-72B3-4AF8-AED4-FF44441B5A9C}" type="slidenum">
              <a:rPr lang="zh-CN" altLang="en-US" sz="1600" b="1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‹#›</a:t>
            </a:fld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 2.0 55 Regular" panose="00020600040101010101" pitchFamily="18" charset="-122"/>
              </a:rPr>
              <a:t>/14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8FBB517-D013-ACE2-A8E7-2A12B0A2D7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51"/>
          <a:stretch>
            <a:fillRect/>
          </a:stretch>
        </p:blipFill>
        <p:spPr>
          <a:xfrm>
            <a:off x="694990" y="2734638"/>
            <a:ext cx="7026610" cy="3972163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1322709"/>
              </p:ext>
            </p:extLst>
          </p:nvPr>
        </p:nvGraphicFramePr>
        <p:xfrm>
          <a:off x="7871460" y="2900516"/>
          <a:ext cx="4084637" cy="3608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年后评论数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总字数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腾势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1092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1148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03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赛那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SIENNA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魏牌 高山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770900"/>
                  </a:ext>
                </a:extLst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51776"/>
                  </a:ext>
                </a:extLst>
              </a:tr>
              <a:tr h="3157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别克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新能源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5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理想</a:t>
                      </a:r>
                      <a:r>
                        <a:rPr 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6912076" y="5002647"/>
            <a:ext cx="481781" cy="72136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66205" y="5698607"/>
            <a:ext cx="1418590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2022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年后数据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7027"/>
              </p:ext>
            </p:extLst>
          </p:nvPr>
        </p:nvGraphicFramePr>
        <p:xfrm>
          <a:off x="337185" y="618728"/>
          <a:ext cx="1161891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5943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862640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241427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024395"/>
                  </a:ext>
                </a:extLst>
              </a:tr>
              <a:tr h="1680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2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52239"/>
                  </a:ext>
                </a:extLst>
              </a:tr>
            </a:tbl>
          </a:graphicData>
        </a:graphic>
      </p:graphicFrame>
      <p:sp>
        <p:nvSpPr>
          <p:cNvPr id="24" name="任意多边形 23"/>
          <p:cNvSpPr/>
          <p:nvPr/>
        </p:nvSpPr>
        <p:spPr>
          <a:xfrm>
            <a:off x="1412240" y="3031607"/>
            <a:ext cx="924560" cy="447675"/>
          </a:xfrm>
          <a:custGeom>
            <a:avLst/>
            <a:gdLst>
              <a:gd name="connisteX0" fmla="*/ 0 w 924560"/>
              <a:gd name="connsiteY0" fmla="*/ 0 h 447886"/>
              <a:gd name="connisteX1" fmla="*/ 20320 w 924560"/>
              <a:gd name="connsiteY1" fmla="*/ 81280 h 447886"/>
              <a:gd name="connisteX2" fmla="*/ 20320 w 924560"/>
              <a:gd name="connsiteY2" fmla="*/ 152400 h 447886"/>
              <a:gd name="connisteX3" fmla="*/ 20320 w 924560"/>
              <a:gd name="connsiteY3" fmla="*/ 223520 h 447886"/>
              <a:gd name="connisteX4" fmla="*/ 20320 w 924560"/>
              <a:gd name="connsiteY4" fmla="*/ 294640 h 447886"/>
              <a:gd name="connisteX5" fmla="*/ 10160 w 924560"/>
              <a:gd name="connsiteY5" fmla="*/ 365760 h 447886"/>
              <a:gd name="connisteX6" fmla="*/ 50800 w 924560"/>
              <a:gd name="connsiteY6" fmla="*/ 436880 h 447886"/>
              <a:gd name="connisteX7" fmla="*/ 132080 w 924560"/>
              <a:gd name="connsiteY7" fmla="*/ 447040 h 447886"/>
              <a:gd name="connisteX8" fmla="*/ 203200 w 924560"/>
              <a:gd name="connsiteY8" fmla="*/ 447040 h 447886"/>
              <a:gd name="connisteX9" fmla="*/ 274320 w 924560"/>
              <a:gd name="connsiteY9" fmla="*/ 447040 h 447886"/>
              <a:gd name="connisteX10" fmla="*/ 345440 w 924560"/>
              <a:gd name="connsiteY10" fmla="*/ 447040 h 447886"/>
              <a:gd name="connisteX11" fmla="*/ 416560 w 924560"/>
              <a:gd name="connsiteY11" fmla="*/ 447040 h 447886"/>
              <a:gd name="connisteX12" fmla="*/ 487680 w 924560"/>
              <a:gd name="connsiteY12" fmla="*/ 447040 h 447886"/>
              <a:gd name="connisteX13" fmla="*/ 558800 w 924560"/>
              <a:gd name="connsiteY13" fmla="*/ 447040 h 447886"/>
              <a:gd name="connisteX14" fmla="*/ 640080 w 924560"/>
              <a:gd name="connsiteY14" fmla="*/ 447040 h 447886"/>
              <a:gd name="connisteX15" fmla="*/ 711200 w 924560"/>
              <a:gd name="connsiteY15" fmla="*/ 447040 h 447886"/>
              <a:gd name="connisteX16" fmla="*/ 782320 w 924560"/>
              <a:gd name="connsiteY16" fmla="*/ 436880 h 447886"/>
              <a:gd name="connisteX17" fmla="*/ 853440 w 924560"/>
              <a:gd name="connsiteY17" fmla="*/ 436880 h 447886"/>
              <a:gd name="connisteX18" fmla="*/ 924560 w 924560"/>
              <a:gd name="connsiteY18" fmla="*/ 436880 h 44788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</a:cxnLst>
            <a:rect l="l" t="t" r="r" b="b"/>
            <a:pathLst>
              <a:path w="924560" h="447887">
                <a:moveTo>
                  <a:pt x="0" y="0"/>
                </a:moveTo>
                <a:cubicBezTo>
                  <a:pt x="3810" y="14605"/>
                  <a:pt x="16510" y="50800"/>
                  <a:pt x="20320" y="81280"/>
                </a:cubicBezTo>
                <a:cubicBezTo>
                  <a:pt x="24130" y="111760"/>
                  <a:pt x="20320" y="123825"/>
                  <a:pt x="20320" y="152400"/>
                </a:cubicBezTo>
                <a:cubicBezTo>
                  <a:pt x="20320" y="180975"/>
                  <a:pt x="20320" y="194945"/>
                  <a:pt x="20320" y="223520"/>
                </a:cubicBezTo>
                <a:cubicBezTo>
                  <a:pt x="20320" y="252095"/>
                  <a:pt x="22225" y="266065"/>
                  <a:pt x="20320" y="294640"/>
                </a:cubicBezTo>
                <a:cubicBezTo>
                  <a:pt x="18415" y="323215"/>
                  <a:pt x="3810" y="337185"/>
                  <a:pt x="10160" y="365760"/>
                </a:cubicBezTo>
                <a:cubicBezTo>
                  <a:pt x="16510" y="394335"/>
                  <a:pt x="26670" y="420370"/>
                  <a:pt x="50800" y="436880"/>
                </a:cubicBezTo>
                <a:cubicBezTo>
                  <a:pt x="74930" y="453390"/>
                  <a:pt x="101600" y="445135"/>
                  <a:pt x="132080" y="447040"/>
                </a:cubicBezTo>
                <a:cubicBezTo>
                  <a:pt x="162560" y="448945"/>
                  <a:pt x="174625" y="447040"/>
                  <a:pt x="203200" y="447040"/>
                </a:cubicBezTo>
                <a:cubicBezTo>
                  <a:pt x="231775" y="447040"/>
                  <a:pt x="245745" y="447040"/>
                  <a:pt x="274320" y="447040"/>
                </a:cubicBezTo>
                <a:cubicBezTo>
                  <a:pt x="302895" y="447040"/>
                  <a:pt x="316865" y="447040"/>
                  <a:pt x="345440" y="447040"/>
                </a:cubicBezTo>
                <a:cubicBezTo>
                  <a:pt x="374015" y="447040"/>
                  <a:pt x="387985" y="447040"/>
                  <a:pt x="416560" y="447040"/>
                </a:cubicBezTo>
                <a:cubicBezTo>
                  <a:pt x="445135" y="447040"/>
                  <a:pt x="459105" y="447040"/>
                  <a:pt x="487680" y="447040"/>
                </a:cubicBezTo>
                <a:cubicBezTo>
                  <a:pt x="516255" y="447040"/>
                  <a:pt x="528320" y="447040"/>
                  <a:pt x="558800" y="447040"/>
                </a:cubicBezTo>
                <a:cubicBezTo>
                  <a:pt x="589280" y="447040"/>
                  <a:pt x="609600" y="447040"/>
                  <a:pt x="640080" y="447040"/>
                </a:cubicBezTo>
                <a:cubicBezTo>
                  <a:pt x="670560" y="447040"/>
                  <a:pt x="682625" y="448945"/>
                  <a:pt x="711200" y="447040"/>
                </a:cubicBezTo>
                <a:cubicBezTo>
                  <a:pt x="739775" y="445135"/>
                  <a:pt x="753745" y="438785"/>
                  <a:pt x="782320" y="436880"/>
                </a:cubicBezTo>
                <a:cubicBezTo>
                  <a:pt x="810895" y="434975"/>
                  <a:pt x="824865" y="436880"/>
                  <a:pt x="853440" y="436880"/>
                </a:cubicBezTo>
                <a:cubicBezTo>
                  <a:pt x="882015" y="436880"/>
                  <a:pt x="911860" y="436880"/>
                  <a:pt x="924560" y="436880"/>
                </a:cubicBezTo>
              </a:path>
            </a:pathLst>
          </a:cu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FC3094-80EE-28D2-8A06-FA9967CB119C}"/>
              </a:ext>
            </a:extLst>
          </p:cNvPr>
          <p:cNvSpPr/>
          <p:nvPr/>
        </p:nvSpPr>
        <p:spPr>
          <a:xfrm>
            <a:off x="713088" y="3196707"/>
            <a:ext cx="717250" cy="33070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9928"/>
              </p:ext>
            </p:extLst>
          </p:nvPr>
        </p:nvGraphicFramePr>
        <p:xfrm>
          <a:off x="295158" y="3224975"/>
          <a:ext cx="1059180" cy="3324508"/>
        </p:xfrm>
        <a:graphic>
          <a:graphicData uri="http://schemas.openxmlformats.org/drawingml/2006/table">
            <a:tbl>
              <a:tblPr/>
              <a:tblGrid>
                <a:gridCol w="105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腾势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奥德赛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艾力绅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赛那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SIENNA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魏牌 高山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004309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415911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别克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GL8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新能源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228"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理想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MEGA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236855" y="1355725"/>
          <a:ext cx="11609070" cy="2194560"/>
        </p:xfrm>
        <a:graphic>
          <a:graphicData uri="http://schemas.openxmlformats.org/drawingml/2006/table">
            <a:tbl>
              <a:tblPr/>
              <a:tblGrid>
                <a:gridCol w="4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总口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在售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口碑数量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车型名称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发表时间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行驶里程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冬季电耗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夏季续航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春秋续航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冬季续航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百公里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裸车购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买价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购买时间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购买地点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最不满意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749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款 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PHEV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Ultra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2026/3/5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3700km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21.0kWh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41.90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Feb-26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深圳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满意的其实不是智驾也不是动力，盯着第二排那两个零重力座椅，上周带我爸妈去密云单程一百多公里，他们平时坐车超过一小时就说腰紧，这次上了高速把座椅按摩开着腿托抬起来，两个人一路迷糊到目的地，我爸下车还念叨这椅子比家里那台芝华仕更合适，后排那个冷暖冰箱也好用，带娃路上水果酸奶都能放得稳，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17.3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寸的屏找个动画片一开，孩子安安静静，副驾那位打开剧集自己看，车里算是清净了一路。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不太喜欢的就出在装配工艺，提车那天瞅见驾驶侧门板和车门缝有点大，销售说每台车都差不多，我跑去展车看了眼确实一样，后来有次</a:t>
                      </a:r>
                      <a:r>
                        <a:rPr lang="en-US" altLang="zh-CN" sz="800" b="0" i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ota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后语音助手没动静，重启车机才恢复，倒车影像冷启动要等几秒，地下车库那次后面有个矮桩，屏幕没出来我就只能扭头看，云灰内饰视觉好看，家里有孩子的要多考虑，我家那个小祖宗上周在车上吃巧克力，蹭到座椅上了湿巾和清洁剂轮番上阵才弄干净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车确实有底子，轴距三米二，二排腿能伸直，我身高一七八坐到第三排腿部还有一拳多，不是那种临时小板凳，后备箱满座能塞两个二十八寸箱子外加几个背包，上次帮朋友搬家把三排放倒，直接把一个单人沙发推进去，车身宽，老小区地库拐弯得放慢多看两眼，侧方停车靠边缘时心里要有距离，轮毂别蹭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236855" y="3639185"/>
          <a:ext cx="11730355" cy="2194560"/>
        </p:xfrm>
        <a:graphic>
          <a:graphicData uri="http://schemas.openxmlformats.org/drawingml/2006/table">
            <a:tbl>
              <a:tblPr/>
              <a:tblGrid>
                <a:gridCol w="38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9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24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39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258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321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配置评分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配置评论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观看数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点赞数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评论数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购车目的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这车开起来不像那么大的体型，双电机四驱总功率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490kW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扭矩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915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牛米零百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5.9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秒，电门响应跟脚，红绿灯起步基本第一批走，满载七人上高速加速并线不犹豫，后轮转向双向十度，掉头半径像紧凑型轿车，小区里双向车道一把就过去，魔毯空气悬架过减速带不颠，路面有大坑洼也能滤掉，急加速时发动机介入那一下噪音起来比较明显，高速上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柱风噪能听到。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这车标的是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CLTC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纯电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公里，我在市区开空调实测大概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290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上下，上下班通勤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公里一周补一次，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巡航掉得快一些在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左右，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快充速度给到，有次在服务区去个洗手间买杯咖啡回来电量从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干到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，亏电油耗我跑高速测过七点八升，市区馈电八个多，纯电能耗二十度每百公里，算账下来比加油划算，电池包在底盘下面，走烂路会多看地面，护板厚但我还是会避开大坎。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选的是旭日紫，我就是想要个显眼的颜色，晴天看就是紫的，阴天又偏深灰，阳光下能看到漆面里的金属颗粒，邻居来问这是不是贴了改色膜，前脸那个扶摇直上格栅一排排镀铬饰条配贯穿大灯，远远看挺有辨识度，车长五米三，停到哪儿都比旁边车显得更大一圈，去洗车店师傅说按大型车算每次要多收二十，次数多了还是能感觉出来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云灰，眼睛看着亮，比纯黑敞快些，比米色耐脏一点点，麂皮绒顶棚摸上去细腻，车里气味很轻，这点给好评，销售提到母婴级用料，接触下来不刺鼻，中控几块屏幕显示细腻，鸿蒙系统用起来跟家里华为平板一个路数，菜单层级偏深，想调个座椅按摩要多划几下，座椅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点按摩比我家那台老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Q5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贴合，跑长途把它开着肩背不紧。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按我这台算，裸车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42.99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万加智驾包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万保险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万购置税七千多，落地差不多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万，这个价位同时带华为乾崑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八百伏平台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超充空悬加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CDC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后轮转向的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，目前就它一台，岚图背靠东风做事更稳，品牌层面心里更有底，售后网点少一些，去保养要跑三十公里，对比同配置的合资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MPV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价格就不在一个区间，我自己看完账觉得值得，早买早享受。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鸿蒙座舱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用起来顺，像在用华为平板，四音区识别挺准，岳母说把空调开大点系统能跟上，乾崑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ADS 4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在高速比较省力，自动变道给到动作，进出匝道也稳，城市场景还在磨合，遇到加塞时反应慢一些要接管，跨层泊车在地库跑过几次能自己找车位停进去，速度不快，后面车催的时候你就得让一让，</a:t>
                      </a:r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AR</a:t>
                      </a:r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感应尾门要对着地上的投影踢准，我媳妇儿老踢不到位，最后直接手按。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标题 1"/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-1.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口碑数据</a:t>
            </a:r>
          </a:p>
        </p:txBody>
      </p:sp>
      <p:sp>
        <p:nvSpPr>
          <p:cNvPr id="6" name="矩形 5"/>
          <p:cNvSpPr/>
          <p:nvPr/>
        </p:nvSpPr>
        <p:spPr>
          <a:xfrm>
            <a:off x="191135" y="1289050"/>
            <a:ext cx="66382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53690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基础信息</a:t>
            </a:r>
          </a:p>
        </p:txBody>
      </p:sp>
      <p:sp>
        <p:nvSpPr>
          <p:cNvPr id="8" name="矩形 7"/>
          <p:cNvSpPr/>
          <p:nvPr/>
        </p:nvSpPr>
        <p:spPr>
          <a:xfrm>
            <a:off x="6829425" y="1293495"/>
            <a:ext cx="251079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2665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核心信息</a:t>
            </a:r>
          </a:p>
        </p:txBody>
      </p:sp>
      <p:sp>
        <p:nvSpPr>
          <p:cNvPr id="9" name="矩形 8"/>
          <p:cNvSpPr/>
          <p:nvPr/>
        </p:nvSpPr>
        <p:spPr>
          <a:xfrm>
            <a:off x="191135" y="3639185"/>
            <a:ext cx="9149080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47350" y="1289050"/>
            <a:ext cx="1346835" cy="2303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56265" y="1166495"/>
            <a:ext cx="981710" cy="25781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各维度信息</a:t>
            </a:r>
          </a:p>
        </p:txBody>
      </p:sp>
      <p:cxnSp>
        <p:nvCxnSpPr>
          <p:cNvPr id="14" name="曲线连接符 13"/>
          <p:cNvCxnSpPr>
            <a:stCxn id="9" idx="3"/>
            <a:endCxn id="10" idx="2"/>
          </p:cNvCxnSpPr>
          <p:nvPr/>
        </p:nvCxnSpPr>
        <p:spPr>
          <a:xfrm flipV="1">
            <a:off x="9340215" y="3592195"/>
            <a:ext cx="1880870" cy="1198880"/>
          </a:xfrm>
          <a:prstGeom prst="curvedConnector2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91135" y="817245"/>
            <a:ext cx="1418590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文本举例：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07135" y="829310"/>
            <a:ext cx="73018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梦想家</a:t>
            </a:r>
            <a:r>
              <a:rPr lang="en-US" altLang="zh-CN" sz="1600"/>
              <a:t>PHEV</a:t>
            </a:r>
            <a:r>
              <a:rPr lang="zh-CN" altLang="en-US" sz="1600"/>
              <a:t>，腾势</a:t>
            </a:r>
            <a:r>
              <a:rPr lang="en-US" altLang="zh-CN" sz="1600"/>
              <a:t>D9</a:t>
            </a:r>
            <a:r>
              <a:rPr lang="zh-CN" altLang="en-US" sz="1600"/>
              <a:t>，高山</a:t>
            </a:r>
            <a:r>
              <a:rPr lang="en-US" altLang="zh-CN" sz="1600"/>
              <a:t>8</a:t>
            </a:r>
            <a:r>
              <a:rPr lang="zh-CN" altLang="en-US" sz="1600"/>
              <a:t>，别克</a:t>
            </a:r>
            <a:r>
              <a:rPr lang="en-US" altLang="zh-CN" sz="1600"/>
              <a:t>GL8 PHEV </a:t>
            </a:r>
            <a:r>
              <a:rPr lang="zh-CN" altLang="en-US" sz="1600"/>
              <a:t>，理想</a:t>
            </a:r>
            <a:r>
              <a:rPr lang="en-US" altLang="zh-CN" sz="1600"/>
              <a:t>MEGA</a:t>
            </a:r>
            <a:r>
              <a:rPr lang="zh-CN" altLang="en-US" sz="1600"/>
              <a:t>，</a:t>
            </a:r>
            <a:r>
              <a:rPr lang="en-US" altLang="zh-CN" sz="1600"/>
              <a:t>ELYSION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665994A-BAC4-C519-7612-04042BDDB868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岚图梦想家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华为版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53099C9-2BF6-5B2D-2652-4988E36D0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321899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90.8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34F5DBB7-BF6E-B1D4-1B62-BC2DB9C701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7" y="1734142"/>
            <a:ext cx="4131162" cy="4275798"/>
          </a:xfrm>
          <a:prstGeom prst="rect">
            <a:avLst/>
          </a:prstGeom>
        </p:spPr>
      </p:pic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4A49532-E22B-8123-1880-74D524709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9568"/>
              </p:ext>
            </p:extLst>
          </p:nvPr>
        </p:nvGraphicFramePr>
        <p:xfrm>
          <a:off x="4437216" y="848059"/>
          <a:ext cx="7518247" cy="247227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2690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后备箱空间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第三排空间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167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中控设计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A8A9E39-534C-6D52-0145-9901B6933CEE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0790ED-AB9B-D0A2-AFD3-A58999AC04FA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334041-14FF-3654-24F0-61FE8CAC15AC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62CE790-E113-8BDA-F6DE-D573D0DEBDBC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这个价位同时带华为乾崑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ADS 4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鸿蒙座舱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5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八百伏平台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5C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超充空悬加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CDC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后轮转向的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MPV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，目前就它一台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保值率比不上丰田和本田。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FC6AB77-4AB4-735C-0024-06DBC5886886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鸿蒙座舱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5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用起来顺，像在用华为平板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城市场景还在磨合，遇到加塞时反应慢一些要接管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2AB7F5E-EEFE-6284-7073-9950093A2620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CLTC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标准下纯电续航为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350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公里，在实际测试中，市区内开空调并听歌的情况下，续航能达到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250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公里出头（载人较多），这样的续航表现足够满足一周的通勤需求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120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巡航掉得快一些在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220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左右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296092F-34EF-29BA-D33A-0FEB8828D754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选的是旭日紫，我就是想要个显眼的颜色，晴天看就是紫的，阴天又偏深灰，阳光下能看到漆面里的金属颗粒，邻居来问这是不是贴了改色膜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缺点也落在黑色本身，灰尘一落就看得见。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98AC6B-121A-1964-8EAD-42C7D1FA34A3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智能化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799B23-6240-D882-A316-E4FA96B34DF1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3195582-C37C-9FAD-F697-B30F474D0DC3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B8C841-7898-55B8-533D-74ABAA922A4C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</p:spTree>
    <p:extLst>
      <p:ext uri="{BB962C8B-B14F-4D97-AF65-F5344CB8AC3E}">
        <p14:creationId xmlns:p14="http://schemas.microsoft.com/office/powerpoint/2010/main" val="351772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3C309-F04A-8ADB-FBE4-A3624BB8570B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岚图梦想家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非华为版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CE83901-63FB-8FE6-A032-E9FB6FB21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396788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岚图梦想家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自研版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221CAC6-7D29-9793-F9C7-ADEC71F5A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97089"/>
              </p:ext>
            </p:extLst>
          </p:nvPr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第三排空间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后备箱空间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中控设计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FC251D3-41E0-9820-1223-F0463E198FFC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E398542-EB7F-912D-124A-D1EE8994D434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城市里跑我能到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280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公里以上，我上下班单程二十来公里，一周充一次电能覆盖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续航虚标，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235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的只能跑个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150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左右吧，冬季还更低。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27D31A-1530-6110-F714-7AFD3BC7ED50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前脸直瀑式格栅面积大，岚图发光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LOGO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加贯穿灯带，晚上点亮后车很好认。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黑色不耐脏，落灰就看出来，洗车频率要跟上。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46E869F-7814-B846-22F1-5D42D5F939CB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关于性价比，鲲鹏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Max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版裸车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35.99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万，这个价位拿到的东西有七座大空间，双电机四驱，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350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公里纯电续航，座椅加热通风按摩，吸顶娱乐屏这些都在车上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虽然价格比同级别其他车型高了不少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8AF036-1642-973D-EBB1-91792A10EF2B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7C21E3-194D-0AF7-1BDE-63FA2F1BD095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ED0D36-ADED-7625-8306-AFD218B29EC5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D1B824-9384-968E-0349-8290F651A5B5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4B6D78-4023-F823-E163-0DF506EEE0FA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A8B914-5DAB-B802-B08E-984855FDDADF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双电机四驱总功率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490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千瓦，踩下去车有余量，满载七人开空调，加速并线不慌。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过减速带颠簸还是有明显的感觉，声音也不小。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E66871-8050-246F-5B71-7D24B842A903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驾驶感受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C3053EB-6F0F-826A-41B2-7A2C396F38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37" y="1770963"/>
            <a:ext cx="4158796" cy="43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1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8B6A5-8037-87F2-731C-F0AAC1744734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腾势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D9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67D08B9-0000-F1EE-4657-F47C34B25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60029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岚图梦想家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自研版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85.9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94.5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86.5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87.7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89.1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CBA8B4-266F-BFCF-41BA-84595D4C1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04750"/>
              </p:ext>
            </p:extLst>
          </p:nvPr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语音控制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中控设计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前脸设计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3C013B6-94FE-9A6A-0D49-23BE1B955F30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A0D1938-5325-23A0-148E-2190C0B5FC95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满油满电跑个八九百公里不用进服务区加油，带着孩子少停一次站，就少一次折腾。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冬天纯电续航略显尴尬，开空调市区开，电量很快就见底。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AE719D9-993F-FD30-B4AA-09EB0C624035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它的外观属于那种大气稳重的风格，没有过于夸张的设计。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相比其他友商车型花哨的设计，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D9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的外形相对来说会有些老气。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2D80D7-3943-5EA3-AC2D-9C56046C162E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它节省的是我作为妈妈的时间和精力成本。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裸车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40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多万，说实话不便宜。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A95DC5-1CC1-3819-3F2B-364096030D25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B56576-91DA-3F45-B8E0-9BDF3A6E5261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5D940F-EE14-DC38-655B-0ACB8A4358AE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D8FD66-D17B-608F-E2B5-82200F4C06D5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9A90A6-FF47-A83D-AFB7-61B7881291B4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F04FC0A-540D-8030-868F-9D5FD596C994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开起来的感觉很轻盈，完全不像一辆这么大的车。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但是就像前面说的，底盘调教偏软，为了舒适性牺牲了一点操控，过弯或者急刹车的时候，车身晃动感比轿车明显。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C8AA18-A638-E4F9-655F-9FF040CB1647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驾驶感受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33DFF08-7FA1-7F60-5524-5346927FA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3" y="1879945"/>
            <a:ext cx="4108401" cy="425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6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59362FBB-4923-D8BE-A987-C098ADDA6B87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魏牌 高山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732956F-9669-C13D-5617-4ADBD5513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11983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岚图梦想家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自研版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FCCCB10-C8BF-E23E-0660-B2E6ADF3F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477891"/>
              </p:ext>
            </p:extLst>
          </p:nvPr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L1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L2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前脸设计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中控设计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52B3BF7-5394-D326-53FC-976DA2BEC778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B105EA-020D-8C57-BFD7-BE077EA33D9C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高山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8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性价比真挺实在，比同级别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MPV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性价比高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相比较同级别的某势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d9,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售价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33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万没有激光雷达，智驾版要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35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万。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A130CDB-7D79-0139-8032-6A1103118BEC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360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环视影像和车外行人语音控制功能，对女士超级友好，老公再也不担心，我带孩子出门啦！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一是倒车影像偶尔会出现迟滞现象，延迟时间大概在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5-8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秒左右，偶尔会影响倒车时的即时判断，但出现频率不高，整体不影响日常使用；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4D9EC3-2B4F-0B96-FB0B-DF01586BE8B3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车头看着就气派，非常立体。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但整体商务范略重，老婆觉得比较单一。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C05806-6BA8-84CA-2034-EC4DE8654152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161606-E23D-1FAD-C311-03DE01EF3F99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18AC61-8177-3AC3-EC96-1729E414187A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智能化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2CC0EA-FB43-093E-3198-AE99FFDDCC35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53A73F-1307-E4C3-62AE-AD55E84638CA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015235-1CAD-D64D-695B-6664947BF410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油耗表现实在：高速不亏电还算省，亏电也在可接受范围内。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长途跑高速的话试过开纯电，但中间服务区还需要补电太耗时间了。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010092-D9FC-5C69-BA59-2CE5E125E0C3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AFA21BA-3CB0-E3D4-3D12-0779AC4FDA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55" y="2049167"/>
            <a:ext cx="3826793" cy="396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2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FD32D-C782-ADE2-926C-FF186DD515C9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小鹏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X9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D90B3D-083C-A02D-22FB-D53BA8AF6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3319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小鹏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942EB02-68A2-A63D-1BF3-DF6B46B8A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258233"/>
              </p:ext>
            </p:extLst>
          </p:nvPr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中控设计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续航准确性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FBFDA01-D3E4-1391-076C-186ECE5D6964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54B5E3-C1B7-978D-BE0D-AC18348A13CD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这台车上看不到其他车的影子，都是自主设计，比较有个性，不像其他</a:t>
            </a:r>
            <a:r>
              <a:rPr lang="en-US" altLang="zh-CN" sz="1200" b="1" dirty="0" err="1">
                <a:solidFill>
                  <a:schemeClr val="tx1"/>
                </a:solidFill>
                <a:latin typeface="+mn-ea"/>
              </a:rPr>
              <a:t>mpv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都是学别人的样子或者是方盒子那种，比较现代化迎合年轻用户的喜欢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屁股有点怪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03000C-4A67-9BFA-90FA-87DCAAFA5E15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开过几次高速，维持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120-140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左右的话满电能开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450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多，可以接受吧，基本符合预期。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续航感觉不太行啊，尤其冬天，感觉三天就得一充。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05C972-475D-393E-DEBE-E4DEB71E45F1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来万不买它买谁？。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但是买车的时候有个不满意的地方，就是新车没有什么优惠，大几十万的车型，优惠幅度有点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705588-F2D8-DEB2-FFE9-664B977F6995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C63CA4-8047-F082-7C9B-390A6071273E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EB8B33-6EE1-C5F3-3BC1-CA2D0E2B3AE4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B1BF5B-4EC2-DC0B-9333-7180A82E9D86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D81083-0DD3-FCF2-8531-DEF1BC933516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889BC1-DD33-2F1E-F46B-C55B9192E93C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辅助驾驶，自动泊车那些都是免费的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但是车机和理想还是有差距。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3D9D9D-69AC-14A9-F879-8E69DF2E0008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智能化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538C513-9B9E-25E6-7BB0-31437872D1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55" y="1977903"/>
            <a:ext cx="3958855" cy="40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89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7B38C-8B64-6E7B-DC1C-F7BB882F310F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极氪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009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23E0E5-7BEC-DA42-E6B0-EE8ECFE67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57313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极氪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18A42B2-CBE8-21AD-2257-A1FB36235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169941"/>
              </p:ext>
            </p:extLst>
          </p:nvPr>
        </p:nvGraphicFramePr>
        <p:xfrm>
          <a:off x="4437216" y="848058"/>
          <a:ext cx="7518247" cy="2519400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1061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793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座椅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充电速度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材质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2087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F756DDB-2F88-5497-7B37-B3FED45ED97C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0874237-D111-09FD-8350-D97B0FAA337A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极氪现在到处都有超充，充电也非常方便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实际续航大概能到官方标注的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80%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左右，高速续航会打个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7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折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9E57E2B-FA19-6C6E-A9A8-3CB12D80F1AE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极氪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009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上市的时候，第一次改变了我对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MPV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的审美，本来就对方盒子造型喜欢，新颖的造型，我个人觉得非常好看，颜值很高很霸气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不过带娃出门时，车身太大会显得有点“笨重”，少了点家用车的柔和感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765CC18-37DE-98CB-ECE7-9805741B525B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在我的概念里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40-50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万级别纯电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MPV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里极氪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009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就是最优的选择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47.9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万的车价加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万智驾选装，整体性价比不算高。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375ED1-DC7B-C1DE-08E4-16868BE7B672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611AA0-7FDC-42B7-BB19-D8E542B01BD5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A8173E-D5D5-3791-8337-39622E1805F1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4E77D-1BED-26F5-DF2A-6EE2C677B369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1FB3D2-4342-2DE1-7DD9-446DC2C668E7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5BEB3D4-0E21-BEDC-F233-11AACBD98703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哨兵模式：可以在锁车后监控车辆周围环境。人在外旅游，车子停在机场附近停车场时用过，车辆安全多了一重保障。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辅助驾驶功能在市区复杂路况下，介入的积极性不高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463BA-9471-8DB7-F9E8-E585598BB60F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智能化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E7E2636-74C8-EFF8-8353-CDEAD64B0F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79" y="1996445"/>
            <a:ext cx="3940941" cy="407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4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7F70-E023-CC30-EF4E-146B3DCB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9D526-8D55-096B-7745-B824CCC76D43}"/>
              </a:ext>
            </a:extLst>
          </p:cNvPr>
          <p:cNvSpPr txBox="1"/>
          <p:nvPr/>
        </p:nvSpPr>
        <p:spPr bwMode="auto">
          <a:xfrm>
            <a:off x="0" y="95250"/>
            <a:ext cx="12192000" cy="35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250"/>
              </a:lnSpc>
              <a:tabLst>
                <a:tab pos="3225800" algn="l"/>
              </a:tabLs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NX1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用户趋势分析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别克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GL8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新能源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B49D91E-63E7-2525-1BF2-08F8FD761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03532"/>
              </p:ext>
            </p:extLst>
          </p:nvPr>
        </p:nvGraphicFramePr>
        <p:xfrm>
          <a:off x="391155" y="848060"/>
          <a:ext cx="3881126" cy="837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424">
                  <a:extLst>
                    <a:ext uri="{9D8B030D-6E8A-4147-A177-3AD203B41FA5}">
                      <a16:colId xmlns:a16="http://schemas.microsoft.com/office/drawing/2014/main" val="58793477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183527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19233695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3664806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48283538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109899700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4209540011"/>
                    </a:ext>
                  </a:extLst>
                </a:gridCol>
                <a:gridCol w="416386">
                  <a:extLst>
                    <a:ext uri="{9D8B030D-6E8A-4147-A177-3AD203B41FA5}">
                      <a16:colId xmlns:a16="http://schemas.microsoft.com/office/drawing/2014/main" val="2091170211"/>
                    </a:ext>
                  </a:extLst>
                </a:gridCol>
              </a:tblGrid>
              <a:tr h="3023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车型版本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内饰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外观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性价比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智能化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空间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续航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驾驶</a:t>
                      </a:r>
                      <a:endParaRPr lang="en-US" altLang="zh-CN" sz="100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感受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637524"/>
                  </a:ext>
                </a:extLst>
              </a:tr>
              <a:tr h="5322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别克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GL8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新能源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65.9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62.1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15783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F1236E0-F396-B803-CD99-A77861DF6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955434"/>
              </p:ext>
            </p:extLst>
          </p:nvPr>
        </p:nvGraphicFramePr>
        <p:xfrm>
          <a:off x="4437216" y="848058"/>
          <a:ext cx="7518247" cy="2483617"/>
        </p:xfrm>
        <a:graphic>
          <a:graphicData uri="http://schemas.openxmlformats.org/drawingml/2006/table">
            <a:tbl>
              <a:tblPr/>
              <a:tblGrid>
                <a:gridCol w="683477">
                  <a:extLst>
                    <a:ext uri="{9D8B030D-6E8A-4147-A177-3AD203B41FA5}">
                      <a16:colId xmlns:a16="http://schemas.microsoft.com/office/drawing/2014/main" val="325790476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554068689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88853909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1648071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95411566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488998727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819275375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042382138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1935054496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3608258960"/>
                    </a:ext>
                  </a:extLst>
                </a:gridCol>
                <a:gridCol w="683477">
                  <a:extLst>
                    <a:ext uri="{9D8B030D-6E8A-4147-A177-3AD203B41FA5}">
                      <a16:colId xmlns:a16="http://schemas.microsoft.com/office/drawing/2014/main" val="2998316053"/>
                    </a:ext>
                  </a:extLst>
                </a:gridCol>
              </a:tblGrid>
              <a:tr h="3356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子维度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维度总提及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提及率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中立占比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不满意占比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42487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整体造型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597740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辅助驾驶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087894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51524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性价比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199592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纯电续航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002563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379139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驾驶感受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加速性能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81819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续航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油耗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5424"/>
                  </a:ext>
                </a:extLst>
              </a:tr>
              <a:tr h="2386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智能座舱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530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EC43203-71DA-3A36-6016-AB045C1B1F10}"/>
              </a:ext>
            </a:extLst>
          </p:cNvPr>
          <p:cNvSpPr/>
          <p:nvPr/>
        </p:nvSpPr>
        <p:spPr>
          <a:xfrm>
            <a:off x="4437216" y="3552092"/>
            <a:ext cx="7518247" cy="2895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667B7D1-F66F-08F5-A7A5-51999F109E92}"/>
              </a:ext>
            </a:extLst>
          </p:cNvPr>
          <p:cNvSpPr/>
          <p:nvPr/>
        </p:nvSpPr>
        <p:spPr>
          <a:xfrm>
            <a:off x="4551373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外观属于耐看型，不张扬但挺大气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除了前脸从正面看有点尖嘴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E04EB53-7505-32EF-55A8-E9DB0ACA0DCD}"/>
              </a:ext>
            </a:extLst>
          </p:cNvPr>
          <p:cNvSpPr/>
          <p:nvPr/>
        </p:nvSpPr>
        <p:spPr>
          <a:xfrm>
            <a:off x="4551373" y="5022726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en-US" altLang="zh-CN" sz="1200" b="1" dirty="0">
                <a:solidFill>
                  <a:srgbClr val="0000FF"/>
                </a:solidFill>
                <a:latin typeface="+mn-ea"/>
              </a:rPr>
              <a:t>  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这个价钱能买到合资品牌的大七座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MPV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，还是插混的，我觉得性价比可以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同价位国产车要比他在功能内饰上好很多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5D2858E-572E-A9D1-010B-D854ECBC0E86}"/>
              </a:ext>
            </a:extLst>
          </p:cNvPr>
          <p:cNvSpPr/>
          <p:nvPr/>
        </p:nvSpPr>
        <p:spPr>
          <a:xfrm>
            <a:off x="8195174" y="3660150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实用配置都有了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L2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级别辅助驾驶，还有双侧电滑门，电动尾门，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360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倒车影像，全速自适应巡航，这些用起来很方便。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智能辅助几乎没有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346B09-28FF-0F9E-44C9-450515638026}"/>
              </a:ext>
            </a:extLst>
          </p:cNvPr>
          <p:cNvSpPr/>
          <p:nvPr/>
        </p:nvSpPr>
        <p:spPr>
          <a:xfrm>
            <a:off x="4397299" y="3429000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外观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CD71E7-1800-F310-6BFB-243DB9128F54}"/>
              </a:ext>
            </a:extLst>
          </p:cNvPr>
          <p:cNvSpPr/>
          <p:nvPr/>
        </p:nvSpPr>
        <p:spPr>
          <a:xfrm>
            <a:off x="8205900" y="34905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智能化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348444-9392-F4C6-DD6D-588392710DB7}"/>
              </a:ext>
            </a:extLst>
          </p:cNvPr>
          <p:cNvSpPr/>
          <p:nvPr/>
        </p:nvSpPr>
        <p:spPr>
          <a:xfrm>
            <a:off x="4437216" y="484974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性价比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E14D8A-62C0-28FD-DD35-FA4C90E4083E}"/>
              </a:ext>
            </a:extLst>
          </p:cNvPr>
          <p:cNvSpPr/>
          <p:nvPr/>
        </p:nvSpPr>
        <p:spPr>
          <a:xfrm>
            <a:off x="391155" y="653181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L1</a:t>
            </a:r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级雷达图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F9EECF-5FF8-D046-E395-AEC9DAC8D9CD}"/>
              </a:ext>
            </a:extLst>
          </p:cNvPr>
          <p:cNvSpPr/>
          <p:nvPr/>
        </p:nvSpPr>
        <p:spPr>
          <a:xfrm>
            <a:off x="4397299" y="653181"/>
            <a:ext cx="1896821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各维度提及率和满意度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A91A083-CC04-D97C-C8B5-74DDBBCA8905}"/>
              </a:ext>
            </a:extLst>
          </p:cNvPr>
          <p:cNvSpPr/>
          <p:nvPr/>
        </p:nvSpPr>
        <p:spPr>
          <a:xfrm>
            <a:off x="8195174" y="4987789"/>
            <a:ext cx="3540370" cy="126609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0000FF"/>
                </a:solidFill>
                <a:latin typeface="+mn-ea"/>
              </a:rPr>
              <a:t>正面：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夏天非常不错，纯电续航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120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公里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负面：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冬天白扯，纯电三四十公里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A2626E-0790-25C1-D72C-E60C282222A7}"/>
              </a:ext>
            </a:extLst>
          </p:cNvPr>
          <p:cNvSpPr/>
          <p:nvPr/>
        </p:nvSpPr>
        <p:spPr>
          <a:xfrm>
            <a:off x="8195174" y="4918726"/>
            <a:ext cx="950205" cy="231150"/>
          </a:xfrm>
          <a:prstGeom prst="rect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续航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2822FA6-77CF-AB16-A080-541103048D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98" y="2079498"/>
            <a:ext cx="4116110" cy="426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43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613d1c63-231d-492f-92de-8efe58046652&quot;,&quot;Name&quot;:&quot;创未来2030&quot;,&quot;Kind&quot;:&quot;Custom&quot;,&quot;OldGuidesSetting&quot;:{&quot;HeaderHeight&quot;:10.0,&quot;FooterHeight&quot;:6.0,&quot;SideMargin&quot;:4.0,&quot;TopMargin&quot;:0.0,&quot;BottomMargin&quot;:0.0,&quot;IntervalMargin&quot;:1.5}}"/>
  <p:tag name="COMMONDATA" val="eyJoZGlkIjoiZDJlYzAzNzhmMzRiMmMwZTdjY2VmNmE3NzYzZDFhN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8*287"/>
  <p:tag name="TABLE_ENDDRAG_RECT" val="619*196*308*287"/>
</p:tagLst>
</file>

<file path=ppt/theme/theme1.xml><?xml version="1.0" encoding="utf-8"?>
<a:theme xmlns:a="http://schemas.openxmlformats.org/drawingml/2006/main" name="2_版1">
  <a:themeElements>
    <a:clrScheme name="创未来2030">
      <a:dk1>
        <a:srgbClr val="000000"/>
      </a:dk1>
      <a:lt1>
        <a:srgbClr val="FFFFFF"/>
      </a:lt1>
      <a:dk2>
        <a:srgbClr val="898989"/>
      </a:dk2>
      <a:lt2>
        <a:srgbClr val="F0F0F0"/>
      </a:lt2>
      <a:accent1>
        <a:srgbClr val="006FBC"/>
      </a:accent1>
      <a:accent2>
        <a:srgbClr val="094AA8"/>
      </a:accent2>
      <a:accent3>
        <a:srgbClr val="4B4B4B"/>
      </a:accent3>
      <a:accent4>
        <a:srgbClr val="898989"/>
      </a:accent4>
      <a:accent5>
        <a:srgbClr val="F0F0F0"/>
      </a:accent5>
      <a:accent6>
        <a:srgbClr val="E60020"/>
      </a:accent6>
      <a:hlink>
        <a:srgbClr val="000000"/>
      </a:hlink>
      <a:folHlink>
        <a:srgbClr val="006FBC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rgbClr val="0000FF"/>
          </a:solidFill>
        </a:ln>
      </a:spPr>
      <a:bodyPr lIns="0" tIns="0" rIns="0" bIns="0" rtlCol="0" anchor="ctr"/>
      <a:lstStyle>
        <a:defPPr algn="ctr">
          <a:defRPr sz="1400" b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20000"/>
          </a:lnSpc>
          <a:spcBef>
            <a:spcPts val="0"/>
          </a:spcBef>
          <a:spcAft>
            <a:spcPts val="600"/>
          </a:spcAft>
          <a:buClrTx/>
          <a:buSzTx/>
          <a:buFont typeface="Arial" panose="020B0604020202020204" pitchFamily="34" charset="0"/>
          <a:buNone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4213</Words>
  <Application>Microsoft Office PowerPoint</Application>
  <PresentationFormat>宽屏</PresentationFormat>
  <Paragraphs>1366</Paragraphs>
  <Slides>9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宋体</vt:lpstr>
      <vt:lpstr>微软雅黑</vt:lpstr>
      <vt:lpstr>Arial</vt:lpstr>
      <vt:lpstr>Wingdings</vt:lpstr>
      <vt:lpstr>2_版1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温舒童</dc:creator>
  <cp:lastModifiedBy>xin tong</cp:lastModifiedBy>
  <cp:revision>1799</cp:revision>
  <cp:lastPrinted>2024-02-22T08:53:00Z</cp:lastPrinted>
  <dcterms:created xsi:type="dcterms:W3CDTF">2024-02-22T08:53:00Z</dcterms:created>
  <dcterms:modified xsi:type="dcterms:W3CDTF">2026-03-17T10:05:22Z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3F7184263F1A4F1AAA25FB121971B382_13</vt:lpwstr>
  </property>
  <property fmtid="{D5CDD505-2E9C-101B-9397-08002B2CF9AE}" pid="3" name="KSOProductBuildVer">
    <vt:lpwstr>2052-12.1.0.25225</vt:lpwstr>
  </property>
  <property fmtid="{D5CDD505-2E9C-101B-9397-08002B2CF9AE}" pid="4" name="_KSOProductBuildMID">
    <vt:lpwstr>CYWMI6GJ79TA00HGRPRNDLJF7N8MOSYR9U0XUJDVXGI8TE5TZ7BRIC0IFYYTP8RRXFMXJOLSZIX78PXJQFFT6FFA8RM0WOLB8SODDHB3F355F6247476E3F7BA96930F70AD87B9</vt:lpwstr>
  </property>
  <property fmtid="{D5CDD505-2E9C-101B-9397-08002B2CF9AE}" pid="5" name="_KSOProductBuildSID">
    <vt:lpwstr>CQWMP6GJ796Q06TG9ZRNYL097NL0OSVREF0XOJDXXGPRTECTN0BRPC0PFYRTPB8RBSM6COL5ZIW78PNJROFT6FF78RNMWHLBAOODPHB34E019711336597F7A194F050DF61F50A</vt:lpwstr>
  </property>
</Properties>
</file>